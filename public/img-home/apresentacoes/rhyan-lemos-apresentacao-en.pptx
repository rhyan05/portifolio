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 cover. Who I am, what I work on and a visual introduction to my professional profile.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Professional profile: summary, stack, location, current role at REVIO with responsibilities, Information Systems education with academic highlights and six work practices.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Condensed timeline: 2022 technical foundation, 2023 freelance and graduation, 2024 projects and AI, 2025 REVIO and 2026 as the current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Career in five columns: 2022, 2023, 2024, 2025 at REVIO and 2026 as the current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Featured certificates and courses, organized by cloud, development, security, management and languages.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Talks and events: participation in conferences, workshops and technology and innovation immersions.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Featured projects across front-end, back-end and machine learning. Full portfolio at github.com/rhyan05.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areas: organization, critical view of projects and creative, functional solutions.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Competency matrix: consolidated strengths, skills in development and next focus areas.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Three-step roadmap: execution and efficiency, technical mastery and AI, management and mentoring.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 and contact: GitHub, LinkedIn, blog and YouTube. Email for professional connections.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Closing: thank you, contacts and the online portfolio link. https://portifolio-e232-83ywbv1he-rhyans-projects-36b8ad89.vercel.app/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medium.com/@rhyanlemos" TargetMode="External"/><Relationship Id="rId3" Type="http://schemas.openxmlformats.org/officeDocument/2006/relationships/hyperlink" Target="https://medium.com/@rhyanlemos" TargetMode="External"/><Relationship Id="rId5" Type="http://schemas.openxmlformats.org/officeDocument/2006/relationships/hyperlink" Target="https://www.linkedin.com/in/rhyan-lemos-silveira/?locale=en-US" TargetMode="External"/><Relationship Id="rId6" Type="http://schemas.openxmlformats.org/officeDocument/2006/relationships/hyperlink" Target="https://www.linkedin.com/in/rhyan-lemos-silveira/?locale=en-US" TargetMode="External"/><Relationship Id="rId8" Type="http://schemas.openxmlformats.org/officeDocument/2006/relationships/hyperlink" Target="https://github.com/rhyan05" TargetMode="External"/><Relationship Id="rId9" Type="http://schemas.openxmlformats.org/officeDocument/2006/relationships/hyperlink" Target="https://github.com/rhyan05" TargetMode="External"/><Relationship Id="rId11" Type="http://schemas.openxmlformats.org/officeDocument/2006/relationships/hyperlink" Target="https://www.youtube.com/@rhyan05lemos91" TargetMode="External"/><Relationship Id="rId12" Type="http://schemas.openxmlformats.org/officeDocument/2006/relationships/hyperlink" Target="https://www.youtube.com/@rhyan05lemos91" TargetMode="External"/><Relationship Id="rId1" Type="http://schemas.openxmlformats.org/officeDocument/2006/relationships/image" Target="../media/Slide-11-image-1.jpeg"/><Relationship Id="rId4" Type="http://schemas.openxmlformats.org/officeDocument/2006/relationships/image" Target="../media/image-11-2.png"/><Relationship Id="rId7" Type="http://schemas.openxmlformats.org/officeDocument/2006/relationships/image" Target="../media/image-11-3.png"/><Relationship Id="rId10" Type="http://schemas.openxmlformats.org/officeDocument/2006/relationships/image" Target="../media/image-11-4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585"/>
            <a:ext cx="2000200" cy="285743"/>
          </a:xfrm>
          <a:prstGeom prst="roundRect">
            <a:avLst>
              <a:gd name="adj" fmla="val 160004"/>
            </a:avLst>
          </a:prstGeom>
          <a:solidFill>
            <a:srgbClr val="2EF2B6">
              <a:alpha val="10000"/>
            </a:srgbClr>
          </a:solidFill>
          <a:ln w="9525">
            <a:solidFill>
              <a:srgbClr val="2EF2B6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783" y="685783"/>
            <a:ext cx="1847804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b="1" spc="100" kern="0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 · 2026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609585" y="1295368"/>
            <a:ext cx="7238819" cy="952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609585" y="2114497"/>
            <a:ext cx="3428914" cy="952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 I?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609585" y="3105072"/>
            <a:ext cx="5143371" cy="361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what do I work on?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09585" y="3638459"/>
            <a:ext cx="1523962" cy="19050"/>
          </a:xfrm>
          <a:prstGeom prst="rect">
            <a:avLst/>
          </a:prstGeom>
          <a:solidFill>
            <a:srgbClr val="2EF2B6"/>
          </a:solidFill>
          <a:ln/>
        </p:spPr>
      </p:sp>
      <p:sp>
        <p:nvSpPr>
          <p:cNvPr id="8" name="Text 6"/>
          <p:cNvSpPr/>
          <p:nvPr/>
        </p:nvSpPr>
        <p:spPr>
          <a:xfrm>
            <a:off x="609585" y="3886103"/>
            <a:ext cx="5143371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 Lemos Silveira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585" y="4171846"/>
            <a:ext cx="5714857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Stack Developer · Information Systems</a:t>
            </a:r>
            <a:endParaRPr lang="en-US" sz="975" dirty="0"/>
          </a:p>
        </p:txBody>
      </p:sp>
      <p:sp>
        <p:nvSpPr>
          <p:cNvPr id="10" name="Shape 8"/>
          <p:cNvSpPr/>
          <p:nvPr/>
        </p:nvSpPr>
        <p:spPr>
          <a:xfrm>
            <a:off x="8019849" y="1352516"/>
            <a:ext cx="3200320" cy="3200320"/>
          </a:xfrm>
          <a:prstGeom prst="ellipse">
            <a:avLst/>
          </a:prstGeom>
          <a:ln w="12700">
            <a:solidFill>
              <a:srgbClr val="8B5CF6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7453" y="1200120"/>
            <a:ext cx="3505112" cy="3505112"/>
          </a:xfrm>
          <a:prstGeom prst="ellipse">
            <a:avLst/>
          </a:prstGeom>
          <a:ln w="12700">
            <a:solidFill>
              <a:srgbClr val="2EF2B6">
                <a:alpha val="20000"/>
              </a:srgbClr>
            </a:solidFill>
            <a:prstDash val="dash"/>
          </a:ln>
        </p:spPr>
      </p:sp>
      <p:pic>
        <p:nvPicPr>
          <p:cNvPr id="12" name="Image 0" descr="C:\Users\revio\Projeto\Portifolio\scripts\assets\rhyan-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295" y="1523962"/>
            <a:ext cx="2857429" cy="285742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810305" y="4514737"/>
            <a:ext cx="3619410" cy="323842"/>
          </a:xfrm>
          <a:prstGeom prst="roundRect">
            <a:avLst>
              <a:gd name="adj" fmla="val 141180"/>
            </a:avLst>
          </a:prstGeom>
          <a:solidFill>
            <a:srgbClr val="08111C">
              <a:alpha val="85000"/>
            </a:srgbClr>
          </a:solidFill>
          <a:ln w="9525">
            <a:solidFill>
              <a:srgbClr val="2EF2B6">
                <a:alpha val="4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10305" y="4609985"/>
            <a:ext cx="361941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Stack Developer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10477238" y="1981150"/>
            <a:ext cx="1028674" cy="285743"/>
          </a:xfrm>
          <a:prstGeom prst="roundRect">
            <a:avLst>
              <a:gd name="adj" fmla="val 160004"/>
            </a:avLst>
          </a:prstGeom>
          <a:solidFill>
            <a:srgbClr val="08111C">
              <a:alpha val="85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16" name="Image 1" descr="C:\Users\revio\Projeto\Portifolio\public\img-home\icon-skills\framework\Reac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535" y="2047824"/>
            <a:ext cx="142871" cy="14287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762981" y="2057349"/>
            <a:ext cx="628634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7410265" y="3848004"/>
            <a:ext cx="1162021" cy="285743"/>
          </a:xfrm>
          <a:prstGeom prst="roundRect">
            <a:avLst>
              <a:gd name="adj" fmla="val 160004"/>
            </a:avLst>
          </a:prstGeom>
          <a:solidFill>
            <a:srgbClr val="08111C">
              <a:alpha val="85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19" name="Image 2" descr="C:\Users\revio\Projeto\Portifolio\public\img-home\icon-skills\hard-skills\typescript.sv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4562" y="3914677"/>
            <a:ext cx="142871" cy="14287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696008" y="3924202"/>
            <a:ext cx="78103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</a:t>
            </a:r>
            <a:endParaRPr lang="en-US" sz="750" dirty="0"/>
          </a:p>
        </p:txBody>
      </p:sp>
      <p:sp>
        <p:nvSpPr>
          <p:cNvPr id="21" name="Shape 16"/>
          <p:cNvSpPr/>
          <p:nvPr/>
        </p:nvSpPr>
        <p:spPr>
          <a:xfrm>
            <a:off x="609585" y="6172046"/>
            <a:ext cx="323842" cy="323842"/>
          </a:xfrm>
          <a:prstGeom prst="roundRect">
            <a:avLst>
              <a:gd name="adj" fmla="val 7906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09585" y="6191095"/>
            <a:ext cx="323842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0508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</a:t>
            </a:r>
            <a:endParaRPr lang="en-US" sz="1275" dirty="0"/>
          </a:p>
        </p:txBody>
      </p:sp>
      <p:sp>
        <p:nvSpPr>
          <p:cNvPr id="23" name="Text 18"/>
          <p:cNvSpPr/>
          <p:nvPr/>
        </p:nvSpPr>
        <p:spPr>
          <a:xfrm>
            <a:off x="1028674" y="6200620"/>
            <a:ext cx="1523962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</a:t>
            </a:r>
            <a:pPr indent="0" marL="0">
              <a:buNone/>
            </a:pPr>
            <a:r>
              <a:rPr lang="en-US" sz="13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.dev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10286743" y="6248244"/>
            <a:ext cx="1295368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5" spc="15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/ 12</a:t>
            </a:r>
            <a:endParaRPr lang="en-US" sz="6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380990"/>
            <a:ext cx="323842" cy="323842"/>
          </a:xfrm>
          <a:prstGeom prst="roundRect">
            <a:avLst>
              <a:gd name="adj" fmla="val 7906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585" y="400040"/>
            <a:ext cx="323842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0508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028674" y="409565"/>
            <a:ext cx="1523962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</a:t>
            </a:r>
            <a:pPr indent="0" marL="0">
              <a:buNone/>
            </a:pPr>
            <a:r>
              <a:rPr lang="en-US" sz="13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.dev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572286" y="457189"/>
            <a:ext cx="300982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15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 LEMOS Â· 02 / 12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09585" y="1104872"/>
            <a:ext cx="10972526" cy="4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I am and what I work on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609585" y="1523962"/>
            <a:ext cx="10972526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 Lemos Silveira Â· Full Stack Developer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585" y="1904952"/>
            <a:ext cx="3143171" cy="80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Stack Developer with a background in Information Systems, focused on web applications, APIs and continuous product evolution.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9585" y="2857429"/>
            <a:ext cx="400040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6733" y="2895528"/>
            <a:ext cx="285743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PHP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066773" y="2857429"/>
            <a:ext cx="1510627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3922" y="2895528"/>
            <a:ext cx="1396330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 / TypeScript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634549" y="2857429"/>
            <a:ext cx="506717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1698" y="2895528"/>
            <a:ext cx="392420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198415" y="2857429"/>
            <a:ext cx="400040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55564" y="2895528"/>
            <a:ext cx="285743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09585" y="3124122"/>
            <a:ext cx="506717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6733" y="3162221"/>
            <a:ext cx="392420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173451" y="3124122"/>
            <a:ext cx="447664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0599" y="3162221"/>
            <a:ext cx="333367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678263" y="3124122"/>
            <a:ext cx="447664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35412" y="3162221"/>
            <a:ext cx="333367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183075" y="3124122"/>
            <a:ext cx="624824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40224" y="3162221"/>
            <a:ext cx="510527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865048" y="3124122"/>
            <a:ext cx="400040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2197" y="3162221"/>
            <a:ext cx="285743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09585" y="3390815"/>
            <a:ext cx="979146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6733" y="3428914"/>
            <a:ext cx="864848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Actions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645879" y="3390815"/>
            <a:ext cx="447664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03027" y="3428914"/>
            <a:ext cx="333367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09585" y="4762381"/>
            <a:ext cx="3143171" cy="1142971"/>
          </a:xfrm>
          <a:prstGeom prst="roundRect">
            <a:avLst>
              <a:gd name="adj" fmla="val 4800"/>
            </a:avLst>
          </a:prstGeom>
          <a:solidFill>
            <a:srgbClr val="2EF2B6">
              <a:alpha val="6000"/>
            </a:srgbClr>
          </a:solidFill>
          <a:ln w="9525">
            <a:solidFill>
              <a:srgbClr val="2EF2B6">
                <a:alpha val="22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0080" y="4914777"/>
            <a:ext cx="1142971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b="1" spc="100" kern="0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FOUNDATION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800080" y="5105272"/>
            <a:ext cx="2666933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Guarulhos · SP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00080" y="5391015"/>
            <a:ext cx="2762181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8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Information Systems Â· ENIAC</a:t>
            </a:r>
            <a:endParaRPr lang="en-US" sz="788" dirty="0"/>
          </a:p>
        </p:txBody>
      </p:sp>
      <p:sp>
        <p:nvSpPr>
          <p:cNvPr id="35" name="Shape 33"/>
          <p:cNvSpPr/>
          <p:nvPr/>
        </p:nvSpPr>
        <p:spPr>
          <a:xfrm>
            <a:off x="3943251" y="1809705"/>
            <a:ext cx="3724182" cy="1904952"/>
          </a:xfrm>
          <a:prstGeom prst="roundRect">
            <a:avLst>
              <a:gd name="adj" fmla="val 2880"/>
            </a:avLst>
          </a:prstGeom>
          <a:solidFill>
            <a:srgbClr val="2EF2B6">
              <a:alpha val="6000"/>
            </a:srgbClr>
          </a:solidFill>
          <a:ln w="9525">
            <a:solidFill>
              <a:srgbClr val="2EF2B6">
                <a:alpha val="22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95648" y="1962101"/>
            <a:ext cx="2095448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b="1" spc="100" kern="0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ROLE</a:t>
            </a:r>
            <a:endParaRPr lang="en-US" sz="675" dirty="0"/>
          </a:p>
        </p:txBody>
      </p:sp>
      <p:sp>
        <p:nvSpPr>
          <p:cNvPr id="37" name="Text 35"/>
          <p:cNvSpPr/>
          <p:nvPr/>
        </p:nvSpPr>
        <p:spPr>
          <a:xfrm>
            <a:off x="4095648" y="2152596"/>
            <a:ext cx="2190695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5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REVIO Tecnologia</a:t>
            </a:r>
            <a:endParaRPr lang="en-US" sz="1275" dirty="0"/>
          </a:p>
        </p:txBody>
      </p:sp>
      <p:sp>
        <p:nvSpPr>
          <p:cNvPr id="38" name="Text 36"/>
          <p:cNvSpPr/>
          <p:nvPr/>
        </p:nvSpPr>
        <p:spPr>
          <a:xfrm>
            <a:off x="6286343" y="2190695"/>
            <a:ext cx="119059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Jan/2025 – Current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4095648" y="2419290"/>
            <a:ext cx="219069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8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Stack Developer</a:t>
            </a:r>
            <a:endParaRPr lang="en-US" sz="788" dirty="0"/>
          </a:p>
        </p:txBody>
      </p:sp>
      <p:sp>
        <p:nvSpPr>
          <p:cNvPr id="40" name="Text 38"/>
          <p:cNvSpPr/>
          <p:nvPr/>
        </p:nvSpPr>
        <p:spPr>
          <a:xfrm>
            <a:off x="4095648" y="2628834"/>
            <a:ext cx="3381290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63"/>
              </a:lnSpc>
              <a:buNone/>
            </a:pPr>
            <a:r>
              <a:rPr lang="en-US" sz="71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stack work on the evolution of digital products.</a:t>
            </a:r>
            <a:endParaRPr lang="en-US" sz="713" dirty="0"/>
          </a:p>
        </p:txBody>
      </p:sp>
      <p:sp>
        <p:nvSpPr>
          <p:cNvPr id="41" name="Text 39"/>
          <p:cNvSpPr/>
          <p:nvPr/>
        </p:nvSpPr>
        <p:spPr>
          <a:xfrm>
            <a:off x="4095648" y="2895528"/>
            <a:ext cx="3381290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88"/>
              </a:lnSpc>
              <a:buNone/>
            </a:pPr>
            <a:r>
              <a:rPr lang="en-US" sz="6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â€¢ Development and support of web applications and APIs.</a:t>
            </a:r>
            <a:endParaRPr lang="en-US" sz="675" dirty="0"/>
          </a:p>
        </p:txBody>
      </p:sp>
      <p:sp>
        <p:nvSpPr>
          <p:cNvPr id="42" name="Text 40"/>
          <p:cNvSpPr/>
          <p:nvPr/>
        </p:nvSpPr>
        <p:spPr>
          <a:xfrm>
            <a:off x="4095648" y="3143171"/>
            <a:ext cx="3381290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88"/>
              </a:lnSpc>
              <a:buNone/>
            </a:pPr>
            <a:r>
              <a:rPr lang="en-US" sz="6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â€¢ Product evolution, performance and technical debt.</a:t>
            </a:r>
            <a:endParaRPr lang="en-US" sz="675" dirty="0"/>
          </a:p>
        </p:txBody>
      </p:sp>
      <p:sp>
        <p:nvSpPr>
          <p:cNvPr id="43" name="Text 41"/>
          <p:cNvSpPr/>
          <p:nvPr/>
        </p:nvSpPr>
        <p:spPr>
          <a:xfrm>
            <a:off x="4095648" y="3390815"/>
            <a:ext cx="3381290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88"/>
              </a:lnSpc>
              <a:buNone/>
            </a:pPr>
            <a:r>
              <a:rPr lang="en-US" sz="6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â€¢ CI/CD, Git and collaboration with the product team.</a:t>
            </a:r>
            <a:endParaRPr lang="en-US" sz="675" dirty="0"/>
          </a:p>
        </p:txBody>
      </p:sp>
      <p:sp>
        <p:nvSpPr>
          <p:cNvPr id="44" name="Shape 42"/>
          <p:cNvSpPr/>
          <p:nvPr/>
        </p:nvSpPr>
        <p:spPr>
          <a:xfrm>
            <a:off x="7857929" y="1809705"/>
            <a:ext cx="3724182" cy="1904952"/>
          </a:xfrm>
          <a:prstGeom prst="roundRect">
            <a:avLst>
              <a:gd name="adj" fmla="val 2880"/>
            </a:avLst>
          </a:prstGeom>
          <a:solidFill>
            <a:srgbClr val="8B5CF6">
              <a:alpha val="6000"/>
            </a:srgbClr>
          </a:solidFill>
          <a:ln w="9525">
            <a:solidFill>
              <a:srgbClr val="8B5CF6">
                <a:alpha val="22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10325" y="1962101"/>
            <a:ext cx="2095448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b="1" spc="100" kern="0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EDUCATION</a:t>
            </a:r>
            <a:endParaRPr lang="en-US" sz="675" dirty="0"/>
          </a:p>
        </p:txBody>
      </p:sp>
      <p:sp>
        <p:nvSpPr>
          <p:cNvPr id="46" name="Text 44"/>
          <p:cNvSpPr/>
          <p:nvPr/>
        </p:nvSpPr>
        <p:spPr>
          <a:xfrm>
            <a:off x="8010325" y="2152596"/>
            <a:ext cx="2190695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5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Information Systems</a:t>
            </a:r>
            <a:endParaRPr lang="en-US" sz="1275" dirty="0"/>
          </a:p>
        </p:txBody>
      </p:sp>
      <p:sp>
        <p:nvSpPr>
          <p:cNvPr id="47" name="Text 45"/>
          <p:cNvSpPr/>
          <p:nvPr/>
        </p:nvSpPr>
        <p:spPr>
          <a:xfrm>
            <a:off x="10191495" y="2190695"/>
            <a:ext cx="119059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Expected 07/2027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8010325" y="2419290"/>
            <a:ext cx="219069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8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ENIAC</a:t>
            </a:r>
            <a:endParaRPr lang="en-US" sz="788" dirty="0"/>
          </a:p>
        </p:txBody>
      </p:sp>
      <p:sp>
        <p:nvSpPr>
          <p:cNvPr id="49" name="Text 47"/>
          <p:cNvSpPr/>
          <p:nvPr/>
        </p:nvSpPr>
        <p:spPr>
          <a:xfrm>
            <a:off x="8010325" y="2628834"/>
            <a:ext cx="3381290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63"/>
              </a:lnSpc>
              <a:buNone/>
            </a:pPr>
            <a:r>
              <a:rPr lang="en-US" sz="71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Education focused on development and architecture.</a:t>
            </a:r>
            <a:endParaRPr lang="en-US" sz="713" dirty="0"/>
          </a:p>
        </p:txBody>
      </p:sp>
      <p:sp>
        <p:nvSpPr>
          <p:cNvPr id="50" name="Text 48"/>
          <p:cNvSpPr/>
          <p:nvPr/>
        </p:nvSpPr>
        <p:spPr>
          <a:xfrm>
            <a:off x="8010325" y="2895528"/>
            <a:ext cx="3381290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88"/>
              </a:lnSpc>
              <a:buNone/>
            </a:pPr>
            <a:r>
              <a:rPr lang="en-US" sz="6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â€¢ Databases, MVC and software architecture.</a:t>
            </a:r>
            <a:endParaRPr lang="en-US" sz="675" dirty="0"/>
          </a:p>
        </p:txBody>
      </p:sp>
      <p:sp>
        <p:nvSpPr>
          <p:cNvPr id="51" name="Text 49"/>
          <p:cNvSpPr/>
          <p:nvPr/>
        </p:nvSpPr>
        <p:spPr>
          <a:xfrm>
            <a:off x="8010325" y="3143171"/>
            <a:ext cx="3381290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88"/>
              </a:lnSpc>
              <a:buNone/>
            </a:pPr>
            <a:r>
              <a:rPr lang="en-US" sz="6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â€¢ Software engineering and academic projects.</a:t>
            </a:r>
            <a:endParaRPr lang="en-US" sz="675" dirty="0"/>
          </a:p>
        </p:txBody>
      </p:sp>
      <p:sp>
        <p:nvSpPr>
          <p:cNvPr id="52" name="Text 50"/>
          <p:cNvSpPr/>
          <p:nvPr/>
        </p:nvSpPr>
        <p:spPr>
          <a:xfrm>
            <a:off x="8010325" y="3390815"/>
            <a:ext cx="3381290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88"/>
              </a:lnSpc>
              <a:buNone/>
            </a:pPr>
            <a:r>
              <a:rPr lang="en-US" sz="6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â€¢ Participation in ENIAC Innovation Fest.</a:t>
            </a:r>
            <a:endParaRPr lang="en-US" sz="675" dirty="0"/>
          </a:p>
        </p:txBody>
      </p:sp>
      <p:sp>
        <p:nvSpPr>
          <p:cNvPr id="53" name="Shape 51"/>
          <p:cNvSpPr/>
          <p:nvPr/>
        </p:nvSpPr>
        <p:spPr>
          <a:xfrm>
            <a:off x="3943251" y="3905152"/>
            <a:ext cx="7638859" cy="2095448"/>
          </a:xfrm>
          <a:prstGeom prst="roundRect">
            <a:avLst>
              <a:gd name="adj" fmla="val 261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095648" y="4057549"/>
            <a:ext cx="38099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b="1" spc="10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 WORK</a:t>
            </a:r>
            <a:endParaRPr lang="en-US" sz="675" dirty="0"/>
          </a:p>
        </p:txBody>
      </p:sp>
      <p:sp>
        <p:nvSpPr>
          <p:cNvPr id="55" name="Text 53"/>
          <p:cNvSpPr/>
          <p:nvPr/>
        </p:nvSpPr>
        <p:spPr>
          <a:xfrm>
            <a:off x="4095648" y="4343291"/>
            <a:ext cx="171446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13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713" dirty="0"/>
          </a:p>
        </p:txBody>
      </p:sp>
      <p:sp>
        <p:nvSpPr>
          <p:cNvPr id="56" name="Text 54"/>
          <p:cNvSpPr/>
          <p:nvPr/>
        </p:nvSpPr>
        <p:spPr>
          <a:xfrm>
            <a:off x="4267093" y="4343291"/>
            <a:ext cx="2095448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Development</a:t>
            </a:r>
            <a:endParaRPr lang="en-US" sz="825" dirty="0"/>
          </a:p>
        </p:txBody>
      </p:sp>
      <p:sp>
        <p:nvSpPr>
          <p:cNvPr id="57" name="Text 55"/>
          <p:cNvSpPr/>
          <p:nvPr/>
        </p:nvSpPr>
        <p:spPr>
          <a:xfrm>
            <a:off x="4267093" y="4495688"/>
            <a:ext cx="2095448" cy="323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63"/>
              </a:lnSpc>
              <a:buNone/>
            </a:pPr>
            <a:r>
              <a:rPr lang="en-US" sz="71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Requirements become clear, simple and evolvable solutions.</a:t>
            </a:r>
            <a:endParaRPr lang="en-US" sz="713" dirty="0"/>
          </a:p>
        </p:txBody>
      </p:sp>
      <p:sp>
        <p:nvSpPr>
          <p:cNvPr id="58" name="Text 56"/>
          <p:cNvSpPr/>
          <p:nvPr/>
        </p:nvSpPr>
        <p:spPr>
          <a:xfrm>
            <a:off x="6495888" y="4343291"/>
            <a:ext cx="171446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13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713" dirty="0"/>
          </a:p>
        </p:txBody>
      </p:sp>
      <p:sp>
        <p:nvSpPr>
          <p:cNvPr id="59" name="Text 57"/>
          <p:cNvSpPr/>
          <p:nvPr/>
        </p:nvSpPr>
        <p:spPr>
          <a:xfrm>
            <a:off x="6667333" y="4343291"/>
            <a:ext cx="2095448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</a:t>
            </a:r>
            <a:endParaRPr lang="en-US" sz="825" dirty="0"/>
          </a:p>
        </p:txBody>
      </p:sp>
      <p:sp>
        <p:nvSpPr>
          <p:cNvPr id="60" name="Text 58"/>
          <p:cNvSpPr/>
          <p:nvPr/>
        </p:nvSpPr>
        <p:spPr>
          <a:xfrm>
            <a:off x="6667333" y="4495688"/>
            <a:ext cx="2095448" cy="323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63"/>
              </a:lnSpc>
              <a:buNone/>
            </a:pPr>
            <a:r>
              <a:rPr lang="en-US" sz="71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Attention to detail, review and bug fixing.</a:t>
            </a:r>
            <a:endParaRPr lang="en-US" sz="713" dirty="0"/>
          </a:p>
        </p:txBody>
      </p:sp>
      <p:sp>
        <p:nvSpPr>
          <p:cNvPr id="61" name="Text 59"/>
          <p:cNvSpPr/>
          <p:nvPr/>
        </p:nvSpPr>
        <p:spPr>
          <a:xfrm>
            <a:off x="8896128" y="4343291"/>
            <a:ext cx="171446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13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713" dirty="0"/>
          </a:p>
        </p:txBody>
      </p:sp>
      <p:sp>
        <p:nvSpPr>
          <p:cNvPr id="62" name="Text 60"/>
          <p:cNvSpPr/>
          <p:nvPr/>
        </p:nvSpPr>
        <p:spPr>
          <a:xfrm>
            <a:off x="9067573" y="4343291"/>
            <a:ext cx="2095448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 control</a:t>
            </a:r>
            <a:endParaRPr lang="en-US" sz="825" dirty="0"/>
          </a:p>
        </p:txBody>
      </p:sp>
      <p:sp>
        <p:nvSpPr>
          <p:cNvPr id="63" name="Text 61"/>
          <p:cNvSpPr/>
          <p:nvPr/>
        </p:nvSpPr>
        <p:spPr>
          <a:xfrm>
            <a:off x="9067573" y="4495688"/>
            <a:ext cx="2095448" cy="323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63"/>
              </a:lnSpc>
              <a:buNone/>
            </a:pPr>
            <a:r>
              <a:rPr lang="en-US" sz="71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and organized commits to make collaboration easier.</a:t>
            </a:r>
            <a:endParaRPr lang="en-US" sz="713" dirty="0"/>
          </a:p>
        </p:txBody>
      </p:sp>
      <p:sp>
        <p:nvSpPr>
          <p:cNvPr id="64" name="Text 62"/>
          <p:cNvSpPr/>
          <p:nvPr/>
        </p:nvSpPr>
        <p:spPr>
          <a:xfrm>
            <a:off x="4095648" y="5105272"/>
            <a:ext cx="171446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13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713" dirty="0"/>
          </a:p>
        </p:txBody>
      </p:sp>
      <p:sp>
        <p:nvSpPr>
          <p:cNvPr id="65" name="Text 63"/>
          <p:cNvSpPr/>
          <p:nvPr/>
        </p:nvSpPr>
        <p:spPr>
          <a:xfrm>
            <a:off x="4267093" y="5105272"/>
            <a:ext cx="2095448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</a:t>
            </a:r>
            <a:endParaRPr lang="en-US" sz="825" dirty="0"/>
          </a:p>
        </p:txBody>
      </p:sp>
      <p:sp>
        <p:nvSpPr>
          <p:cNvPr id="66" name="Text 64"/>
          <p:cNvSpPr/>
          <p:nvPr/>
        </p:nvSpPr>
        <p:spPr>
          <a:xfrm>
            <a:off x="4267093" y="5257669"/>
            <a:ext cx="2095448" cy="323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63"/>
              </a:lnSpc>
              <a:buNone/>
            </a:pPr>
            <a:r>
              <a:rPr lang="en-US" sz="71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cause, definitive fixes and performance improvements.</a:t>
            </a:r>
            <a:endParaRPr lang="en-US" sz="713" dirty="0"/>
          </a:p>
        </p:txBody>
      </p:sp>
      <p:sp>
        <p:nvSpPr>
          <p:cNvPr id="67" name="Text 65"/>
          <p:cNvSpPr/>
          <p:nvPr/>
        </p:nvSpPr>
        <p:spPr>
          <a:xfrm>
            <a:off x="6495888" y="5105272"/>
            <a:ext cx="171446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13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713" dirty="0"/>
          </a:p>
        </p:txBody>
      </p:sp>
      <p:sp>
        <p:nvSpPr>
          <p:cNvPr id="68" name="Text 66"/>
          <p:cNvSpPr/>
          <p:nvPr/>
        </p:nvSpPr>
        <p:spPr>
          <a:xfrm>
            <a:off x="6667333" y="5105272"/>
            <a:ext cx="2095448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Collaboration</a:t>
            </a:r>
            <a:endParaRPr lang="en-US" sz="825" dirty="0"/>
          </a:p>
        </p:txBody>
      </p:sp>
      <p:sp>
        <p:nvSpPr>
          <p:cNvPr id="69" name="Text 67"/>
          <p:cNvSpPr/>
          <p:nvPr/>
        </p:nvSpPr>
        <p:spPr>
          <a:xfrm>
            <a:off x="6667333" y="5257669"/>
            <a:ext cx="2095448" cy="323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63"/>
              </a:lnSpc>
              <a:buNone/>
            </a:pPr>
            <a:r>
              <a:rPr lang="en-US" sz="71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Objective communication, alignment and feedback exchange.</a:t>
            </a:r>
            <a:endParaRPr lang="en-US" sz="713" dirty="0"/>
          </a:p>
        </p:txBody>
      </p:sp>
      <p:sp>
        <p:nvSpPr>
          <p:cNvPr id="70" name="Text 68"/>
          <p:cNvSpPr/>
          <p:nvPr/>
        </p:nvSpPr>
        <p:spPr>
          <a:xfrm>
            <a:off x="8896128" y="5105272"/>
            <a:ext cx="171446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13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713" dirty="0"/>
          </a:p>
        </p:txBody>
      </p:sp>
      <p:sp>
        <p:nvSpPr>
          <p:cNvPr id="71" name="Text 69"/>
          <p:cNvSpPr/>
          <p:nvPr/>
        </p:nvSpPr>
        <p:spPr>
          <a:xfrm>
            <a:off x="9067573" y="5105272"/>
            <a:ext cx="2095448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Learning</a:t>
            </a:r>
            <a:endParaRPr lang="en-US" sz="825" dirty="0"/>
          </a:p>
        </p:txBody>
      </p:sp>
      <p:sp>
        <p:nvSpPr>
          <p:cNvPr id="72" name="Text 70"/>
          <p:cNvSpPr/>
          <p:nvPr/>
        </p:nvSpPr>
        <p:spPr>
          <a:xfrm>
            <a:off x="9067573" y="5257669"/>
            <a:ext cx="2095448" cy="323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63"/>
              </a:lnSpc>
              <a:buNone/>
            </a:pPr>
            <a:r>
              <a:rPr lang="en-US" sz="71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 study applied to real projects.</a:t>
            </a:r>
            <a:endParaRPr lang="en-US" sz="71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380990"/>
            <a:ext cx="323842" cy="323842"/>
          </a:xfrm>
          <a:prstGeom prst="roundRect">
            <a:avLst>
              <a:gd name="adj" fmla="val 7906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585" y="400040"/>
            <a:ext cx="323842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0508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028674" y="409565"/>
            <a:ext cx="1523962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</a:t>
            </a:r>
            <a:pPr indent="0" marL="0">
              <a:buNone/>
            </a:pPr>
            <a:r>
              <a:rPr lang="en-US" sz="13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.dev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572286" y="457189"/>
            <a:ext cx="300982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15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 LEMOS Â· 03 / 12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238619" y="1047724"/>
            <a:ext cx="1714457" cy="285743"/>
          </a:xfrm>
          <a:prstGeom prst="roundRect">
            <a:avLst>
              <a:gd name="adj" fmla="val 160004"/>
            </a:avLst>
          </a:prstGeom>
          <a:solidFill>
            <a:srgbClr val="2EF2B6">
              <a:alpha val="10000"/>
            </a:srgbClr>
          </a:solidFill>
          <a:ln w="9525">
            <a:solidFill>
              <a:srgbClr val="2EF2B6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14817" y="1123922"/>
            <a:ext cx="1562061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b="1" spc="100" kern="0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 EVOLUTION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2285943" y="1600160"/>
            <a:ext cx="7619809" cy="609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3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 professional</a:t>
            </a:r>
            <a:endParaRPr lang="en-US" sz="4350" dirty="0"/>
          </a:p>
        </p:txBody>
      </p:sp>
      <p:sp>
        <p:nvSpPr>
          <p:cNvPr id="9" name="Text 7"/>
          <p:cNvSpPr/>
          <p:nvPr/>
        </p:nvSpPr>
        <p:spPr>
          <a:xfrm>
            <a:off x="2285943" y="2133547"/>
            <a:ext cx="7619809" cy="609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3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evolution</a:t>
            </a:r>
            <a:endParaRPr lang="en-US" sz="4350" dirty="0"/>
          </a:p>
        </p:txBody>
      </p:sp>
      <p:sp>
        <p:nvSpPr>
          <p:cNvPr id="10" name="Text 8"/>
          <p:cNvSpPr/>
          <p:nvPr/>
        </p:nvSpPr>
        <p:spPr>
          <a:xfrm>
            <a:off x="2285943" y="2857429"/>
            <a:ext cx="7619809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technical foundation to full stack development: experiences, projects and next steps.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714457" y="4000400"/>
            <a:ext cx="8762781" cy="19050"/>
          </a:xfrm>
          <a:prstGeom prst="rect">
            <a:avLst/>
          </a:prstGeom>
          <a:solidFill>
            <a:srgbClr val="2EF2B6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657309" y="3943251"/>
            <a:ext cx="114297" cy="114297"/>
          </a:xfrm>
          <a:prstGeom prst="ellipse">
            <a:avLst/>
          </a:prstGeom>
          <a:solidFill>
            <a:srgbClr val="05080F"/>
          </a:solidFill>
          <a:ln w="12700">
            <a:solidFill>
              <a:srgbClr val="2EF2B6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33467" y="4209945"/>
            <a:ext cx="761981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2971" y="4514737"/>
            <a:ext cx="1142971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spc="8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FOUNDATION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3848004" y="3943251"/>
            <a:ext cx="114297" cy="114297"/>
          </a:xfrm>
          <a:prstGeom prst="ellipse">
            <a:avLst/>
          </a:prstGeom>
          <a:solidFill>
            <a:srgbClr val="05080F"/>
          </a:solidFill>
          <a:ln w="12700">
            <a:solidFill>
              <a:srgbClr val="2EF2B6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4162" y="4209945"/>
            <a:ext cx="761981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33667" y="4514737"/>
            <a:ext cx="1142971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spc="8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FREELANCE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6038699" y="3943251"/>
            <a:ext cx="114297" cy="114297"/>
          </a:xfrm>
          <a:prstGeom prst="ellipse">
            <a:avLst/>
          </a:prstGeom>
          <a:solidFill>
            <a:srgbClr val="05080F"/>
          </a:solidFill>
          <a:ln w="12700">
            <a:solidFill>
              <a:srgbClr val="2EF2B6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14857" y="4209945"/>
            <a:ext cx="761981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524362" y="4514737"/>
            <a:ext cx="1142971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spc="8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PROJECTS &amp; AI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8229394" y="3943251"/>
            <a:ext cx="114297" cy="114297"/>
          </a:xfrm>
          <a:prstGeom prst="ellipse">
            <a:avLst/>
          </a:prstGeom>
          <a:solidFill>
            <a:srgbClr val="05080F"/>
          </a:solidFill>
          <a:ln w="12700">
            <a:solidFill>
              <a:srgbClr val="2EF2B6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05552" y="4209945"/>
            <a:ext cx="761981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15057" y="4514737"/>
            <a:ext cx="1142971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spc="8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REVIO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10420089" y="3943251"/>
            <a:ext cx="114297" cy="114297"/>
          </a:xfrm>
          <a:prstGeom prst="ellipse">
            <a:avLst/>
          </a:prstGeom>
          <a:solidFill>
            <a:srgbClr val="2EF2B6"/>
          </a:solidFill>
          <a:ln w="12700">
            <a:solidFill>
              <a:srgbClr val="2EF2B6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96248" y="4209945"/>
            <a:ext cx="761981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905752" y="4514737"/>
            <a:ext cx="1142971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spc="8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380990"/>
            <a:ext cx="323842" cy="323842"/>
          </a:xfrm>
          <a:prstGeom prst="roundRect">
            <a:avLst>
              <a:gd name="adj" fmla="val 7906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585" y="400040"/>
            <a:ext cx="323842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0508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028674" y="409565"/>
            <a:ext cx="1523962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</a:t>
            </a:r>
            <a:pPr indent="0" marL="0">
              <a:buNone/>
            </a:pPr>
            <a:r>
              <a:rPr lang="en-US" sz="13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.dev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572286" y="457189"/>
            <a:ext cx="300982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15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 LEMOS Â· 04 / 12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09585" y="1104872"/>
            <a:ext cx="10972526" cy="4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 professional career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609585" y="1523962"/>
            <a:ext cx="10972526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technical foundation to full stack: experiences, projects and next steps.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09585" y="2095448"/>
            <a:ext cx="10972526" cy="19050"/>
          </a:xfrm>
          <a:prstGeom prst="rect">
            <a:avLst/>
          </a:prstGeom>
          <a:solidFill>
            <a:srgbClr val="2EF2B6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61961" y="2038299"/>
            <a:ext cx="95248" cy="95248"/>
          </a:xfrm>
          <a:prstGeom prst="ellipse">
            <a:avLst/>
          </a:prstGeom>
          <a:solidFill>
            <a:srgbClr val="05080F"/>
          </a:solidFill>
          <a:ln w="12700">
            <a:solidFill>
              <a:srgbClr val="2EF2B6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9585" y="2285943"/>
            <a:ext cx="2095448" cy="2857429"/>
          </a:xfrm>
          <a:prstGeom prst="roundRect">
            <a:avLst>
              <a:gd name="adj" fmla="val 261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3882" y="2400240"/>
            <a:ext cx="1047724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3882" y="2819330"/>
            <a:ext cx="1866853" cy="323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25"/>
              </a:lnSpc>
              <a:buNone/>
            </a:pPr>
            <a:r>
              <a:rPr lang="en-US" sz="7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steps in technology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23882" y="3162221"/>
            <a:ext cx="1866853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75"/>
              </a:lnSpc>
              <a:buNone/>
            </a:pPr>
            <a:r>
              <a:rPr lang="en-US" sz="525" spc="5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Somar · ENIAC</a:t>
            </a:r>
            <a:endParaRPr lang="en-US" sz="525" dirty="0"/>
          </a:p>
        </p:txBody>
      </p:sp>
      <p:sp>
        <p:nvSpPr>
          <p:cNvPr id="14" name="Text 12"/>
          <p:cNvSpPr/>
          <p:nvPr/>
        </p:nvSpPr>
        <p:spPr>
          <a:xfrm>
            <a:off x="723882" y="3467013"/>
            <a:ext cx="1866853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75"/>
              </a:lnSpc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â–¸ Technical support and customer service at Somar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723882" y="3752756"/>
            <a:ext cx="1866853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75"/>
              </a:lnSpc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â–¸ Web development at ENIAC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723882" y="4038499"/>
            <a:ext cx="1866853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75"/>
              </a:lnSpc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â–¸ IT Technician and programming logic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723882" y="4724282"/>
            <a:ext cx="1866853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600"/>
              </a:lnSpc>
              <a:buNone/>
            </a:pPr>
            <a:r>
              <a:rPr lang="en-US" sz="488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Networks Â· Support Â· HTML Â· CSS Â· Git</a:t>
            </a:r>
            <a:endParaRPr lang="en-US" sz="488" dirty="0"/>
          </a:p>
        </p:txBody>
      </p:sp>
      <p:sp>
        <p:nvSpPr>
          <p:cNvPr id="18" name="Shape 16"/>
          <p:cNvSpPr/>
          <p:nvPr/>
        </p:nvSpPr>
        <p:spPr>
          <a:xfrm>
            <a:off x="2733607" y="2038299"/>
            <a:ext cx="95248" cy="95248"/>
          </a:xfrm>
          <a:prstGeom prst="ellipse">
            <a:avLst/>
          </a:prstGeom>
          <a:solidFill>
            <a:srgbClr val="05080F"/>
          </a:solidFill>
          <a:ln w="12700">
            <a:solidFill>
              <a:srgbClr val="2EF2B6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81230" y="2285943"/>
            <a:ext cx="2095448" cy="2857429"/>
          </a:xfrm>
          <a:prstGeom prst="roundRect">
            <a:avLst>
              <a:gd name="adj" fmla="val 261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95528" y="2400240"/>
            <a:ext cx="1047724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895528" y="2819330"/>
            <a:ext cx="1866853" cy="323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25"/>
              </a:lnSpc>
              <a:buNone/>
            </a:pPr>
            <a:r>
              <a:rPr lang="en-US" sz="7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Freelance and degree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895528" y="3162221"/>
            <a:ext cx="1866853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75"/>
              </a:lnSpc>
              <a:buNone/>
            </a:pPr>
            <a:r>
              <a:rPr lang="en-US" sz="525" spc="5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On-demand projects · ENIAC</a:t>
            </a:r>
            <a:endParaRPr lang="en-US" sz="525" dirty="0"/>
          </a:p>
        </p:txBody>
      </p:sp>
      <p:sp>
        <p:nvSpPr>
          <p:cNvPr id="23" name="Text 21"/>
          <p:cNvSpPr/>
          <p:nvPr/>
        </p:nvSpPr>
        <p:spPr>
          <a:xfrm>
            <a:off x="2895528" y="3467013"/>
            <a:ext cx="1866853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75"/>
              </a:lnSpc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â–¸ Freelance and on-demand solutions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2895528" y="3752756"/>
            <a:ext cx="1866853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75"/>
              </a:lnSpc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â–¸ Information Systems degree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2895528" y="4038499"/>
            <a:ext cx="1866853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75"/>
              </a:lnSpc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â–¸ RESTful APIs with PHP and Node.js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2895528" y="4724282"/>
            <a:ext cx="1866853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600"/>
              </a:lnSpc>
              <a:buNone/>
            </a:pPr>
            <a:r>
              <a:rPr lang="en-US" sz="488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PHP Â· Node.js Â· MySQL Â· MVC</a:t>
            </a:r>
            <a:endParaRPr lang="en-US" sz="488" dirty="0"/>
          </a:p>
        </p:txBody>
      </p:sp>
      <p:sp>
        <p:nvSpPr>
          <p:cNvPr id="27" name="Shape 25"/>
          <p:cNvSpPr/>
          <p:nvPr/>
        </p:nvSpPr>
        <p:spPr>
          <a:xfrm>
            <a:off x="4905252" y="2038299"/>
            <a:ext cx="95248" cy="95248"/>
          </a:xfrm>
          <a:prstGeom prst="ellipse">
            <a:avLst/>
          </a:prstGeom>
          <a:solidFill>
            <a:srgbClr val="05080F"/>
          </a:solidFill>
          <a:ln w="12700">
            <a:solidFill>
              <a:srgbClr val="2EF2B6">
                <a:alpha val="6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52876" y="2285943"/>
            <a:ext cx="2095448" cy="2857429"/>
          </a:xfrm>
          <a:prstGeom prst="roundRect">
            <a:avLst>
              <a:gd name="adj" fmla="val 261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7173" y="2400240"/>
            <a:ext cx="1047724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067173" y="2819330"/>
            <a:ext cx="1866853" cy="323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25"/>
              </a:lnSpc>
              <a:buNone/>
            </a:pPr>
            <a:r>
              <a:rPr lang="en-US" sz="7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projects and AI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067173" y="3162221"/>
            <a:ext cx="1866853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75"/>
              </a:lnSpc>
              <a:buNone/>
            </a:pPr>
            <a:r>
              <a:rPr lang="en-US" sz="525" spc="5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Strong-Tech · Hackathons</a:t>
            </a:r>
            <a:endParaRPr lang="en-US" sz="525" dirty="0"/>
          </a:p>
        </p:txBody>
      </p:sp>
      <p:sp>
        <p:nvSpPr>
          <p:cNvPr id="32" name="Text 30"/>
          <p:cNvSpPr/>
          <p:nvPr/>
        </p:nvSpPr>
        <p:spPr>
          <a:xfrm>
            <a:off x="5067173" y="3467013"/>
            <a:ext cx="1866853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75"/>
              </a:lnSpc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â–¸ Hardware maintenance and diagnostics at Strong-Tech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5067173" y="3752756"/>
            <a:ext cx="1866853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75"/>
              </a:lnSpc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â–¸ TONI project: AI chatbot integrated with WhatsApp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5067173" y="4038499"/>
            <a:ext cx="1866853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75"/>
              </a:lnSpc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â–¸ Kafnet: prototyping and agile delivery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5067173" y="4724282"/>
            <a:ext cx="1866853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600"/>
              </a:lnSpc>
              <a:buNone/>
            </a:pPr>
            <a:r>
              <a:rPr lang="en-US" sz="488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Â· WhatsApp Â· Prototyping Â· GitHub</a:t>
            </a:r>
            <a:endParaRPr lang="en-US" sz="488" dirty="0"/>
          </a:p>
        </p:txBody>
      </p:sp>
      <p:sp>
        <p:nvSpPr>
          <p:cNvPr id="36" name="Shape 34"/>
          <p:cNvSpPr/>
          <p:nvPr/>
        </p:nvSpPr>
        <p:spPr>
          <a:xfrm>
            <a:off x="7076898" y="2038299"/>
            <a:ext cx="95248" cy="95248"/>
          </a:xfrm>
          <a:prstGeom prst="ellipse">
            <a:avLst/>
          </a:prstGeom>
          <a:solidFill>
            <a:srgbClr val="05080F"/>
          </a:solidFill>
          <a:ln w="12700">
            <a:solidFill>
              <a:srgbClr val="2EF2B6">
                <a:alpha val="6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24522" y="2285943"/>
            <a:ext cx="2095448" cy="2857429"/>
          </a:xfrm>
          <a:prstGeom prst="roundRect">
            <a:avLst>
              <a:gd name="adj" fmla="val 261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38819" y="2400240"/>
            <a:ext cx="1047724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238819" y="2819330"/>
            <a:ext cx="1866853" cy="323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25"/>
              </a:lnSpc>
              <a:buNone/>
            </a:pPr>
            <a:r>
              <a:rPr lang="en-US" sz="7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Stack Developer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7238819" y="3162221"/>
            <a:ext cx="1866853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75"/>
              </a:lnSpc>
              <a:buNone/>
            </a:pPr>
            <a:r>
              <a:rPr lang="en-US" sz="525" spc="5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REVIO Tecnologia · 2025</a:t>
            </a:r>
            <a:endParaRPr lang="en-US" sz="525" dirty="0"/>
          </a:p>
        </p:txBody>
      </p:sp>
      <p:sp>
        <p:nvSpPr>
          <p:cNvPr id="41" name="Text 39"/>
          <p:cNvSpPr/>
          <p:nvPr/>
        </p:nvSpPr>
        <p:spPr>
          <a:xfrm>
            <a:off x="7238819" y="3467013"/>
            <a:ext cx="1866853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75"/>
              </a:lnSpc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â–¸ Development and support of applications and APIs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7238819" y="3752756"/>
            <a:ext cx="1866853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75"/>
              </a:lnSpc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â–¸ Performance, technical debt and version control with Git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7238819" y="4038499"/>
            <a:ext cx="1866853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75"/>
              </a:lnSpc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â–¸ Febraban Tech, AB2L LawTech and AI workshops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7238819" y="4724282"/>
            <a:ext cx="1866853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600"/>
              </a:lnSpc>
              <a:buNone/>
            </a:pPr>
            <a:r>
              <a:rPr lang="en-US" sz="488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Â· TypeScript Â· JavaScript Â· Docker Â· Docker Compose Â· Tailwind CSS Â· HTML Â· Figma Â· QA</a:t>
            </a:r>
            <a:endParaRPr lang="en-US" sz="488" dirty="0"/>
          </a:p>
        </p:txBody>
      </p:sp>
      <p:sp>
        <p:nvSpPr>
          <p:cNvPr id="45" name="Shape 43"/>
          <p:cNvSpPr/>
          <p:nvPr/>
        </p:nvSpPr>
        <p:spPr>
          <a:xfrm>
            <a:off x="9248544" y="2038299"/>
            <a:ext cx="95248" cy="95248"/>
          </a:xfrm>
          <a:prstGeom prst="ellipse">
            <a:avLst/>
          </a:prstGeom>
          <a:solidFill>
            <a:srgbClr val="2EF2B6"/>
          </a:solidFill>
          <a:ln w="12700">
            <a:solidFill>
              <a:srgbClr val="2EF2B6">
                <a:alpha val="6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296168" y="2285943"/>
            <a:ext cx="2095448" cy="2857429"/>
          </a:xfrm>
          <a:prstGeom prst="roundRect">
            <a:avLst>
              <a:gd name="adj" fmla="val 2618"/>
            </a:avLst>
          </a:prstGeom>
          <a:solidFill>
            <a:srgbClr val="2EF2B6">
              <a:alpha val="6000"/>
            </a:srgbClr>
          </a:solidFill>
          <a:ln w="9525">
            <a:solidFill>
              <a:srgbClr val="2EF2B6">
                <a:alpha val="22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410465" y="2400240"/>
            <a:ext cx="1047724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0362941" y="2457389"/>
            <a:ext cx="495288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420089" y="2495488"/>
            <a:ext cx="380990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9410465" y="2819330"/>
            <a:ext cx="1866853" cy="323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25"/>
              </a:lnSpc>
              <a:buNone/>
            </a:pPr>
            <a:r>
              <a:rPr lang="en-US" sz="7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consolidation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9410465" y="3162221"/>
            <a:ext cx="1866853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75"/>
              </a:lnSpc>
              <a:buNone/>
            </a:pPr>
            <a:r>
              <a:rPr lang="en-US" sz="525" spc="5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REVIO Tecnologia · 2026</a:t>
            </a:r>
            <a:endParaRPr lang="en-US" sz="525" dirty="0"/>
          </a:p>
        </p:txBody>
      </p:sp>
      <p:sp>
        <p:nvSpPr>
          <p:cNvPr id="52" name="Text 50"/>
          <p:cNvSpPr/>
          <p:nvPr/>
        </p:nvSpPr>
        <p:spPr>
          <a:xfrm>
            <a:off x="9410465" y="3467013"/>
            <a:ext cx="1866853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75"/>
              </a:lnSpc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â–¸ Azure Pipelines certification (10/2026)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9410465" y="3752756"/>
            <a:ext cx="1866853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75"/>
              </a:lnSpc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â–¸ First Leadership Training (FM2S)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9410465" y="4038499"/>
            <a:ext cx="1866853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75"/>
              </a:lnSpc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â–¸ Projects with React, TypeScript and automation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9410465" y="4724282"/>
            <a:ext cx="1866853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600"/>
              </a:lnSpc>
              <a:buNone/>
            </a:pPr>
            <a:r>
              <a:rPr lang="en-US" sz="488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Â· CI/CD Â· Kubernetes Â· AI studies Â· Architecture Â· Leadership Â· Mentoring Â· QA Â· Figma Â· Feedback collection and refinement</a:t>
            </a:r>
            <a:endParaRPr lang="en-US" sz="488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380990"/>
            <a:ext cx="323842" cy="323842"/>
          </a:xfrm>
          <a:prstGeom prst="roundRect">
            <a:avLst>
              <a:gd name="adj" fmla="val 7906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585" y="400040"/>
            <a:ext cx="323842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0508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028674" y="409565"/>
            <a:ext cx="1523962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</a:t>
            </a:r>
            <a:pPr indent="0" marL="0">
              <a:buNone/>
            </a:pPr>
            <a:r>
              <a:rPr lang="en-US" sz="13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.dev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572286" y="457189"/>
            <a:ext cx="300982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15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 LEMOS Â· 05 / 12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09585" y="1104872"/>
            <a:ext cx="10972526" cy="4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Certificates &amp; skills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609585" y="1523962"/>
            <a:ext cx="10972526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featured certificates Â· 100+ in total.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09585" y="1809705"/>
            <a:ext cx="2857429" cy="4286143"/>
          </a:xfrm>
          <a:prstGeom prst="roundRect">
            <a:avLst>
              <a:gd name="adj" fmla="val 192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0080" y="2019250"/>
            <a:ext cx="2381190" cy="857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100+</a:t>
            </a:r>
            <a:endParaRPr lang="en-US" sz="4650" dirty="0"/>
          </a:p>
        </p:txBody>
      </p:sp>
      <p:sp>
        <p:nvSpPr>
          <p:cNvPr id="10" name="Text 8"/>
          <p:cNvSpPr/>
          <p:nvPr/>
        </p:nvSpPr>
        <p:spPr>
          <a:xfrm>
            <a:off x="800080" y="2876478"/>
            <a:ext cx="2381190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certifications and courses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800080" y="3162221"/>
            <a:ext cx="2428814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6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Cloud, security, development, AI, management and languages.</a:t>
            </a:r>
            <a:endParaRPr lang="en-US" sz="863" dirty="0"/>
          </a:p>
        </p:txBody>
      </p:sp>
      <p:sp>
        <p:nvSpPr>
          <p:cNvPr id="12" name="Text 10"/>
          <p:cNvSpPr/>
          <p:nvPr/>
        </p:nvSpPr>
        <p:spPr>
          <a:xfrm>
            <a:off x="800080" y="3905152"/>
            <a:ext cx="2381190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8" spc="10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LANGUAGES</a:t>
            </a:r>
            <a:endParaRPr lang="en-US" sz="638" dirty="0"/>
          </a:p>
        </p:txBody>
      </p:sp>
      <p:sp>
        <p:nvSpPr>
          <p:cNvPr id="13" name="Shape 11"/>
          <p:cNvSpPr/>
          <p:nvPr/>
        </p:nvSpPr>
        <p:spPr>
          <a:xfrm>
            <a:off x="800080" y="4057549"/>
            <a:ext cx="400040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7229" y="4095648"/>
            <a:ext cx="285743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PHP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257269" y="4057549"/>
            <a:ext cx="506717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14417" y="4095648"/>
            <a:ext cx="392420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800080" y="4324242"/>
            <a:ext cx="1510627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7229" y="4362341"/>
            <a:ext cx="1396330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 / TypeScript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00080" y="4724282"/>
            <a:ext cx="2381190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8" spc="10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&amp; DEVOPS</a:t>
            </a:r>
            <a:endParaRPr lang="en-US" sz="638" dirty="0"/>
          </a:p>
        </p:txBody>
      </p:sp>
      <p:sp>
        <p:nvSpPr>
          <p:cNvPr id="20" name="Shape 18"/>
          <p:cNvSpPr/>
          <p:nvPr/>
        </p:nvSpPr>
        <p:spPr>
          <a:xfrm>
            <a:off x="800080" y="4876678"/>
            <a:ext cx="506717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7229" y="4914777"/>
            <a:ext cx="392420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363946" y="4876678"/>
            <a:ext cx="979146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21094" y="4914777"/>
            <a:ext cx="864848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Actions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400240" y="4876678"/>
            <a:ext cx="447664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57389" y="4914777"/>
            <a:ext cx="333367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800080" y="5143371"/>
            <a:ext cx="447664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7229" y="5181470"/>
            <a:ext cx="333367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00080" y="5543411"/>
            <a:ext cx="2381190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8" spc="10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&amp; DATA</a:t>
            </a:r>
            <a:endParaRPr lang="en-US" sz="638" dirty="0"/>
          </a:p>
        </p:txBody>
      </p:sp>
      <p:sp>
        <p:nvSpPr>
          <p:cNvPr id="29" name="Shape 27"/>
          <p:cNvSpPr/>
          <p:nvPr/>
        </p:nvSpPr>
        <p:spPr>
          <a:xfrm>
            <a:off x="800080" y="5695808"/>
            <a:ext cx="447664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7229" y="5733907"/>
            <a:ext cx="333367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304892" y="5695808"/>
            <a:ext cx="624824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62041" y="5733907"/>
            <a:ext cx="510527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986865" y="5695808"/>
            <a:ext cx="683878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44014" y="5733907"/>
            <a:ext cx="569581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727892" y="5695808"/>
            <a:ext cx="400040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85040" y="5733907"/>
            <a:ext cx="285743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676558" y="1809705"/>
            <a:ext cx="2533587" cy="4286143"/>
          </a:xfrm>
          <a:prstGeom prst="roundRect">
            <a:avLst>
              <a:gd name="adj" fmla="val 2165"/>
            </a:avLst>
          </a:prstGeom>
          <a:solidFill>
            <a:srgbClr val="8B5CF6">
              <a:alpha val="6000"/>
            </a:srgbClr>
          </a:solidFill>
          <a:ln w="9525">
            <a:solidFill>
              <a:srgbClr val="8B5CF6">
                <a:alpha val="22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09905" y="1943051"/>
            <a:ext cx="1809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8" b="1" spc="100" kern="0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&amp; DEVOPS</a:t>
            </a:r>
            <a:endParaRPr lang="en-US" sz="638" dirty="0"/>
          </a:p>
        </p:txBody>
      </p:sp>
      <p:sp>
        <p:nvSpPr>
          <p:cNvPr id="39" name="Text 37"/>
          <p:cNvSpPr/>
          <p:nvPr/>
        </p:nvSpPr>
        <p:spPr>
          <a:xfrm>
            <a:off x="5867253" y="1943051"/>
            <a:ext cx="20954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8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638" dirty="0"/>
          </a:p>
        </p:txBody>
      </p:sp>
      <p:sp>
        <p:nvSpPr>
          <p:cNvPr id="40" name="Text 38"/>
          <p:cNvSpPr/>
          <p:nvPr/>
        </p:nvSpPr>
        <p:spPr>
          <a:xfrm>
            <a:off x="3809905" y="2209745"/>
            <a:ext cx="2266893" cy="95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spc="8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UDEMY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3809905" y="2304992"/>
            <a:ext cx="2266893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00"/>
              </a:lnSpc>
              <a:buNone/>
            </a:pPr>
            <a:r>
              <a:rPr lang="en-US" sz="788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Pipelines — CI/CD, Docker and Kubernetes</a:t>
            </a:r>
            <a:endParaRPr lang="en-US" sz="788" dirty="0"/>
          </a:p>
        </p:txBody>
      </p:sp>
      <p:sp>
        <p:nvSpPr>
          <p:cNvPr id="42" name="Text 40"/>
          <p:cNvSpPr/>
          <p:nvPr/>
        </p:nvSpPr>
        <p:spPr>
          <a:xfrm>
            <a:off x="3809905" y="2571686"/>
            <a:ext cx="2266893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63"/>
              </a:lnSpc>
              <a:buNone/>
            </a:pPr>
            <a:r>
              <a:rPr lang="en-US" sz="71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CI/CD, containers and orchestration in Azure DevOps.</a:t>
            </a:r>
            <a:endParaRPr lang="en-US" sz="713" dirty="0"/>
          </a:p>
        </p:txBody>
      </p:sp>
      <p:sp>
        <p:nvSpPr>
          <p:cNvPr id="43" name="Text 41"/>
          <p:cNvSpPr/>
          <p:nvPr/>
        </p:nvSpPr>
        <p:spPr>
          <a:xfrm>
            <a:off x="3809905" y="2857429"/>
            <a:ext cx="2266893" cy="95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spc="8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· DIO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3809905" y="2952676"/>
            <a:ext cx="2266893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00"/>
              </a:lnSpc>
              <a:buNone/>
            </a:pPr>
            <a:r>
              <a:rPr lang="en-US" sz="788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 to AZ-204</a:t>
            </a:r>
            <a:endParaRPr lang="en-US" sz="788" dirty="0"/>
          </a:p>
        </p:txBody>
      </p:sp>
      <p:sp>
        <p:nvSpPr>
          <p:cNvPr id="45" name="Text 43"/>
          <p:cNvSpPr/>
          <p:nvPr/>
        </p:nvSpPr>
        <p:spPr>
          <a:xfrm>
            <a:off x="3809905" y="3219370"/>
            <a:ext cx="2266893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63"/>
              </a:lnSpc>
              <a:buNone/>
            </a:pPr>
            <a:r>
              <a:rPr lang="en-US" sz="71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Fundamentals for developing solutions on Azure.</a:t>
            </a:r>
            <a:endParaRPr lang="en-US" sz="713" dirty="0"/>
          </a:p>
        </p:txBody>
      </p:sp>
      <p:sp>
        <p:nvSpPr>
          <p:cNvPr id="46" name="Text 44"/>
          <p:cNvSpPr/>
          <p:nvPr/>
        </p:nvSpPr>
        <p:spPr>
          <a:xfrm>
            <a:off x="3809905" y="3505112"/>
            <a:ext cx="2266893" cy="95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spc="8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· DIO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3809905" y="3600360"/>
            <a:ext cx="2266893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00"/>
              </a:lnSpc>
              <a:buNone/>
            </a:pPr>
            <a:r>
              <a:rPr lang="en-US" sz="788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Implementing Azure Functions</a:t>
            </a:r>
            <a:endParaRPr lang="en-US" sz="788" dirty="0"/>
          </a:p>
        </p:txBody>
      </p:sp>
      <p:sp>
        <p:nvSpPr>
          <p:cNvPr id="48" name="Text 46"/>
          <p:cNvSpPr/>
          <p:nvPr/>
        </p:nvSpPr>
        <p:spPr>
          <a:xfrm>
            <a:off x="3809905" y="3867053"/>
            <a:ext cx="2266893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63"/>
              </a:lnSpc>
              <a:buNone/>
            </a:pPr>
            <a:r>
              <a:rPr lang="en-US" sz="71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Serverless APIs and event-driven processing.</a:t>
            </a:r>
            <a:endParaRPr lang="en-US" sz="713" dirty="0"/>
          </a:p>
        </p:txBody>
      </p:sp>
      <p:sp>
        <p:nvSpPr>
          <p:cNvPr id="49" name="Text 47"/>
          <p:cNvSpPr/>
          <p:nvPr/>
        </p:nvSpPr>
        <p:spPr>
          <a:xfrm>
            <a:off x="3809905" y="4152796"/>
            <a:ext cx="2266893" cy="95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spc="8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· DIO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3809905" y="4248044"/>
            <a:ext cx="2266893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00"/>
              </a:lnSpc>
              <a:buNone/>
            </a:pPr>
            <a:r>
              <a:rPr lang="en-US" sz="788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with Azure Cosmos DB</a:t>
            </a:r>
            <a:endParaRPr lang="en-US" sz="788" dirty="0"/>
          </a:p>
        </p:txBody>
      </p:sp>
      <p:sp>
        <p:nvSpPr>
          <p:cNvPr id="51" name="Text 49"/>
          <p:cNvSpPr/>
          <p:nvPr/>
        </p:nvSpPr>
        <p:spPr>
          <a:xfrm>
            <a:off x="3809905" y="4514737"/>
            <a:ext cx="2266893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63"/>
              </a:lnSpc>
              <a:buNone/>
            </a:pPr>
            <a:r>
              <a:rPr lang="en-US" sz="71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Distributed NoSQL databases and data modeling.</a:t>
            </a:r>
            <a:endParaRPr lang="en-US" sz="713" dirty="0"/>
          </a:p>
        </p:txBody>
      </p:sp>
      <p:sp>
        <p:nvSpPr>
          <p:cNvPr id="52" name="Text 50"/>
          <p:cNvSpPr/>
          <p:nvPr/>
        </p:nvSpPr>
        <p:spPr>
          <a:xfrm>
            <a:off x="3809905" y="4800480"/>
            <a:ext cx="2266893" cy="95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spc="8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· DIO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3809905" y="4895728"/>
            <a:ext cx="2266893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00"/>
              </a:lnSpc>
              <a:buNone/>
            </a:pPr>
            <a:r>
              <a:rPr lang="en-US" sz="788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Deployment in the Cloud</a:t>
            </a:r>
            <a:endParaRPr lang="en-US" sz="788" dirty="0"/>
          </a:p>
        </p:txBody>
      </p:sp>
      <p:sp>
        <p:nvSpPr>
          <p:cNvPr id="54" name="Text 52"/>
          <p:cNvSpPr/>
          <p:nvPr/>
        </p:nvSpPr>
        <p:spPr>
          <a:xfrm>
            <a:off x="3809905" y="5162421"/>
            <a:ext cx="2266893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63"/>
              </a:lnSpc>
              <a:buNone/>
            </a:pPr>
            <a:r>
              <a:rPr lang="en-US" sz="71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Publishing and operating APIs in a cloud environment.</a:t>
            </a:r>
            <a:endParaRPr lang="en-US" sz="713" dirty="0"/>
          </a:p>
        </p:txBody>
      </p:sp>
      <p:sp>
        <p:nvSpPr>
          <p:cNvPr id="55" name="Shape 53"/>
          <p:cNvSpPr/>
          <p:nvPr/>
        </p:nvSpPr>
        <p:spPr>
          <a:xfrm>
            <a:off x="6362541" y="1809705"/>
            <a:ext cx="2533587" cy="4286143"/>
          </a:xfrm>
          <a:prstGeom prst="roundRect">
            <a:avLst>
              <a:gd name="adj" fmla="val 2165"/>
            </a:avLst>
          </a:prstGeom>
          <a:solidFill>
            <a:srgbClr val="2EF2B6">
              <a:alpha val="6000"/>
            </a:srgbClr>
          </a:solidFill>
          <a:ln w="9525">
            <a:solidFill>
              <a:srgbClr val="2EF2B6">
                <a:alpha val="22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95888" y="1943051"/>
            <a:ext cx="1809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8" b="1" spc="100" kern="0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DEVELOPMENT &amp; AI</a:t>
            </a:r>
            <a:endParaRPr lang="en-US" sz="638" dirty="0"/>
          </a:p>
        </p:txBody>
      </p:sp>
      <p:sp>
        <p:nvSpPr>
          <p:cNvPr id="57" name="Text 55"/>
          <p:cNvSpPr/>
          <p:nvPr/>
        </p:nvSpPr>
        <p:spPr>
          <a:xfrm>
            <a:off x="8553236" y="1943051"/>
            <a:ext cx="20954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8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638" dirty="0"/>
          </a:p>
        </p:txBody>
      </p:sp>
      <p:sp>
        <p:nvSpPr>
          <p:cNvPr id="58" name="Text 56"/>
          <p:cNvSpPr/>
          <p:nvPr/>
        </p:nvSpPr>
        <p:spPr>
          <a:xfrm>
            <a:off x="6495888" y="2209745"/>
            <a:ext cx="2266893" cy="95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spc="8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FUNDAÇÃO ESTUDAR · HARVARD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6495888" y="2304992"/>
            <a:ext cx="2266893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00"/>
              </a:lnSpc>
              <a:buNone/>
            </a:pPr>
            <a:r>
              <a:rPr lang="en-US" sz="788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CC50: Introduction to Computer Science</a:t>
            </a:r>
            <a:endParaRPr lang="en-US" sz="788" dirty="0"/>
          </a:p>
        </p:txBody>
      </p:sp>
      <p:sp>
        <p:nvSpPr>
          <p:cNvPr id="60" name="Text 58"/>
          <p:cNvSpPr/>
          <p:nvPr/>
        </p:nvSpPr>
        <p:spPr>
          <a:xfrm>
            <a:off x="6495888" y="2571686"/>
            <a:ext cx="2266893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63"/>
              </a:lnSpc>
              <a:buNone/>
            </a:pPr>
            <a:r>
              <a:rPr lang="en-US" sz="71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Computer science fundamentals and algorithms.</a:t>
            </a:r>
            <a:endParaRPr lang="en-US" sz="713" dirty="0"/>
          </a:p>
        </p:txBody>
      </p:sp>
      <p:sp>
        <p:nvSpPr>
          <p:cNvPr id="61" name="Text 59"/>
          <p:cNvSpPr/>
          <p:nvPr/>
        </p:nvSpPr>
        <p:spPr>
          <a:xfrm>
            <a:off x="6495888" y="2857429"/>
            <a:ext cx="2266893" cy="95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spc="8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UDEMY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6495888" y="2952676"/>
            <a:ext cx="2266893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00"/>
              </a:lnSpc>
              <a:buNone/>
            </a:pPr>
            <a:r>
              <a:rPr lang="en-US" sz="788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Virtual Store Backend (Parse Server + PIX)</a:t>
            </a:r>
            <a:endParaRPr lang="en-US" sz="788" dirty="0"/>
          </a:p>
        </p:txBody>
      </p:sp>
      <p:sp>
        <p:nvSpPr>
          <p:cNvPr id="63" name="Text 61"/>
          <p:cNvSpPr/>
          <p:nvPr/>
        </p:nvSpPr>
        <p:spPr>
          <a:xfrm>
            <a:off x="6495888" y="3219370"/>
            <a:ext cx="2266893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63"/>
              </a:lnSpc>
              <a:buNone/>
            </a:pPr>
            <a:r>
              <a:rPr lang="en-US" sz="71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E-commerce API with PIX payments.</a:t>
            </a:r>
            <a:endParaRPr lang="en-US" sz="713" dirty="0"/>
          </a:p>
        </p:txBody>
      </p:sp>
      <p:sp>
        <p:nvSpPr>
          <p:cNvPr id="64" name="Text 62"/>
          <p:cNvSpPr/>
          <p:nvPr/>
        </p:nvSpPr>
        <p:spPr>
          <a:xfrm>
            <a:off x="6495888" y="3505112"/>
            <a:ext cx="2266893" cy="95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spc="8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FUNDAÇÃO BRADESCO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6495888" y="3600360"/>
            <a:ext cx="2266893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00"/>
              </a:lnSpc>
              <a:buNone/>
            </a:pPr>
            <a:r>
              <a:rPr lang="en-US" sz="788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Website with HTML, CSS and JavaScript</a:t>
            </a:r>
            <a:endParaRPr lang="en-US" sz="788" dirty="0"/>
          </a:p>
        </p:txBody>
      </p:sp>
      <p:sp>
        <p:nvSpPr>
          <p:cNvPr id="66" name="Text 64"/>
          <p:cNvSpPr/>
          <p:nvPr/>
        </p:nvSpPr>
        <p:spPr>
          <a:xfrm>
            <a:off x="6495888" y="3867053"/>
            <a:ext cx="2266893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63"/>
              </a:lnSpc>
              <a:buNone/>
            </a:pPr>
            <a:r>
              <a:rPr lang="en-US" sz="71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Front-end fundamentals and JavaScript interactivity.</a:t>
            </a:r>
            <a:endParaRPr lang="en-US" sz="713" dirty="0"/>
          </a:p>
        </p:txBody>
      </p:sp>
      <p:sp>
        <p:nvSpPr>
          <p:cNvPr id="67" name="Text 65"/>
          <p:cNvSpPr/>
          <p:nvPr/>
        </p:nvSpPr>
        <p:spPr>
          <a:xfrm>
            <a:off x="6495888" y="4152796"/>
            <a:ext cx="2266893" cy="95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spc="8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ALURA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6495888" y="4248044"/>
            <a:ext cx="2266893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00"/>
              </a:lnSpc>
              <a:buNone/>
            </a:pPr>
            <a:r>
              <a:rPr lang="en-US" sz="788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Artificial Intelligence Immersion</a:t>
            </a:r>
            <a:endParaRPr lang="en-US" sz="788" dirty="0"/>
          </a:p>
        </p:txBody>
      </p:sp>
      <p:sp>
        <p:nvSpPr>
          <p:cNvPr id="69" name="Text 67"/>
          <p:cNvSpPr/>
          <p:nvPr/>
        </p:nvSpPr>
        <p:spPr>
          <a:xfrm>
            <a:off x="6495888" y="4514737"/>
            <a:ext cx="2266893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63"/>
              </a:lnSpc>
              <a:buNone/>
            </a:pPr>
            <a:r>
              <a:rPr lang="en-US" sz="71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AI, models and practical applications.</a:t>
            </a:r>
            <a:endParaRPr lang="en-US" sz="713" dirty="0"/>
          </a:p>
        </p:txBody>
      </p:sp>
      <p:sp>
        <p:nvSpPr>
          <p:cNvPr id="70" name="Text 68"/>
          <p:cNvSpPr/>
          <p:nvPr/>
        </p:nvSpPr>
        <p:spPr>
          <a:xfrm>
            <a:off x="6495888" y="4800480"/>
            <a:ext cx="2266893" cy="95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spc="8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ENIAC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6495888" y="4895728"/>
            <a:ext cx="2266893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00"/>
              </a:lnSpc>
              <a:buNone/>
            </a:pPr>
            <a:r>
              <a:rPr lang="en-US" sz="788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Artificial Intelligence Training (CPTIA)</a:t>
            </a:r>
            <a:endParaRPr lang="en-US" sz="788" dirty="0"/>
          </a:p>
        </p:txBody>
      </p:sp>
      <p:sp>
        <p:nvSpPr>
          <p:cNvPr id="72" name="Text 70"/>
          <p:cNvSpPr/>
          <p:nvPr/>
        </p:nvSpPr>
        <p:spPr>
          <a:xfrm>
            <a:off x="6495888" y="5162421"/>
            <a:ext cx="2266893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63"/>
              </a:lnSpc>
              <a:buNone/>
            </a:pPr>
            <a:r>
              <a:rPr lang="en-US" sz="71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applied to solving real-world problems.</a:t>
            </a:r>
            <a:endParaRPr lang="en-US" sz="713" dirty="0"/>
          </a:p>
        </p:txBody>
      </p:sp>
      <p:sp>
        <p:nvSpPr>
          <p:cNvPr id="73" name="Shape 71"/>
          <p:cNvSpPr/>
          <p:nvPr/>
        </p:nvSpPr>
        <p:spPr>
          <a:xfrm>
            <a:off x="9048524" y="1809705"/>
            <a:ext cx="2533587" cy="4286143"/>
          </a:xfrm>
          <a:prstGeom prst="roundRect">
            <a:avLst>
              <a:gd name="adj" fmla="val 2165"/>
            </a:avLst>
          </a:prstGeom>
          <a:solidFill>
            <a:srgbClr val="FF4D8D">
              <a:alpha val="6000"/>
            </a:srgbClr>
          </a:solidFill>
          <a:ln w="9525">
            <a:solidFill>
              <a:srgbClr val="FF4D8D">
                <a:alpha val="22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181870" y="1943051"/>
            <a:ext cx="1809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8" b="1" spc="100" kern="0" dirty="0">
                <a:solidFill>
                  <a:srgbClr val="FF4D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SECURITY, MANAGEMENT &amp; LANGUAGES</a:t>
            </a:r>
            <a:endParaRPr lang="en-US" sz="638" dirty="0"/>
          </a:p>
        </p:txBody>
      </p:sp>
      <p:sp>
        <p:nvSpPr>
          <p:cNvPr id="75" name="Text 73"/>
          <p:cNvSpPr/>
          <p:nvPr/>
        </p:nvSpPr>
        <p:spPr>
          <a:xfrm>
            <a:off x="11239219" y="1943051"/>
            <a:ext cx="20954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8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638" dirty="0"/>
          </a:p>
        </p:txBody>
      </p:sp>
      <p:sp>
        <p:nvSpPr>
          <p:cNvPr id="76" name="Text 74"/>
          <p:cNvSpPr/>
          <p:nvPr/>
        </p:nvSpPr>
        <p:spPr>
          <a:xfrm>
            <a:off x="9181870" y="2209745"/>
            <a:ext cx="2266893" cy="95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spc="8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FIAP</a:t>
            </a:r>
            <a:endParaRPr lang="en-US" sz="600" dirty="0"/>
          </a:p>
        </p:txBody>
      </p:sp>
      <p:sp>
        <p:nvSpPr>
          <p:cNvPr id="77" name="Text 75"/>
          <p:cNvSpPr/>
          <p:nvPr/>
        </p:nvSpPr>
        <p:spPr>
          <a:xfrm>
            <a:off x="9181870" y="2304992"/>
            <a:ext cx="2266893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00"/>
              </a:lnSpc>
              <a:buNone/>
            </a:pPr>
            <a:r>
              <a:rPr lang="en-US" sz="788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Cybersecurity</a:t>
            </a:r>
            <a:endParaRPr lang="en-US" sz="788" dirty="0"/>
          </a:p>
        </p:txBody>
      </p:sp>
      <p:sp>
        <p:nvSpPr>
          <p:cNvPr id="78" name="Text 76"/>
          <p:cNvSpPr/>
          <p:nvPr/>
        </p:nvSpPr>
        <p:spPr>
          <a:xfrm>
            <a:off x="9181870" y="2571686"/>
            <a:ext cx="2266893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63"/>
              </a:lnSpc>
              <a:buNone/>
            </a:pPr>
            <a:r>
              <a:rPr lang="en-US" sz="71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Security, threats and best practices.</a:t>
            </a:r>
            <a:endParaRPr lang="en-US" sz="713" dirty="0"/>
          </a:p>
        </p:txBody>
      </p:sp>
      <p:sp>
        <p:nvSpPr>
          <p:cNvPr id="79" name="Text 77"/>
          <p:cNvSpPr/>
          <p:nvPr/>
        </p:nvSpPr>
        <p:spPr>
          <a:xfrm>
            <a:off x="9181870" y="2830759"/>
            <a:ext cx="2266893" cy="95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spc="8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CISCO</a:t>
            </a:r>
            <a:endParaRPr lang="en-US" sz="600" dirty="0"/>
          </a:p>
        </p:txBody>
      </p:sp>
      <p:sp>
        <p:nvSpPr>
          <p:cNvPr id="80" name="Text 78"/>
          <p:cNvSpPr/>
          <p:nvPr/>
        </p:nvSpPr>
        <p:spPr>
          <a:xfrm>
            <a:off x="9181870" y="2926007"/>
            <a:ext cx="2266893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00"/>
              </a:lnSpc>
              <a:buNone/>
            </a:pPr>
            <a:r>
              <a:rPr lang="en-US" sz="788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 to Cybersecurity</a:t>
            </a:r>
            <a:endParaRPr lang="en-US" sz="788" dirty="0"/>
          </a:p>
        </p:txBody>
      </p:sp>
      <p:sp>
        <p:nvSpPr>
          <p:cNvPr id="81" name="Text 79"/>
          <p:cNvSpPr/>
          <p:nvPr/>
        </p:nvSpPr>
        <p:spPr>
          <a:xfrm>
            <a:off x="9181870" y="3192700"/>
            <a:ext cx="2266893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63"/>
              </a:lnSpc>
              <a:buNone/>
            </a:pPr>
            <a:r>
              <a:rPr lang="en-US" sz="71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Networks, risks and environment protection.</a:t>
            </a:r>
            <a:endParaRPr lang="en-US" sz="713" dirty="0"/>
          </a:p>
        </p:txBody>
      </p:sp>
      <p:sp>
        <p:nvSpPr>
          <p:cNvPr id="82" name="Text 80"/>
          <p:cNvSpPr/>
          <p:nvPr/>
        </p:nvSpPr>
        <p:spPr>
          <a:xfrm>
            <a:off x="9181870" y="3451774"/>
            <a:ext cx="2266893" cy="95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spc="8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FM2S</a:t>
            </a:r>
            <a:endParaRPr lang="en-US" sz="600" dirty="0"/>
          </a:p>
        </p:txBody>
      </p:sp>
      <p:sp>
        <p:nvSpPr>
          <p:cNvPr id="83" name="Text 81"/>
          <p:cNvSpPr/>
          <p:nvPr/>
        </p:nvSpPr>
        <p:spPr>
          <a:xfrm>
            <a:off x="9181870" y="3547021"/>
            <a:ext cx="2266893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00"/>
              </a:lnSpc>
              <a:buNone/>
            </a:pPr>
            <a:r>
              <a:rPr lang="en-US" sz="788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Lean Six Sigma — Green Belt</a:t>
            </a:r>
            <a:endParaRPr lang="en-US" sz="788" dirty="0"/>
          </a:p>
        </p:txBody>
      </p:sp>
      <p:sp>
        <p:nvSpPr>
          <p:cNvPr id="84" name="Text 82"/>
          <p:cNvSpPr/>
          <p:nvPr/>
        </p:nvSpPr>
        <p:spPr>
          <a:xfrm>
            <a:off x="9181870" y="3813715"/>
            <a:ext cx="2266893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63"/>
              </a:lnSpc>
              <a:buNone/>
            </a:pPr>
            <a:r>
              <a:rPr lang="en-US" sz="71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 improvement and waste reduction.</a:t>
            </a:r>
            <a:endParaRPr lang="en-US" sz="713" dirty="0"/>
          </a:p>
        </p:txBody>
      </p:sp>
      <p:sp>
        <p:nvSpPr>
          <p:cNvPr id="85" name="Text 83"/>
          <p:cNvSpPr/>
          <p:nvPr/>
        </p:nvSpPr>
        <p:spPr>
          <a:xfrm>
            <a:off x="9181870" y="4072788"/>
            <a:ext cx="2266893" cy="95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spc="8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FM2S</a:t>
            </a:r>
            <a:endParaRPr lang="en-US" sz="600" dirty="0"/>
          </a:p>
        </p:txBody>
      </p:sp>
      <p:sp>
        <p:nvSpPr>
          <p:cNvPr id="86" name="Text 84"/>
          <p:cNvSpPr/>
          <p:nvPr/>
        </p:nvSpPr>
        <p:spPr>
          <a:xfrm>
            <a:off x="9181870" y="4168036"/>
            <a:ext cx="2266893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00"/>
              </a:lnSpc>
              <a:buNone/>
            </a:pPr>
            <a:r>
              <a:rPr lang="en-US" sz="788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Leadership Training</a:t>
            </a:r>
            <a:endParaRPr lang="en-US" sz="788" dirty="0"/>
          </a:p>
        </p:txBody>
      </p:sp>
      <p:sp>
        <p:nvSpPr>
          <p:cNvPr id="87" name="Text 85"/>
          <p:cNvSpPr/>
          <p:nvPr/>
        </p:nvSpPr>
        <p:spPr>
          <a:xfrm>
            <a:off x="9181870" y="4434729"/>
            <a:ext cx="2266893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63"/>
              </a:lnSpc>
              <a:buNone/>
            </a:pPr>
            <a:r>
              <a:rPr lang="en-US" sz="71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Leadership, communication and team management.</a:t>
            </a:r>
            <a:endParaRPr lang="en-US" sz="713" dirty="0"/>
          </a:p>
        </p:txBody>
      </p:sp>
      <p:sp>
        <p:nvSpPr>
          <p:cNvPr id="88" name="Text 86"/>
          <p:cNvSpPr/>
          <p:nvPr/>
        </p:nvSpPr>
        <p:spPr>
          <a:xfrm>
            <a:off x="9181870" y="4693803"/>
            <a:ext cx="2266893" cy="95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spc="8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IBM</a:t>
            </a:r>
            <a:endParaRPr lang="en-US" sz="600" dirty="0"/>
          </a:p>
        </p:txBody>
      </p:sp>
      <p:sp>
        <p:nvSpPr>
          <p:cNvPr id="89" name="Text 87"/>
          <p:cNvSpPr/>
          <p:nvPr/>
        </p:nvSpPr>
        <p:spPr>
          <a:xfrm>
            <a:off x="9181870" y="4789050"/>
            <a:ext cx="2266893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00"/>
              </a:lnSpc>
              <a:buNone/>
            </a:pPr>
            <a:r>
              <a:rPr lang="en-US" sz="788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and Creative Thinking</a:t>
            </a:r>
            <a:endParaRPr lang="en-US" sz="788" dirty="0"/>
          </a:p>
        </p:txBody>
      </p:sp>
      <p:sp>
        <p:nvSpPr>
          <p:cNvPr id="90" name="Text 88"/>
          <p:cNvSpPr/>
          <p:nvPr/>
        </p:nvSpPr>
        <p:spPr>
          <a:xfrm>
            <a:off x="9181870" y="5055744"/>
            <a:ext cx="2266893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63"/>
              </a:lnSpc>
              <a:buNone/>
            </a:pPr>
            <a:r>
              <a:rPr lang="en-US" sz="71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Analysis, creativity and problem solving.</a:t>
            </a:r>
            <a:endParaRPr lang="en-US" sz="713" dirty="0"/>
          </a:p>
        </p:txBody>
      </p:sp>
      <p:sp>
        <p:nvSpPr>
          <p:cNvPr id="91" name="Text 89"/>
          <p:cNvSpPr/>
          <p:nvPr/>
        </p:nvSpPr>
        <p:spPr>
          <a:xfrm>
            <a:off x="9181870" y="5314817"/>
            <a:ext cx="2266893" cy="95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spc="8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600" dirty="0"/>
          </a:p>
        </p:txBody>
      </p:sp>
      <p:sp>
        <p:nvSpPr>
          <p:cNvPr id="92" name="Text 90"/>
          <p:cNvSpPr/>
          <p:nvPr/>
        </p:nvSpPr>
        <p:spPr>
          <a:xfrm>
            <a:off x="9181870" y="5410065"/>
            <a:ext cx="2266893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00"/>
              </a:lnSpc>
              <a:buNone/>
            </a:pPr>
            <a:r>
              <a:rPr lang="en-US" sz="788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English B1 — MET</a:t>
            </a:r>
            <a:endParaRPr lang="en-US" sz="788" dirty="0"/>
          </a:p>
        </p:txBody>
      </p:sp>
      <p:sp>
        <p:nvSpPr>
          <p:cNvPr id="93" name="Text 91"/>
          <p:cNvSpPr/>
          <p:nvPr/>
        </p:nvSpPr>
        <p:spPr>
          <a:xfrm>
            <a:off x="9181870" y="5676758"/>
            <a:ext cx="2266893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63"/>
              </a:lnSpc>
              <a:buNone/>
            </a:pPr>
            <a:r>
              <a:rPr lang="en-US" sz="71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Communication and reading in a professional context.</a:t>
            </a:r>
            <a:endParaRPr lang="en-US" sz="71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380990"/>
            <a:ext cx="323842" cy="323842"/>
          </a:xfrm>
          <a:prstGeom prst="roundRect">
            <a:avLst>
              <a:gd name="adj" fmla="val 7906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585" y="400040"/>
            <a:ext cx="323842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0508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028674" y="409565"/>
            <a:ext cx="1523962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</a:t>
            </a:r>
            <a:pPr indent="0" marL="0">
              <a:buNone/>
            </a:pPr>
            <a:r>
              <a:rPr lang="en-US" sz="13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.dev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572286" y="457189"/>
            <a:ext cx="300982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15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 LEMOS Â· 06 / 12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09585" y="1104872"/>
            <a:ext cx="10972526" cy="4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Talks &amp; events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609585" y="1523962"/>
            <a:ext cx="10972526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events and immersions Â· 2025.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09585" y="1809705"/>
            <a:ext cx="10972526" cy="914377"/>
          </a:xfrm>
          <a:prstGeom prst="roundRect">
            <a:avLst>
              <a:gd name="adj" fmla="val 6000"/>
            </a:avLst>
          </a:prstGeom>
          <a:solidFill>
            <a:srgbClr val="FF4D8D">
              <a:alpha val="6000"/>
            </a:srgbClr>
          </a:solidFill>
          <a:ln w="9525">
            <a:solidFill>
              <a:srgbClr val="FF4D8D">
                <a:alpha val="2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0080" y="1943051"/>
            <a:ext cx="7619809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8" spc="100" kern="0" dirty="0">
                <a:solidFill>
                  <a:srgbClr val="FF4D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FEBRABAN</a:t>
            </a:r>
            <a:endParaRPr lang="en-US" sz="638" dirty="0"/>
          </a:p>
        </p:txBody>
      </p:sp>
      <p:sp>
        <p:nvSpPr>
          <p:cNvPr id="10" name="Text 8"/>
          <p:cNvSpPr/>
          <p:nvPr/>
        </p:nvSpPr>
        <p:spPr>
          <a:xfrm>
            <a:off x="800080" y="2114497"/>
            <a:ext cx="9715257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5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Febraban Tech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800080" y="2381190"/>
            <a:ext cx="9715257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00"/>
              </a:lnSpc>
              <a:buNone/>
            </a:pPr>
            <a:r>
              <a:rPr lang="en-US" sz="788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largest technology and innovation event in Latin America's financial sector, with content on AI, cloud, data and the future of the market.</a:t>
            </a:r>
            <a:endParaRPr lang="en-US" sz="788" dirty="0"/>
          </a:p>
        </p:txBody>
      </p:sp>
      <p:sp>
        <p:nvSpPr>
          <p:cNvPr id="12" name="Shape 10"/>
          <p:cNvSpPr/>
          <p:nvPr/>
        </p:nvSpPr>
        <p:spPr>
          <a:xfrm>
            <a:off x="609585" y="2857429"/>
            <a:ext cx="5410065" cy="914377"/>
          </a:xfrm>
          <a:prstGeom prst="roundRect">
            <a:avLst>
              <a:gd name="adj" fmla="val 60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1981" y="2971726"/>
            <a:ext cx="4762381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8" spc="10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ENIAC INNOVATION FEST</a:t>
            </a:r>
            <a:endParaRPr lang="en-US" sz="638" dirty="0"/>
          </a:p>
        </p:txBody>
      </p:sp>
      <p:sp>
        <p:nvSpPr>
          <p:cNvPr id="14" name="Text 12"/>
          <p:cNvSpPr/>
          <p:nvPr/>
        </p:nvSpPr>
        <p:spPr>
          <a:xfrm>
            <a:off x="761981" y="3124122"/>
            <a:ext cx="4952876" cy="323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5"/>
              </a:lnSpc>
              <a:buNone/>
            </a:pPr>
            <a:r>
              <a:rPr lang="en-US" sz="825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Lecture Series and Panel Debate — Innovation and Technology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761981" y="3467013"/>
            <a:ext cx="4952876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63"/>
              </a:lnSpc>
              <a:buNone/>
            </a:pPr>
            <a:r>
              <a:rPr lang="en-US" sz="71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Debate on innovation, trends and the role of technology in education and the market.</a:t>
            </a:r>
            <a:endParaRPr lang="en-US" sz="713" dirty="0"/>
          </a:p>
        </p:txBody>
      </p:sp>
      <p:sp>
        <p:nvSpPr>
          <p:cNvPr id="16" name="Shape 14"/>
          <p:cNvSpPr/>
          <p:nvPr/>
        </p:nvSpPr>
        <p:spPr>
          <a:xfrm>
            <a:off x="6172046" y="2857429"/>
            <a:ext cx="5410065" cy="914377"/>
          </a:xfrm>
          <a:prstGeom prst="roundRect">
            <a:avLst>
              <a:gd name="adj" fmla="val 60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4442" y="2971726"/>
            <a:ext cx="4762381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8" spc="10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ENIAC INNOVATION FEST</a:t>
            </a:r>
            <a:endParaRPr lang="en-US" sz="638" dirty="0"/>
          </a:p>
        </p:txBody>
      </p:sp>
      <p:sp>
        <p:nvSpPr>
          <p:cNvPr id="18" name="Text 16"/>
          <p:cNvSpPr/>
          <p:nvPr/>
        </p:nvSpPr>
        <p:spPr>
          <a:xfrm>
            <a:off x="6324442" y="3124122"/>
            <a:ext cx="4952876" cy="323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5"/>
              </a:lnSpc>
              <a:buNone/>
            </a:pPr>
            <a:r>
              <a:rPr lang="en-US" sz="825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Workshop: Uncovering Google's Generative AIs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6324442" y="3467013"/>
            <a:ext cx="4952876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63"/>
              </a:lnSpc>
              <a:buNone/>
            </a:pPr>
            <a:r>
              <a:rPr lang="en-US" sz="71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Hands-on contact with Google generative AI, prompts and everyday applications.</a:t>
            </a:r>
            <a:endParaRPr lang="en-US" sz="713" dirty="0"/>
          </a:p>
        </p:txBody>
      </p:sp>
      <p:sp>
        <p:nvSpPr>
          <p:cNvPr id="20" name="Shape 18"/>
          <p:cNvSpPr/>
          <p:nvPr/>
        </p:nvSpPr>
        <p:spPr>
          <a:xfrm>
            <a:off x="609585" y="3886103"/>
            <a:ext cx="5410065" cy="914377"/>
          </a:xfrm>
          <a:prstGeom prst="roundRect">
            <a:avLst>
              <a:gd name="adj" fmla="val 60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1981" y="4000400"/>
            <a:ext cx="4762381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8" spc="10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</a:t>
            </a:r>
            <a:endParaRPr lang="en-US" sz="638" dirty="0"/>
          </a:p>
        </p:txBody>
      </p:sp>
      <p:sp>
        <p:nvSpPr>
          <p:cNvPr id="22" name="Text 20"/>
          <p:cNvSpPr/>
          <p:nvPr/>
        </p:nvSpPr>
        <p:spPr>
          <a:xfrm>
            <a:off x="761981" y="4152796"/>
            <a:ext cx="4952876" cy="323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5"/>
              </a:lnSpc>
              <a:buNone/>
            </a:pPr>
            <a:r>
              <a:rPr lang="en-US" sz="825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Workshop: Build Your Own AI Agent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761981" y="4495688"/>
            <a:ext cx="4952876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63"/>
              </a:lnSpc>
              <a:buNone/>
            </a:pPr>
            <a:r>
              <a:rPr lang="en-US" sz="71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Building AI agents and automations with Microsoft tools.</a:t>
            </a:r>
            <a:endParaRPr lang="en-US" sz="713" dirty="0"/>
          </a:p>
        </p:txBody>
      </p:sp>
      <p:sp>
        <p:nvSpPr>
          <p:cNvPr id="24" name="Shape 22"/>
          <p:cNvSpPr/>
          <p:nvPr/>
        </p:nvSpPr>
        <p:spPr>
          <a:xfrm>
            <a:off x="6172046" y="3886103"/>
            <a:ext cx="5410065" cy="914377"/>
          </a:xfrm>
          <a:prstGeom prst="roundRect">
            <a:avLst>
              <a:gd name="adj" fmla="val 60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24442" y="4000400"/>
            <a:ext cx="4762381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8" spc="10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TALK</a:t>
            </a:r>
            <a:endParaRPr lang="en-US" sz="638" dirty="0"/>
          </a:p>
        </p:txBody>
      </p:sp>
      <p:sp>
        <p:nvSpPr>
          <p:cNvPr id="26" name="Text 24"/>
          <p:cNvSpPr/>
          <p:nvPr/>
        </p:nvSpPr>
        <p:spPr>
          <a:xfrm>
            <a:off x="6324442" y="4152796"/>
            <a:ext cx="4952876" cy="323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5"/>
              </a:lnSpc>
              <a:buNone/>
            </a:pPr>
            <a:r>
              <a:rPr lang="en-US" sz="825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 Marketing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6324442" y="4495688"/>
            <a:ext cx="4952876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63"/>
              </a:lnSpc>
              <a:buNone/>
            </a:pPr>
            <a:r>
              <a:rPr lang="en-US" sz="71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AI supports creation, segmentation and campaign analysis.</a:t>
            </a:r>
            <a:endParaRPr lang="en-US" sz="713" dirty="0"/>
          </a:p>
        </p:txBody>
      </p:sp>
      <p:sp>
        <p:nvSpPr>
          <p:cNvPr id="28" name="Shape 26"/>
          <p:cNvSpPr/>
          <p:nvPr/>
        </p:nvSpPr>
        <p:spPr>
          <a:xfrm>
            <a:off x="609585" y="4914777"/>
            <a:ext cx="5410065" cy="914377"/>
          </a:xfrm>
          <a:prstGeom prst="roundRect">
            <a:avLst>
              <a:gd name="adj" fmla="val 60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1981" y="5029074"/>
            <a:ext cx="4762381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8" spc="10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AB2L</a:t>
            </a:r>
            <a:endParaRPr lang="en-US" sz="638" dirty="0"/>
          </a:p>
        </p:txBody>
      </p:sp>
      <p:sp>
        <p:nvSpPr>
          <p:cNvPr id="30" name="Text 28"/>
          <p:cNvSpPr/>
          <p:nvPr/>
        </p:nvSpPr>
        <p:spPr>
          <a:xfrm>
            <a:off x="761981" y="5181470"/>
            <a:ext cx="4952876" cy="323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5"/>
              </a:lnSpc>
              <a:buNone/>
            </a:pPr>
            <a:r>
              <a:rPr lang="en-US" sz="825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AB2L LawTech Experience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761981" y="5524362"/>
            <a:ext cx="4952876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63"/>
              </a:lnSpc>
              <a:buNone/>
            </a:pPr>
            <a:r>
              <a:rPr lang="en-US" sz="71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applied to law: automation, data and new service models.</a:t>
            </a:r>
            <a:endParaRPr lang="en-US" sz="713" dirty="0"/>
          </a:p>
        </p:txBody>
      </p:sp>
      <p:sp>
        <p:nvSpPr>
          <p:cNvPr id="32" name="Shape 30"/>
          <p:cNvSpPr/>
          <p:nvPr/>
        </p:nvSpPr>
        <p:spPr>
          <a:xfrm>
            <a:off x="6172046" y="4914777"/>
            <a:ext cx="5410065" cy="914377"/>
          </a:xfrm>
          <a:prstGeom prst="roundRect">
            <a:avLst>
              <a:gd name="adj" fmla="val 60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24442" y="5029074"/>
            <a:ext cx="4762381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8" spc="10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ENIAC</a:t>
            </a:r>
            <a:endParaRPr lang="en-US" sz="638" dirty="0"/>
          </a:p>
        </p:txBody>
      </p:sp>
      <p:sp>
        <p:nvSpPr>
          <p:cNvPr id="34" name="Text 32"/>
          <p:cNvSpPr/>
          <p:nvPr/>
        </p:nvSpPr>
        <p:spPr>
          <a:xfrm>
            <a:off x="6324442" y="5181470"/>
            <a:ext cx="4952876" cy="323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5"/>
              </a:lnSpc>
              <a:buNone/>
            </a:pPr>
            <a:r>
              <a:rPr lang="en-US" sz="825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Multigenerational Leadership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6324442" y="5524362"/>
            <a:ext cx="4952876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63"/>
              </a:lnSpc>
              <a:buNone/>
            </a:pPr>
            <a:r>
              <a:rPr lang="en-US" sz="71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Challenges of leading teams with different generations, expectations and ways of working.</a:t>
            </a:r>
            <a:endParaRPr lang="en-US" sz="71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380990"/>
            <a:ext cx="323842" cy="323842"/>
          </a:xfrm>
          <a:prstGeom prst="roundRect">
            <a:avLst>
              <a:gd name="adj" fmla="val 7906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585" y="400040"/>
            <a:ext cx="323842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0508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028674" y="409565"/>
            <a:ext cx="1523962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</a:t>
            </a:r>
            <a:pPr indent="0" marL="0">
              <a:buNone/>
            </a:pPr>
            <a:r>
              <a:rPr lang="en-US" sz="13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.dev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572286" y="457189"/>
            <a:ext cx="300982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15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 LEMOS Â· 07 / 12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09585" y="1104872"/>
            <a:ext cx="10972526" cy="4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Featured projects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609585" y="1523962"/>
            <a:ext cx="10972526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projects across 3 tracks: front-end, back-end and machine learning.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09585" y="1809705"/>
            <a:ext cx="3505112" cy="4095648"/>
          </a:xfrm>
          <a:prstGeom prst="roundRect">
            <a:avLst>
              <a:gd name="adj" fmla="val 1565"/>
            </a:avLst>
          </a:prstGeom>
          <a:solidFill>
            <a:srgbClr val="2EF2B6">
              <a:alpha val="6000"/>
            </a:srgbClr>
          </a:solidFill>
          <a:ln w="9525">
            <a:solidFill>
              <a:srgbClr val="2EF2B6">
                <a:alpha val="2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1981" y="1962101"/>
            <a:ext cx="2476438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8" b="1" spc="100" kern="0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FRONT-END</a:t>
            </a:r>
            <a:endParaRPr lang="en-US" sz="638" dirty="0"/>
          </a:p>
        </p:txBody>
      </p:sp>
      <p:sp>
        <p:nvSpPr>
          <p:cNvPr id="10" name="Text 8"/>
          <p:cNvSpPr/>
          <p:nvPr/>
        </p:nvSpPr>
        <p:spPr>
          <a:xfrm>
            <a:off x="3752756" y="1962101"/>
            <a:ext cx="20954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8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638" dirty="0"/>
          </a:p>
        </p:txBody>
      </p:sp>
      <p:sp>
        <p:nvSpPr>
          <p:cNvPr id="11" name="Text 9"/>
          <p:cNvSpPr/>
          <p:nvPr/>
        </p:nvSpPr>
        <p:spPr>
          <a:xfrm>
            <a:off x="761981" y="2228794"/>
            <a:ext cx="3200320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5"/>
              </a:lnSpc>
              <a:buNone/>
            </a:pPr>
            <a:r>
              <a:rPr lang="en-US" sz="825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Apple Shop Clone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761981" y="2457389"/>
            <a:ext cx="3200320" cy="323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63"/>
              </a:lnSpc>
              <a:buNone/>
            </a:pPr>
            <a:r>
              <a:rPr lang="en-US" sz="71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Responsive Apple Shop clone with visual fidelity and a great experience across devices.</a:t>
            </a:r>
            <a:endParaRPr lang="en-US" sz="713" dirty="0"/>
          </a:p>
        </p:txBody>
      </p:sp>
      <p:sp>
        <p:nvSpPr>
          <p:cNvPr id="13" name="Text 11"/>
          <p:cNvSpPr/>
          <p:nvPr/>
        </p:nvSpPr>
        <p:spPr>
          <a:xfrm>
            <a:off x="761981" y="2800280"/>
            <a:ext cx="320032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8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Â· CSS Â· Bootstrap</a:t>
            </a:r>
            <a:endParaRPr lang="en-US" sz="638" dirty="0"/>
          </a:p>
        </p:txBody>
      </p:sp>
      <p:sp>
        <p:nvSpPr>
          <p:cNvPr id="14" name="Text 12"/>
          <p:cNvSpPr/>
          <p:nvPr/>
        </p:nvSpPr>
        <p:spPr>
          <a:xfrm>
            <a:off x="761981" y="3086023"/>
            <a:ext cx="3200320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5"/>
              </a:lnSpc>
              <a:buNone/>
            </a:pPr>
            <a:r>
              <a:rPr lang="en-US" sz="825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Meteora E-commerce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761981" y="3314617"/>
            <a:ext cx="3200320" cy="323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63"/>
              </a:lnSpc>
              <a:buNone/>
            </a:pPr>
            <a:r>
              <a:rPr lang="en-US" sz="71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e-commerce with catalog, search, promotions and conversion-focused navigation.</a:t>
            </a:r>
            <a:endParaRPr lang="en-US" sz="713" dirty="0"/>
          </a:p>
        </p:txBody>
      </p:sp>
      <p:sp>
        <p:nvSpPr>
          <p:cNvPr id="16" name="Text 14"/>
          <p:cNvSpPr/>
          <p:nvPr/>
        </p:nvSpPr>
        <p:spPr>
          <a:xfrm>
            <a:off x="761981" y="3657509"/>
            <a:ext cx="320032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8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Â· CSS Â· Bootstrap</a:t>
            </a:r>
            <a:endParaRPr lang="en-US" sz="638" dirty="0"/>
          </a:p>
        </p:txBody>
      </p:sp>
      <p:sp>
        <p:nvSpPr>
          <p:cNvPr id="17" name="Shape 15"/>
          <p:cNvSpPr/>
          <p:nvPr/>
        </p:nvSpPr>
        <p:spPr>
          <a:xfrm>
            <a:off x="4343291" y="1809705"/>
            <a:ext cx="3505112" cy="4095648"/>
          </a:xfrm>
          <a:prstGeom prst="roundRect">
            <a:avLst>
              <a:gd name="adj" fmla="val 1565"/>
            </a:avLst>
          </a:prstGeom>
          <a:solidFill>
            <a:srgbClr val="8B5CF6">
              <a:alpha val="6000"/>
            </a:srgbClr>
          </a:solidFill>
          <a:ln w="9525">
            <a:solidFill>
              <a:srgbClr val="8B5CF6">
                <a:alpha val="2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95688" y="1962101"/>
            <a:ext cx="2476438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8" b="1" spc="100" kern="0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BACK-END</a:t>
            </a:r>
            <a:endParaRPr lang="en-US" sz="638" dirty="0"/>
          </a:p>
        </p:txBody>
      </p:sp>
      <p:sp>
        <p:nvSpPr>
          <p:cNvPr id="19" name="Text 17"/>
          <p:cNvSpPr/>
          <p:nvPr/>
        </p:nvSpPr>
        <p:spPr>
          <a:xfrm>
            <a:off x="7486463" y="1962101"/>
            <a:ext cx="20954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8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638" dirty="0"/>
          </a:p>
        </p:txBody>
      </p:sp>
      <p:sp>
        <p:nvSpPr>
          <p:cNvPr id="20" name="Text 18"/>
          <p:cNvSpPr/>
          <p:nvPr/>
        </p:nvSpPr>
        <p:spPr>
          <a:xfrm>
            <a:off x="4495688" y="2228794"/>
            <a:ext cx="3200320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5"/>
              </a:lnSpc>
              <a:buNone/>
            </a:pPr>
            <a:r>
              <a:rPr lang="en-US" sz="825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QR Code Generator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495688" y="2457389"/>
            <a:ext cx="3200320" cy="323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63"/>
              </a:lnSpc>
              <a:buNone/>
            </a:pPr>
            <a:r>
              <a:rPr lang="en-US" sz="71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tool for creating custom QR Codes from URLs, with no installation required.</a:t>
            </a:r>
            <a:endParaRPr lang="en-US" sz="713" dirty="0"/>
          </a:p>
        </p:txBody>
      </p:sp>
      <p:sp>
        <p:nvSpPr>
          <p:cNvPr id="22" name="Text 20"/>
          <p:cNvSpPr/>
          <p:nvPr/>
        </p:nvSpPr>
        <p:spPr>
          <a:xfrm>
            <a:off x="4495688" y="2800280"/>
            <a:ext cx="320032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8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Â· CSS Â· Tailwind</a:t>
            </a:r>
            <a:endParaRPr lang="en-US" sz="638" dirty="0"/>
          </a:p>
        </p:txBody>
      </p:sp>
      <p:sp>
        <p:nvSpPr>
          <p:cNvPr id="23" name="Text 21"/>
          <p:cNvSpPr/>
          <p:nvPr/>
        </p:nvSpPr>
        <p:spPr>
          <a:xfrm>
            <a:off x="4495688" y="3086023"/>
            <a:ext cx="3200320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5"/>
              </a:lnSpc>
              <a:buNone/>
            </a:pPr>
            <a:r>
              <a:rPr lang="en-US" sz="825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To-Do List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495688" y="3314617"/>
            <a:ext cx="3200320" cy="323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63"/>
              </a:lnSpc>
              <a:buNone/>
            </a:pPr>
            <a:r>
              <a:rPr lang="en-US" sz="71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Productivity app with task creation, editing, completion and local persistence.</a:t>
            </a:r>
            <a:endParaRPr lang="en-US" sz="713" dirty="0"/>
          </a:p>
        </p:txBody>
      </p:sp>
      <p:sp>
        <p:nvSpPr>
          <p:cNvPr id="25" name="Text 23"/>
          <p:cNvSpPr/>
          <p:nvPr/>
        </p:nvSpPr>
        <p:spPr>
          <a:xfrm>
            <a:off x="4495688" y="3657509"/>
            <a:ext cx="320032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8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Â· CSS Â· JavaScript</a:t>
            </a:r>
            <a:endParaRPr lang="en-US" sz="638" dirty="0"/>
          </a:p>
        </p:txBody>
      </p:sp>
      <p:sp>
        <p:nvSpPr>
          <p:cNvPr id="26" name="Text 24"/>
          <p:cNvSpPr/>
          <p:nvPr/>
        </p:nvSpPr>
        <p:spPr>
          <a:xfrm>
            <a:off x="4495688" y="3943251"/>
            <a:ext cx="3200320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5"/>
              </a:lnSpc>
              <a:buNone/>
            </a:pPr>
            <a:r>
              <a:rPr lang="en-US" sz="825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Alluh Project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495688" y="4171846"/>
            <a:ext cx="3200320" cy="323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63"/>
              </a:lnSpc>
              <a:buNone/>
            </a:pPr>
            <a:r>
              <a:rPr lang="en-US" sz="71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management with authentication, image uploads and access levels.</a:t>
            </a:r>
            <a:endParaRPr lang="en-US" sz="713" dirty="0"/>
          </a:p>
        </p:txBody>
      </p:sp>
      <p:sp>
        <p:nvSpPr>
          <p:cNvPr id="28" name="Text 26"/>
          <p:cNvSpPr/>
          <p:nvPr/>
        </p:nvSpPr>
        <p:spPr>
          <a:xfrm>
            <a:off x="4495688" y="4514737"/>
            <a:ext cx="320032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8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PHP Â· HTML Â· CSS</a:t>
            </a:r>
            <a:endParaRPr lang="en-US" sz="638" dirty="0"/>
          </a:p>
        </p:txBody>
      </p:sp>
      <p:sp>
        <p:nvSpPr>
          <p:cNvPr id="29" name="Text 27"/>
          <p:cNvSpPr/>
          <p:nvPr/>
        </p:nvSpPr>
        <p:spPr>
          <a:xfrm>
            <a:off x="4495688" y="4800480"/>
            <a:ext cx="3200320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5"/>
              </a:lnSpc>
              <a:buNone/>
            </a:pPr>
            <a:r>
              <a:rPr lang="en-US" sz="825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Bookstore API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495688" y="5029074"/>
            <a:ext cx="3200320" cy="323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63"/>
              </a:lnSpc>
              <a:buNone/>
            </a:pPr>
            <a:r>
              <a:rPr lang="en-US" sz="71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RESTful API with CRUD and a five-table relational database, focused on best practices.</a:t>
            </a:r>
            <a:endParaRPr lang="en-US" sz="713" dirty="0"/>
          </a:p>
        </p:txBody>
      </p:sp>
      <p:sp>
        <p:nvSpPr>
          <p:cNvPr id="31" name="Text 29"/>
          <p:cNvSpPr/>
          <p:nvPr/>
        </p:nvSpPr>
        <p:spPr>
          <a:xfrm>
            <a:off x="4495688" y="5371966"/>
            <a:ext cx="320032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8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PHP Â· MySQL Â· REST API</a:t>
            </a:r>
            <a:endParaRPr lang="en-US" sz="638" dirty="0"/>
          </a:p>
        </p:txBody>
      </p:sp>
      <p:sp>
        <p:nvSpPr>
          <p:cNvPr id="32" name="Shape 30"/>
          <p:cNvSpPr/>
          <p:nvPr/>
        </p:nvSpPr>
        <p:spPr>
          <a:xfrm>
            <a:off x="8076998" y="1809705"/>
            <a:ext cx="3505112" cy="4095648"/>
          </a:xfrm>
          <a:prstGeom prst="roundRect">
            <a:avLst>
              <a:gd name="adj" fmla="val 1565"/>
            </a:avLst>
          </a:prstGeom>
          <a:solidFill>
            <a:srgbClr val="FF4D8D">
              <a:alpha val="6000"/>
            </a:srgbClr>
          </a:solidFill>
          <a:ln w="9525">
            <a:solidFill>
              <a:srgbClr val="FF4D8D">
                <a:alpha val="22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394" y="1962101"/>
            <a:ext cx="2476438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8" b="1" spc="100" kern="0" dirty="0">
                <a:solidFill>
                  <a:srgbClr val="FF4D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 LEARNING</a:t>
            </a:r>
            <a:endParaRPr lang="en-US" sz="638" dirty="0"/>
          </a:p>
        </p:txBody>
      </p:sp>
      <p:sp>
        <p:nvSpPr>
          <p:cNvPr id="34" name="Text 32"/>
          <p:cNvSpPr/>
          <p:nvPr/>
        </p:nvSpPr>
        <p:spPr>
          <a:xfrm>
            <a:off x="11220169" y="1962101"/>
            <a:ext cx="20954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8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638" dirty="0"/>
          </a:p>
        </p:txBody>
      </p:sp>
      <p:sp>
        <p:nvSpPr>
          <p:cNvPr id="35" name="Text 33"/>
          <p:cNvSpPr/>
          <p:nvPr/>
        </p:nvSpPr>
        <p:spPr>
          <a:xfrm>
            <a:off x="8229394" y="2228794"/>
            <a:ext cx="3200320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5"/>
              </a:lnSpc>
              <a:buNone/>
            </a:pPr>
            <a:r>
              <a:rPr lang="en-US" sz="825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Toni - Financial Assistant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8229394" y="2457389"/>
            <a:ext cx="3200320" cy="323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63"/>
              </a:lnSpc>
              <a:buNone/>
            </a:pPr>
            <a:r>
              <a:rPr lang="en-US" sz="71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financial assistant for micro-entrepreneurs, created for the Stone challenge.</a:t>
            </a:r>
            <a:endParaRPr lang="en-US" sz="713" dirty="0"/>
          </a:p>
        </p:txBody>
      </p:sp>
      <p:sp>
        <p:nvSpPr>
          <p:cNvPr id="37" name="Text 35"/>
          <p:cNvSpPr/>
          <p:nvPr/>
        </p:nvSpPr>
        <p:spPr>
          <a:xfrm>
            <a:off x="8229394" y="2800280"/>
            <a:ext cx="320032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8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Â· Machine Learning Â· AI</a:t>
            </a:r>
            <a:endParaRPr lang="en-US" sz="638" dirty="0"/>
          </a:p>
        </p:txBody>
      </p:sp>
      <p:sp>
        <p:nvSpPr>
          <p:cNvPr id="38" name="Text 36"/>
          <p:cNvSpPr/>
          <p:nvPr/>
        </p:nvSpPr>
        <p:spPr>
          <a:xfrm>
            <a:off x="8229394" y="3086023"/>
            <a:ext cx="3200320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5"/>
              </a:lnSpc>
              <a:buNone/>
            </a:pPr>
            <a:r>
              <a:rPr lang="en-US" sz="825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 Learning Models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8229394" y="3314617"/>
            <a:ext cx="3200320" cy="323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63"/>
              </a:lnSpc>
              <a:buNone/>
            </a:pPr>
            <a:r>
              <a:rPr lang="en-US" sz="71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 studies with Scikit-learn and Pandas, including medical data classification.</a:t>
            </a:r>
            <a:endParaRPr lang="en-US" sz="713" dirty="0"/>
          </a:p>
        </p:txBody>
      </p:sp>
      <p:sp>
        <p:nvSpPr>
          <p:cNvPr id="40" name="Text 38"/>
          <p:cNvSpPr/>
          <p:nvPr/>
        </p:nvSpPr>
        <p:spPr>
          <a:xfrm>
            <a:off x="8229394" y="3657509"/>
            <a:ext cx="320032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8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Â· Scikit-learn Â· Pandas</a:t>
            </a:r>
            <a:endParaRPr lang="en-US" sz="638" dirty="0"/>
          </a:p>
        </p:txBody>
      </p:sp>
      <p:sp>
        <p:nvSpPr>
          <p:cNvPr id="41" name="Text 39"/>
          <p:cNvSpPr/>
          <p:nvPr/>
        </p:nvSpPr>
        <p:spPr>
          <a:xfrm>
            <a:off x="609585" y="6057749"/>
            <a:ext cx="10972526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38" spc="12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projects in the portfolio · github.com/rhyan05</a:t>
            </a:r>
            <a:endParaRPr lang="en-US" sz="638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380990"/>
            <a:ext cx="323842" cy="323842"/>
          </a:xfrm>
          <a:prstGeom prst="roundRect">
            <a:avLst>
              <a:gd name="adj" fmla="val 7906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585" y="400040"/>
            <a:ext cx="323842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0508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028674" y="409565"/>
            <a:ext cx="1523962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</a:t>
            </a:r>
            <a:pPr indent="0" marL="0">
              <a:buNone/>
            </a:pPr>
            <a:r>
              <a:rPr lang="en-US" sz="13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.dev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572286" y="457189"/>
            <a:ext cx="300982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15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 LEMOS Â· 08 / 12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09585" y="1104872"/>
            <a:ext cx="10972526" cy="4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 metrics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609585" y="1523962"/>
            <a:ext cx="10972526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 organization brings clarity, improves communication and optimizes time.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09585" y="1809705"/>
            <a:ext cx="10972526" cy="857229"/>
          </a:xfrm>
          <a:prstGeom prst="roundRect">
            <a:avLst>
              <a:gd name="adj" fmla="val 64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0080" y="1981150"/>
            <a:ext cx="10591535" cy="552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“Good organization, both in teams and in projects, increases effectiveness: it brings clarity to responsibilities, improves communication and optimizes time management.”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9585" y="2952676"/>
            <a:ext cx="3505112" cy="2285943"/>
          </a:xfrm>
          <a:prstGeom prst="roundRect">
            <a:avLst>
              <a:gd name="adj" fmla="val 2400"/>
            </a:avLst>
          </a:prstGeom>
          <a:solidFill>
            <a:srgbClr val="2EF2B6">
              <a:alpha val="6000"/>
            </a:srgbClr>
          </a:solidFill>
          <a:ln w="9525">
            <a:solidFill>
              <a:srgbClr val="2EF2B6">
                <a:alpha val="2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8179" y="3143171"/>
            <a:ext cx="1142971" cy="571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838179" y="3733707"/>
            <a:ext cx="3047924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5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Organization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838179" y="4038499"/>
            <a:ext cx="3047924" cy="876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Clarity of responsibilities, efficient communication and time management to keep the team and projects aligned.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267093" y="2952676"/>
            <a:ext cx="3505112" cy="2285943"/>
          </a:xfrm>
          <a:prstGeom prst="roundRect">
            <a:avLst>
              <a:gd name="adj" fmla="val 2400"/>
            </a:avLst>
          </a:prstGeom>
          <a:solidFill>
            <a:srgbClr val="8B5CF6">
              <a:alpha val="6000"/>
            </a:srgbClr>
          </a:solidFill>
          <a:ln w="9525">
            <a:solidFill>
              <a:srgbClr val="8B5CF6">
                <a:alpha val="2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5688" y="3143171"/>
            <a:ext cx="1142971" cy="571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4495688" y="3733707"/>
            <a:ext cx="3047924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5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view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4495688" y="4038499"/>
            <a:ext cx="3047924" cy="876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Closely track progress, identify flaws and turn inconsistencies into opportunities for improvement.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7924602" y="2952676"/>
            <a:ext cx="3505112" cy="2285943"/>
          </a:xfrm>
          <a:prstGeom prst="roundRect">
            <a:avLst>
              <a:gd name="adj" fmla="val 2400"/>
            </a:avLst>
          </a:prstGeom>
          <a:solidFill>
            <a:srgbClr val="FF4D8D">
              <a:alpha val="6000"/>
            </a:srgbClr>
          </a:solidFill>
          <a:ln w="9525">
            <a:solidFill>
              <a:srgbClr val="FF4D8D">
                <a:alpha val="22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53196" y="3143171"/>
            <a:ext cx="1142971" cy="571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4D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8153196" y="3733707"/>
            <a:ext cx="3047924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5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Creative solutions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8153196" y="4038499"/>
            <a:ext cx="3047924" cy="876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Face new challenges with technical repertoire and creativity, also evolving the solutions that already exist.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380990"/>
            <a:ext cx="323842" cy="323842"/>
          </a:xfrm>
          <a:prstGeom prst="roundRect">
            <a:avLst>
              <a:gd name="adj" fmla="val 7906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585" y="400040"/>
            <a:ext cx="323842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0508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028674" y="409565"/>
            <a:ext cx="1523962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</a:t>
            </a:r>
            <a:pPr indent="0" marL="0">
              <a:buNone/>
            </a:pPr>
            <a:r>
              <a:rPr lang="en-US" sz="13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.dev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572286" y="457189"/>
            <a:ext cx="300982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15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 LEMOS Â· 09 / 12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09585" y="1104872"/>
            <a:ext cx="10972526" cy="4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Career plan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609585" y="1523962"/>
            <a:ext cx="10972526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Competency matrix · self-assessment and strategic direction.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09585" y="1809705"/>
            <a:ext cx="3505112" cy="4095648"/>
          </a:xfrm>
          <a:prstGeom prst="roundRect">
            <a:avLst>
              <a:gd name="adj" fmla="val 1565"/>
            </a:avLst>
          </a:prstGeom>
          <a:solidFill>
            <a:srgbClr val="2EF2B6">
              <a:alpha val="6000"/>
            </a:srgbClr>
          </a:solidFill>
          <a:ln w="9525">
            <a:solidFill>
              <a:srgbClr val="2EF2B6">
                <a:alpha val="2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179" y="1981150"/>
            <a:ext cx="3047924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5" spc="100" kern="0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CONSOLIDATED STRENGTHS</a:t>
            </a:r>
            <a:endParaRPr lang="en-US" sz="525" dirty="0"/>
          </a:p>
        </p:txBody>
      </p:sp>
      <p:sp>
        <p:nvSpPr>
          <p:cNvPr id="10" name="Text 8"/>
          <p:cNvSpPr/>
          <p:nvPr/>
        </p:nvSpPr>
        <p:spPr>
          <a:xfrm>
            <a:off x="838179" y="2171646"/>
            <a:ext cx="3047924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Already have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38179" y="2590735"/>
            <a:ext cx="3047924" cy="285743"/>
          </a:xfrm>
          <a:prstGeom prst="roundRect">
            <a:avLst>
              <a:gd name="adj" fmla="val 96002"/>
            </a:avLst>
          </a:prstGeom>
          <a:solidFill>
            <a:srgbClr val="FFFFFF">
              <a:alpha val="3000"/>
            </a:srgbClr>
          </a:solidFill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3427" y="2705032"/>
            <a:ext cx="57149" cy="57149"/>
          </a:xfrm>
          <a:prstGeom prst="ellipse">
            <a:avLst/>
          </a:prstGeom>
          <a:solidFill>
            <a:srgbClr val="2EF2B6"/>
          </a:solidFill>
          <a:ln/>
        </p:spPr>
      </p:sp>
      <p:sp>
        <p:nvSpPr>
          <p:cNvPr id="13" name="Text 11"/>
          <p:cNvSpPr/>
          <p:nvPr/>
        </p:nvSpPr>
        <p:spPr>
          <a:xfrm>
            <a:off x="1066773" y="2666933"/>
            <a:ext cx="266693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Analytical vision</a:t>
            </a:r>
            <a:endParaRPr lang="en-US" sz="675" dirty="0"/>
          </a:p>
        </p:txBody>
      </p:sp>
      <p:sp>
        <p:nvSpPr>
          <p:cNvPr id="14" name="Shape 12"/>
          <p:cNvSpPr/>
          <p:nvPr/>
        </p:nvSpPr>
        <p:spPr>
          <a:xfrm>
            <a:off x="838179" y="2971726"/>
            <a:ext cx="3047924" cy="285743"/>
          </a:xfrm>
          <a:prstGeom prst="roundRect">
            <a:avLst>
              <a:gd name="adj" fmla="val 96002"/>
            </a:avLst>
          </a:prstGeom>
          <a:solidFill>
            <a:srgbClr val="FFFFFF">
              <a:alpha val="3000"/>
            </a:srgbClr>
          </a:solidFill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3427" y="3086023"/>
            <a:ext cx="57149" cy="57149"/>
          </a:xfrm>
          <a:prstGeom prst="ellipse">
            <a:avLst/>
          </a:prstGeom>
          <a:solidFill>
            <a:srgbClr val="2EF2B6"/>
          </a:solidFill>
          <a:ln/>
        </p:spPr>
      </p:sp>
      <p:sp>
        <p:nvSpPr>
          <p:cNvPr id="16" name="Text 14"/>
          <p:cNvSpPr/>
          <p:nvPr/>
        </p:nvSpPr>
        <p:spPr>
          <a:xfrm>
            <a:off x="1066773" y="3047924"/>
            <a:ext cx="266693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Organization</a:t>
            </a:r>
            <a:endParaRPr lang="en-US" sz="675" dirty="0"/>
          </a:p>
        </p:txBody>
      </p:sp>
      <p:sp>
        <p:nvSpPr>
          <p:cNvPr id="17" name="Shape 15"/>
          <p:cNvSpPr/>
          <p:nvPr/>
        </p:nvSpPr>
        <p:spPr>
          <a:xfrm>
            <a:off x="838179" y="3352716"/>
            <a:ext cx="3047924" cy="285743"/>
          </a:xfrm>
          <a:prstGeom prst="roundRect">
            <a:avLst>
              <a:gd name="adj" fmla="val 96002"/>
            </a:avLst>
          </a:prstGeom>
          <a:solidFill>
            <a:srgbClr val="FFFFFF">
              <a:alpha val="3000"/>
            </a:srgbClr>
          </a:solidFill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3427" y="3467013"/>
            <a:ext cx="57149" cy="57149"/>
          </a:xfrm>
          <a:prstGeom prst="ellipse">
            <a:avLst/>
          </a:prstGeom>
          <a:solidFill>
            <a:srgbClr val="2EF2B6"/>
          </a:solidFill>
          <a:ln/>
        </p:spPr>
      </p:sp>
      <p:sp>
        <p:nvSpPr>
          <p:cNvPr id="19" name="Text 17"/>
          <p:cNvSpPr/>
          <p:nvPr/>
        </p:nvSpPr>
        <p:spPr>
          <a:xfrm>
            <a:off x="1066773" y="3428914"/>
            <a:ext cx="266693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vision</a:t>
            </a:r>
            <a:endParaRPr lang="en-US" sz="675" dirty="0"/>
          </a:p>
        </p:txBody>
      </p:sp>
      <p:sp>
        <p:nvSpPr>
          <p:cNvPr id="20" name="Shape 18"/>
          <p:cNvSpPr/>
          <p:nvPr/>
        </p:nvSpPr>
        <p:spPr>
          <a:xfrm>
            <a:off x="838179" y="3733707"/>
            <a:ext cx="3047924" cy="285743"/>
          </a:xfrm>
          <a:prstGeom prst="roundRect">
            <a:avLst>
              <a:gd name="adj" fmla="val 96002"/>
            </a:avLst>
          </a:prstGeom>
          <a:solidFill>
            <a:srgbClr val="FFFFFF">
              <a:alpha val="3000"/>
            </a:srgbClr>
          </a:solidFill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3427" y="3848004"/>
            <a:ext cx="57149" cy="57149"/>
          </a:xfrm>
          <a:prstGeom prst="ellipse">
            <a:avLst/>
          </a:prstGeom>
          <a:solidFill>
            <a:srgbClr val="2EF2B6"/>
          </a:solidFill>
          <a:ln/>
        </p:spPr>
      </p:sp>
      <p:sp>
        <p:nvSpPr>
          <p:cNvPr id="22" name="Text 20"/>
          <p:cNvSpPr/>
          <p:nvPr/>
        </p:nvSpPr>
        <p:spPr>
          <a:xfrm>
            <a:off x="1066773" y="3809905"/>
            <a:ext cx="266693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Ability to act</a:t>
            </a:r>
            <a:endParaRPr lang="en-US" sz="675" dirty="0"/>
          </a:p>
        </p:txBody>
      </p:sp>
      <p:sp>
        <p:nvSpPr>
          <p:cNvPr id="23" name="Shape 21"/>
          <p:cNvSpPr/>
          <p:nvPr/>
        </p:nvSpPr>
        <p:spPr>
          <a:xfrm>
            <a:off x="838179" y="4114697"/>
            <a:ext cx="3047924" cy="285743"/>
          </a:xfrm>
          <a:prstGeom prst="roundRect">
            <a:avLst>
              <a:gd name="adj" fmla="val 96002"/>
            </a:avLst>
          </a:prstGeom>
          <a:solidFill>
            <a:srgbClr val="FFFFFF">
              <a:alpha val="3000"/>
            </a:srgbClr>
          </a:solidFill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3427" y="4228994"/>
            <a:ext cx="57149" cy="57149"/>
          </a:xfrm>
          <a:prstGeom prst="ellipse">
            <a:avLst/>
          </a:prstGeom>
          <a:solidFill>
            <a:srgbClr val="2EF2B6"/>
          </a:solidFill>
          <a:ln/>
        </p:spPr>
      </p:sp>
      <p:sp>
        <p:nvSpPr>
          <p:cNvPr id="25" name="Text 23"/>
          <p:cNvSpPr/>
          <p:nvPr/>
        </p:nvSpPr>
        <p:spPr>
          <a:xfrm>
            <a:off x="1066773" y="4190895"/>
            <a:ext cx="266693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Proactivity</a:t>
            </a:r>
            <a:endParaRPr lang="en-US" sz="675" dirty="0"/>
          </a:p>
        </p:txBody>
      </p:sp>
      <p:sp>
        <p:nvSpPr>
          <p:cNvPr id="26" name="Shape 24"/>
          <p:cNvSpPr/>
          <p:nvPr/>
        </p:nvSpPr>
        <p:spPr>
          <a:xfrm>
            <a:off x="838179" y="4495688"/>
            <a:ext cx="3047924" cy="285743"/>
          </a:xfrm>
          <a:prstGeom prst="roundRect">
            <a:avLst>
              <a:gd name="adj" fmla="val 96002"/>
            </a:avLst>
          </a:prstGeom>
          <a:solidFill>
            <a:srgbClr val="FFFFFF">
              <a:alpha val="3000"/>
            </a:srgbClr>
          </a:solidFill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3427" y="4609985"/>
            <a:ext cx="57149" cy="57149"/>
          </a:xfrm>
          <a:prstGeom prst="ellipse">
            <a:avLst/>
          </a:prstGeom>
          <a:solidFill>
            <a:srgbClr val="2EF2B6"/>
          </a:solidFill>
          <a:ln/>
        </p:spPr>
      </p:sp>
      <p:sp>
        <p:nvSpPr>
          <p:cNvPr id="28" name="Text 26"/>
          <p:cNvSpPr/>
          <p:nvPr/>
        </p:nvSpPr>
        <p:spPr>
          <a:xfrm>
            <a:off x="1066773" y="4571886"/>
            <a:ext cx="266693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documentation</a:t>
            </a:r>
            <a:endParaRPr lang="en-US" sz="675" dirty="0"/>
          </a:p>
        </p:txBody>
      </p:sp>
      <p:sp>
        <p:nvSpPr>
          <p:cNvPr id="29" name="Shape 27"/>
          <p:cNvSpPr/>
          <p:nvPr/>
        </p:nvSpPr>
        <p:spPr>
          <a:xfrm>
            <a:off x="4267093" y="1809705"/>
            <a:ext cx="3505112" cy="4095648"/>
          </a:xfrm>
          <a:prstGeom prst="roundRect">
            <a:avLst>
              <a:gd name="adj" fmla="val 1565"/>
            </a:avLst>
          </a:prstGeom>
          <a:solidFill>
            <a:srgbClr val="8B5CF6">
              <a:alpha val="6000"/>
            </a:srgbClr>
          </a:solidFill>
          <a:ln w="9525">
            <a:solidFill>
              <a:srgbClr val="8B5CF6">
                <a:alpha val="22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95688" y="1981150"/>
            <a:ext cx="3047924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5" spc="100" kern="0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 IN PROGRESS</a:t>
            </a:r>
            <a:endParaRPr lang="en-US" sz="525" dirty="0"/>
          </a:p>
        </p:txBody>
      </p:sp>
      <p:sp>
        <p:nvSpPr>
          <p:cNvPr id="31" name="Text 29"/>
          <p:cNvSpPr/>
          <p:nvPr/>
        </p:nvSpPr>
        <p:spPr>
          <a:xfrm>
            <a:off x="4495688" y="2171646"/>
            <a:ext cx="3047924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Developing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495688" y="2590735"/>
            <a:ext cx="3047924" cy="285743"/>
          </a:xfrm>
          <a:prstGeom prst="roundRect">
            <a:avLst>
              <a:gd name="adj" fmla="val 96002"/>
            </a:avLst>
          </a:prstGeom>
          <a:solidFill>
            <a:srgbClr val="FFFFFF">
              <a:alpha val="3000"/>
            </a:srgbClr>
          </a:solidFill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90935" y="2705032"/>
            <a:ext cx="57149" cy="57149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4" name="Text 32"/>
          <p:cNvSpPr/>
          <p:nvPr/>
        </p:nvSpPr>
        <p:spPr>
          <a:xfrm>
            <a:off x="4724282" y="2666933"/>
            <a:ext cx="266693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leadership</a:t>
            </a:r>
            <a:endParaRPr lang="en-US" sz="675" dirty="0"/>
          </a:p>
        </p:txBody>
      </p:sp>
      <p:sp>
        <p:nvSpPr>
          <p:cNvPr id="35" name="Shape 33"/>
          <p:cNvSpPr/>
          <p:nvPr/>
        </p:nvSpPr>
        <p:spPr>
          <a:xfrm>
            <a:off x="4495688" y="2971726"/>
            <a:ext cx="3047924" cy="285743"/>
          </a:xfrm>
          <a:prstGeom prst="roundRect">
            <a:avLst>
              <a:gd name="adj" fmla="val 96002"/>
            </a:avLst>
          </a:prstGeom>
          <a:solidFill>
            <a:srgbClr val="FFFFFF">
              <a:alpha val="3000"/>
            </a:srgbClr>
          </a:solidFill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90935" y="3086023"/>
            <a:ext cx="57149" cy="57149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7" name="Text 35"/>
          <p:cNvSpPr/>
          <p:nvPr/>
        </p:nvSpPr>
        <p:spPr>
          <a:xfrm>
            <a:off x="4724282" y="3047924"/>
            <a:ext cx="266693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Assertive communication</a:t>
            </a:r>
            <a:endParaRPr lang="en-US" sz="675" dirty="0"/>
          </a:p>
        </p:txBody>
      </p:sp>
      <p:sp>
        <p:nvSpPr>
          <p:cNvPr id="38" name="Shape 36"/>
          <p:cNvSpPr/>
          <p:nvPr/>
        </p:nvSpPr>
        <p:spPr>
          <a:xfrm>
            <a:off x="4495688" y="3352716"/>
            <a:ext cx="3047924" cy="285743"/>
          </a:xfrm>
          <a:prstGeom prst="roundRect">
            <a:avLst>
              <a:gd name="adj" fmla="val 96002"/>
            </a:avLst>
          </a:prstGeom>
          <a:solidFill>
            <a:srgbClr val="FFFFFF">
              <a:alpha val="3000"/>
            </a:srgbClr>
          </a:solidFill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90935" y="3467013"/>
            <a:ext cx="57149" cy="57149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0" name="Text 38"/>
          <p:cNvSpPr/>
          <p:nvPr/>
        </p:nvSpPr>
        <p:spPr>
          <a:xfrm>
            <a:off x="4724282" y="3428914"/>
            <a:ext cx="266693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prioritization</a:t>
            </a:r>
            <a:endParaRPr lang="en-US" sz="675" dirty="0"/>
          </a:p>
        </p:txBody>
      </p:sp>
      <p:sp>
        <p:nvSpPr>
          <p:cNvPr id="41" name="Shape 39"/>
          <p:cNvSpPr/>
          <p:nvPr/>
        </p:nvSpPr>
        <p:spPr>
          <a:xfrm>
            <a:off x="7924602" y="1809705"/>
            <a:ext cx="3505112" cy="4095648"/>
          </a:xfrm>
          <a:prstGeom prst="roundRect">
            <a:avLst>
              <a:gd name="adj" fmla="val 1565"/>
            </a:avLst>
          </a:prstGeom>
          <a:solidFill>
            <a:srgbClr val="FF4D8D">
              <a:alpha val="6000"/>
            </a:srgbClr>
          </a:solidFill>
          <a:ln w="9525">
            <a:solidFill>
              <a:srgbClr val="FF4D8D">
                <a:alpha val="22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53196" y="1981150"/>
            <a:ext cx="3047924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5" spc="100" kern="0" dirty="0">
                <a:solidFill>
                  <a:srgbClr val="FF4D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FOCUS AREAS</a:t>
            </a:r>
            <a:endParaRPr lang="en-US" sz="525" dirty="0"/>
          </a:p>
        </p:txBody>
      </p:sp>
      <p:sp>
        <p:nvSpPr>
          <p:cNvPr id="43" name="Text 41"/>
          <p:cNvSpPr/>
          <p:nvPr/>
        </p:nvSpPr>
        <p:spPr>
          <a:xfrm>
            <a:off x="8153196" y="2171646"/>
            <a:ext cx="3047924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 to acquire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8153196" y="2590735"/>
            <a:ext cx="3047924" cy="285743"/>
          </a:xfrm>
          <a:prstGeom prst="roundRect">
            <a:avLst>
              <a:gd name="adj" fmla="val 96002"/>
            </a:avLst>
          </a:prstGeom>
          <a:solidFill>
            <a:srgbClr val="FFFFFF">
              <a:alpha val="3000"/>
            </a:srgbClr>
          </a:solidFill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48444" y="2705032"/>
            <a:ext cx="57149" cy="57149"/>
          </a:xfrm>
          <a:prstGeom prst="ellipse">
            <a:avLst/>
          </a:prstGeom>
          <a:solidFill>
            <a:srgbClr val="FF4D8D"/>
          </a:solidFill>
          <a:ln/>
        </p:spPr>
      </p:sp>
      <p:sp>
        <p:nvSpPr>
          <p:cNvPr id="46" name="Text 44"/>
          <p:cNvSpPr/>
          <p:nvPr/>
        </p:nvSpPr>
        <p:spPr>
          <a:xfrm>
            <a:off x="8381790" y="2666933"/>
            <a:ext cx="266693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Persuasion &amp; influence</a:t>
            </a:r>
            <a:endParaRPr lang="en-US" sz="675" dirty="0"/>
          </a:p>
        </p:txBody>
      </p:sp>
      <p:sp>
        <p:nvSpPr>
          <p:cNvPr id="47" name="Shape 45"/>
          <p:cNvSpPr/>
          <p:nvPr/>
        </p:nvSpPr>
        <p:spPr>
          <a:xfrm>
            <a:off x="8153196" y="2971726"/>
            <a:ext cx="3047924" cy="285743"/>
          </a:xfrm>
          <a:prstGeom prst="roundRect">
            <a:avLst>
              <a:gd name="adj" fmla="val 96002"/>
            </a:avLst>
          </a:prstGeom>
          <a:solidFill>
            <a:srgbClr val="FFFFFF">
              <a:alpha val="3000"/>
            </a:srgbClr>
          </a:solidFill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48444" y="3086023"/>
            <a:ext cx="57149" cy="57149"/>
          </a:xfrm>
          <a:prstGeom prst="ellipse">
            <a:avLst/>
          </a:prstGeom>
          <a:solidFill>
            <a:srgbClr val="FF4D8D"/>
          </a:solidFill>
          <a:ln/>
        </p:spPr>
      </p:sp>
      <p:sp>
        <p:nvSpPr>
          <p:cNvPr id="49" name="Text 47"/>
          <p:cNvSpPr/>
          <p:nvPr/>
        </p:nvSpPr>
        <p:spPr>
          <a:xfrm>
            <a:off x="8381790" y="3047924"/>
            <a:ext cx="266693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Metrics exposure</a:t>
            </a:r>
            <a:endParaRPr lang="en-US" sz="675" dirty="0"/>
          </a:p>
        </p:txBody>
      </p:sp>
      <p:sp>
        <p:nvSpPr>
          <p:cNvPr id="50" name="Shape 48"/>
          <p:cNvSpPr/>
          <p:nvPr/>
        </p:nvSpPr>
        <p:spPr>
          <a:xfrm>
            <a:off x="8153196" y="3352716"/>
            <a:ext cx="3047924" cy="285743"/>
          </a:xfrm>
          <a:prstGeom prst="roundRect">
            <a:avLst>
              <a:gd name="adj" fmla="val 96002"/>
            </a:avLst>
          </a:prstGeom>
          <a:solidFill>
            <a:srgbClr val="FFFFFF">
              <a:alpha val="3000"/>
            </a:srgbClr>
          </a:solidFill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48444" y="3467013"/>
            <a:ext cx="57149" cy="57149"/>
          </a:xfrm>
          <a:prstGeom prst="ellipse">
            <a:avLst/>
          </a:prstGeom>
          <a:solidFill>
            <a:srgbClr val="FF4D8D"/>
          </a:solidFill>
          <a:ln/>
        </p:spPr>
      </p:sp>
      <p:sp>
        <p:nvSpPr>
          <p:cNvPr id="52" name="Text 50"/>
          <p:cNvSpPr/>
          <p:nvPr/>
        </p:nvSpPr>
        <p:spPr>
          <a:xfrm>
            <a:off x="8381790" y="3428914"/>
            <a:ext cx="266693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Presenting results</a:t>
            </a:r>
            <a:endParaRPr lang="en-US" sz="675" dirty="0"/>
          </a:p>
        </p:txBody>
      </p:sp>
      <p:sp>
        <p:nvSpPr>
          <p:cNvPr id="53" name="Shape 51"/>
          <p:cNvSpPr/>
          <p:nvPr/>
        </p:nvSpPr>
        <p:spPr>
          <a:xfrm>
            <a:off x="8153196" y="3733707"/>
            <a:ext cx="3047924" cy="285743"/>
          </a:xfrm>
          <a:prstGeom prst="roundRect">
            <a:avLst>
              <a:gd name="adj" fmla="val 96002"/>
            </a:avLst>
          </a:prstGeom>
          <a:solidFill>
            <a:srgbClr val="FFFFFF">
              <a:alpha val="3000"/>
            </a:srgbClr>
          </a:solidFill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248444" y="3848004"/>
            <a:ext cx="57149" cy="57149"/>
          </a:xfrm>
          <a:prstGeom prst="ellipse">
            <a:avLst/>
          </a:prstGeom>
          <a:solidFill>
            <a:srgbClr val="FF4D8D"/>
          </a:solidFill>
          <a:ln/>
        </p:spPr>
      </p:sp>
      <p:sp>
        <p:nvSpPr>
          <p:cNvPr id="55" name="Text 53"/>
          <p:cNvSpPr/>
          <p:nvPr/>
        </p:nvSpPr>
        <p:spPr>
          <a:xfrm>
            <a:off x="8381790" y="3809905"/>
            <a:ext cx="266693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People management &amp; focus</a:t>
            </a:r>
            <a:endParaRPr lang="en-US" sz="675" dirty="0"/>
          </a:p>
        </p:txBody>
      </p:sp>
      <p:sp>
        <p:nvSpPr>
          <p:cNvPr id="56" name="Shape 54"/>
          <p:cNvSpPr/>
          <p:nvPr/>
        </p:nvSpPr>
        <p:spPr>
          <a:xfrm>
            <a:off x="8153196" y="4114697"/>
            <a:ext cx="3047924" cy="285743"/>
          </a:xfrm>
          <a:prstGeom prst="roundRect">
            <a:avLst>
              <a:gd name="adj" fmla="val 96002"/>
            </a:avLst>
          </a:prstGeom>
          <a:solidFill>
            <a:srgbClr val="FFFFFF">
              <a:alpha val="3000"/>
            </a:srgbClr>
          </a:solidFill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248444" y="4228994"/>
            <a:ext cx="57149" cy="57149"/>
          </a:xfrm>
          <a:prstGeom prst="ellipse">
            <a:avLst/>
          </a:prstGeom>
          <a:solidFill>
            <a:srgbClr val="FF4D8D"/>
          </a:solidFill>
          <a:ln/>
        </p:spPr>
      </p:sp>
      <p:sp>
        <p:nvSpPr>
          <p:cNvPr id="58" name="Text 56"/>
          <p:cNvSpPr/>
          <p:nvPr/>
        </p:nvSpPr>
        <p:spPr>
          <a:xfrm>
            <a:off x="8381790" y="4190895"/>
            <a:ext cx="266693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Documentation criteria</a:t>
            </a:r>
            <a:endParaRPr lang="en-US" sz="675" dirty="0"/>
          </a:p>
        </p:txBody>
      </p:sp>
      <p:sp>
        <p:nvSpPr>
          <p:cNvPr id="59" name="Text 57"/>
          <p:cNvSpPr/>
          <p:nvPr/>
        </p:nvSpPr>
        <p:spPr>
          <a:xfrm>
            <a:off x="609585" y="6095848"/>
            <a:ext cx="1097252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spc="15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 SELF-ASSESSMENT · STRATEGIC DIRECTION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380990"/>
            <a:ext cx="323842" cy="323842"/>
          </a:xfrm>
          <a:prstGeom prst="roundRect">
            <a:avLst>
              <a:gd name="adj" fmla="val 7906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585" y="400040"/>
            <a:ext cx="323842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0508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028674" y="409565"/>
            <a:ext cx="1523962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</a:t>
            </a:r>
            <a:pPr indent="0" marL="0">
              <a:buNone/>
            </a:pPr>
            <a:r>
              <a:rPr lang="en-US" sz="13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.dev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572286" y="457189"/>
            <a:ext cx="300982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15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 LEMOS Â· 10 / 12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09585" y="1104872"/>
            <a:ext cx="10972526" cy="4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3-step journey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609585" y="1523962"/>
            <a:ext cx="10972526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growth roadmap.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09585" y="2762181"/>
            <a:ext cx="10972526" cy="19050"/>
          </a:xfrm>
          <a:prstGeom prst="rect">
            <a:avLst/>
          </a:prstGeom>
          <a:solidFill>
            <a:srgbClr val="2EF2B6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9585" y="2590735"/>
            <a:ext cx="342891" cy="342891"/>
          </a:xfrm>
          <a:prstGeom prst="ellipse">
            <a:avLst/>
          </a:prstGeom>
          <a:solidFill>
            <a:srgbClr val="2EF2B6"/>
          </a:solidFill>
          <a:ln w="12700">
            <a:solidFill>
              <a:srgbClr val="2EF2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9585" y="2638359"/>
            <a:ext cx="342891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08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66773" y="2685983"/>
            <a:ext cx="190495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spc="10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– 3 MONTHS</a:t>
            </a:r>
            <a:endParaRPr lang="en-US" sz="675" dirty="0"/>
          </a:p>
        </p:txBody>
      </p:sp>
      <p:sp>
        <p:nvSpPr>
          <p:cNvPr id="12" name="Shape 10"/>
          <p:cNvSpPr/>
          <p:nvPr/>
        </p:nvSpPr>
        <p:spPr>
          <a:xfrm>
            <a:off x="609585" y="3143171"/>
            <a:ext cx="3505112" cy="2381190"/>
          </a:xfrm>
          <a:prstGeom prst="roundRect">
            <a:avLst>
              <a:gd name="adj" fmla="val 2304"/>
            </a:avLst>
          </a:prstGeom>
          <a:solidFill>
            <a:srgbClr val="2EF2B6">
              <a:alpha val="6000"/>
            </a:srgbClr>
          </a:solidFill>
          <a:ln w="9525">
            <a:solidFill>
              <a:srgbClr val="2EF2B6">
                <a:alpha val="2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080" y="3295568"/>
            <a:ext cx="3047924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5" spc="10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INITIAL PHASE</a:t>
            </a:r>
            <a:endParaRPr lang="en-US" sz="525" dirty="0"/>
          </a:p>
        </p:txBody>
      </p:sp>
      <p:sp>
        <p:nvSpPr>
          <p:cNvPr id="14" name="Text 12"/>
          <p:cNvSpPr/>
          <p:nvPr/>
        </p:nvSpPr>
        <p:spPr>
          <a:xfrm>
            <a:off x="800080" y="3486063"/>
            <a:ext cx="3047924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Execution &amp; efficiency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0080" y="3828954"/>
            <a:ext cx="304792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â–¸ Take on greater responsibilities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800080" y="4057549"/>
            <a:ext cx="304792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â–¸ Apply version control techniques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800080" y="4286143"/>
            <a:ext cx="304792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â–¸ Master and structure pipelines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800080" y="4514737"/>
            <a:ext cx="304792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â–¸ Lean Six Sigma Green Belt</a:t>
            </a:r>
            <a:endParaRPr lang="en-US" sz="675" dirty="0"/>
          </a:p>
        </p:txBody>
      </p:sp>
      <p:sp>
        <p:nvSpPr>
          <p:cNvPr id="19" name="Shape 17"/>
          <p:cNvSpPr/>
          <p:nvPr/>
        </p:nvSpPr>
        <p:spPr>
          <a:xfrm>
            <a:off x="800080" y="5124322"/>
            <a:ext cx="3124122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00080" y="5219570"/>
            <a:ext cx="3124122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Gain autonomy and technical consistency.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4267093" y="2590735"/>
            <a:ext cx="342891" cy="342891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67093" y="2638359"/>
            <a:ext cx="342891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08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24282" y="2685983"/>
            <a:ext cx="190495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spc="10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– 6 MONTHS</a:t>
            </a:r>
            <a:endParaRPr lang="en-US" sz="675" dirty="0"/>
          </a:p>
        </p:txBody>
      </p:sp>
      <p:sp>
        <p:nvSpPr>
          <p:cNvPr id="24" name="Shape 22"/>
          <p:cNvSpPr/>
          <p:nvPr/>
        </p:nvSpPr>
        <p:spPr>
          <a:xfrm>
            <a:off x="4267093" y="3143171"/>
            <a:ext cx="3505112" cy="2381190"/>
          </a:xfrm>
          <a:prstGeom prst="roundRect">
            <a:avLst>
              <a:gd name="adj" fmla="val 2304"/>
            </a:avLst>
          </a:prstGeom>
          <a:solidFill>
            <a:srgbClr val="8B5CF6">
              <a:alpha val="6000"/>
            </a:srgbClr>
          </a:solidFill>
          <a:ln w="9525">
            <a:solidFill>
              <a:srgbClr val="8B5CF6">
                <a:alpha val="2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57589" y="3295568"/>
            <a:ext cx="3047924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5" spc="10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INTERMEDIATE PHASE</a:t>
            </a:r>
            <a:endParaRPr lang="en-US" sz="525" dirty="0"/>
          </a:p>
        </p:txBody>
      </p:sp>
      <p:sp>
        <p:nvSpPr>
          <p:cNvPr id="26" name="Text 24"/>
          <p:cNvSpPr/>
          <p:nvPr/>
        </p:nvSpPr>
        <p:spPr>
          <a:xfrm>
            <a:off x="4457589" y="3486063"/>
            <a:ext cx="3047924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mastery &amp; AI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57589" y="3828954"/>
            <a:ext cx="304792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â–¸ Technical leadership among peers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4457589" y="4057549"/>
            <a:ext cx="304792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â–¸ Presenting results and KPIs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4457589" y="4286143"/>
            <a:ext cx="304792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â–¸ DevOps, CI/CD and automation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4457589" y="4514737"/>
            <a:ext cx="304792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â–¸ Applying LLMs and generative AI</a:t>
            </a:r>
            <a:endParaRPr lang="en-US" sz="675" dirty="0"/>
          </a:p>
        </p:txBody>
      </p:sp>
      <p:sp>
        <p:nvSpPr>
          <p:cNvPr id="31" name="Shape 29"/>
          <p:cNvSpPr/>
          <p:nvPr/>
        </p:nvSpPr>
        <p:spPr>
          <a:xfrm>
            <a:off x="4457589" y="5124322"/>
            <a:ext cx="3124122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457589" y="5219570"/>
            <a:ext cx="3124122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Become a technical reference in automation and AI.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7924602" y="2590735"/>
            <a:ext cx="342891" cy="342891"/>
          </a:xfrm>
          <a:prstGeom prst="ellipse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24602" y="2638359"/>
            <a:ext cx="342891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08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381790" y="2685983"/>
            <a:ext cx="190495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spc="10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– 12 MONTHS</a:t>
            </a:r>
            <a:endParaRPr lang="en-US" sz="675" dirty="0"/>
          </a:p>
        </p:txBody>
      </p:sp>
      <p:sp>
        <p:nvSpPr>
          <p:cNvPr id="36" name="Shape 34"/>
          <p:cNvSpPr/>
          <p:nvPr/>
        </p:nvSpPr>
        <p:spPr>
          <a:xfrm>
            <a:off x="7924602" y="3143171"/>
            <a:ext cx="3505112" cy="2381190"/>
          </a:xfrm>
          <a:prstGeom prst="roundRect">
            <a:avLst>
              <a:gd name="adj" fmla="val 2304"/>
            </a:avLst>
          </a:prstGeom>
          <a:solidFill>
            <a:srgbClr val="FF4D8D">
              <a:alpha val="6000"/>
            </a:srgbClr>
          </a:solidFill>
          <a:ln w="9525">
            <a:solidFill>
              <a:srgbClr val="FF4D8D">
                <a:alpha val="22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15097" y="3295568"/>
            <a:ext cx="3047924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5" spc="10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PHASE</a:t>
            </a:r>
            <a:endParaRPr lang="en-US" sz="525" dirty="0"/>
          </a:p>
        </p:txBody>
      </p:sp>
      <p:sp>
        <p:nvSpPr>
          <p:cNvPr id="38" name="Text 36"/>
          <p:cNvSpPr/>
          <p:nvPr/>
        </p:nvSpPr>
        <p:spPr>
          <a:xfrm>
            <a:off x="8115097" y="3486063"/>
            <a:ext cx="3047924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Management &amp; mentoring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115097" y="3828954"/>
            <a:ext cx="304792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â–¸ Mentoring program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8115097" y="4057549"/>
            <a:ext cx="304792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â–¸ Executive presentations</a:t>
            </a:r>
            <a:endParaRPr lang="en-US" sz="675" dirty="0"/>
          </a:p>
        </p:txBody>
      </p:sp>
      <p:sp>
        <p:nvSpPr>
          <p:cNvPr id="41" name="Text 39"/>
          <p:cNvSpPr/>
          <p:nvPr/>
        </p:nvSpPr>
        <p:spPr>
          <a:xfrm>
            <a:off x="8115097" y="4286143"/>
            <a:ext cx="304792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â–¸ Leadership and team management</a:t>
            </a:r>
            <a:endParaRPr lang="en-US" sz="675" dirty="0"/>
          </a:p>
        </p:txBody>
      </p:sp>
      <p:sp>
        <p:nvSpPr>
          <p:cNvPr id="42" name="Text 40"/>
          <p:cNvSpPr/>
          <p:nvPr/>
        </p:nvSpPr>
        <p:spPr>
          <a:xfrm>
            <a:off x="8115097" y="4514737"/>
            <a:ext cx="304792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â–¸ End-to-end project management</a:t>
            </a:r>
            <a:endParaRPr lang="en-US" sz="675" dirty="0"/>
          </a:p>
        </p:txBody>
      </p:sp>
      <p:sp>
        <p:nvSpPr>
          <p:cNvPr id="43" name="Shape 41"/>
          <p:cNvSpPr/>
          <p:nvPr/>
        </p:nvSpPr>
        <p:spPr>
          <a:xfrm>
            <a:off x="8115097" y="5124322"/>
            <a:ext cx="3124122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8115097" y="5219570"/>
            <a:ext cx="3124122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 people and projects end to end.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380990"/>
            <a:ext cx="323842" cy="323842"/>
          </a:xfrm>
          <a:prstGeom prst="roundRect">
            <a:avLst>
              <a:gd name="adj" fmla="val 7906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585" y="400040"/>
            <a:ext cx="323842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0508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028674" y="409565"/>
            <a:ext cx="1523962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</a:t>
            </a:r>
            <a:pPr indent="0" marL="0">
              <a:buNone/>
            </a:pPr>
            <a:r>
              <a:rPr lang="en-US" sz="13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.dev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572286" y="457189"/>
            <a:ext cx="300982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15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 LEMOS Â· 11 / 12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09585" y="1104872"/>
            <a:ext cx="10972526" cy="4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to find me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609585" y="1523962"/>
            <a:ext cx="10972526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Let's exchange ideas about technology, projects and career.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09585" y="2285943"/>
            <a:ext cx="5410065" cy="1047724"/>
          </a:xfrm>
          <a:prstGeom prst="roundRect">
            <a:avLst>
              <a:gd name="adj" fmla="val 5236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080" y="2571686"/>
            <a:ext cx="476238" cy="476238"/>
          </a:xfrm>
          <a:prstGeom prst="roundRect">
            <a:avLst>
              <a:gd name="adj" fmla="val 4224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0080" y="2647884"/>
            <a:ext cx="476238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500" dirty="0"/>
          </a:p>
        </p:txBody>
      </p:sp>
      <p:sp>
        <p:nvSpPr>
          <p:cNvPr id="11" name="Text 9">
            <a:hlinkClick r:id="rId2" tooltip=""/>
          </p:cNvPr>
          <p:cNvSpPr/>
          <p:nvPr/>
        </p:nvSpPr>
        <p:spPr>
          <a:xfrm>
            <a:off x="1466813" y="2552636"/>
            <a:ext cx="4190895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Blog</a:t>
            </a:r>
            <a:endParaRPr lang="en-US" sz="1200" dirty="0"/>
          </a:p>
        </p:txBody>
      </p:sp>
      <p:sp>
        <p:nvSpPr>
          <p:cNvPr id="12" name="Text 10">
            <a:hlinkClick r:id="rId3" tooltip=""/>
          </p:cNvPr>
          <p:cNvSpPr/>
          <p:nvPr/>
        </p:nvSpPr>
        <p:spPr>
          <a:xfrm>
            <a:off x="1466813" y="2819330"/>
            <a:ext cx="419089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u="sng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medium.com/@rhyanlemos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172046" y="2285943"/>
            <a:ext cx="5410065" cy="1047724"/>
          </a:xfrm>
          <a:prstGeom prst="roundRect">
            <a:avLst>
              <a:gd name="adj" fmla="val 5236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62541" y="2571686"/>
            <a:ext cx="476238" cy="476238"/>
          </a:xfrm>
          <a:prstGeom prst="roundRect">
            <a:avLst>
              <a:gd name="adj" fmla="val 4224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15" name="Image 0" descr="C:\Users\revio\Projeto\Portifolio\public\img-home\contact\linked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363" y="2695508"/>
            <a:ext cx="228594" cy="228594"/>
          </a:xfrm>
          <a:prstGeom prst="rect">
            <a:avLst/>
          </a:prstGeom>
        </p:spPr>
      </p:pic>
      <p:sp>
        <p:nvSpPr>
          <p:cNvPr id="16" name="Text 13">
            <a:hlinkClick r:id="rId5" tooltip=""/>
          </p:cNvPr>
          <p:cNvSpPr/>
          <p:nvPr/>
        </p:nvSpPr>
        <p:spPr>
          <a:xfrm>
            <a:off x="7029274" y="2552636"/>
            <a:ext cx="4190895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</a:t>
            </a:r>
            <a:endParaRPr lang="en-US" sz="1200" dirty="0"/>
          </a:p>
        </p:txBody>
      </p:sp>
      <p:sp>
        <p:nvSpPr>
          <p:cNvPr id="17" name="Text 14">
            <a:hlinkClick r:id="rId6" tooltip=""/>
          </p:cNvPr>
          <p:cNvSpPr/>
          <p:nvPr/>
        </p:nvSpPr>
        <p:spPr>
          <a:xfrm>
            <a:off x="7029274" y="2819330"/>
            <a:ext cx="419089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u="sng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@rhyan-lemos-silveira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609585" y="3524162"/>
            <a:ext cx="5410065" cy="1047724"/>
          </a:xfrm>
          <a:prstGeom prst="roundRect">
            <a:avLst>
              <a:gd name="adj" fmla="val 5236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0080" y="3809905"/>
            <a:ext cx="476238" cy="476238"/>
          </a:xfrm>
          <a:prstGeom prst="roundRect">
            <a:avLst>
              <a:gd name="adj" fmla="val 4224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20" name="Image 1" descr="C:\Users\revio\Projeto\Portifolio\scripts\assets\github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902" y="3933727"/>
            <a:ext cx="228594" cy="228594"/>
          </a:xfrm>
          <a:prstGeom prst="rect">
            <a:avLst/>
          </a:prstGeom>
        </p:spPr>
      </p:pic>
      <p:sp>
        <p:nvSpPr>
          <p:cNvPr id="21" name="Text 17">
            <a:hlinkClick r:id="rId8" tooltip=""/>
          </p:cNvPr>
          <p:cNvSpPr/>
          <p:nvPr/>
        </p:nvSpPr>
        <p:spPr>
          <a:xfrm>
            <a:off x="1466813" y="3790855"/>
            <a:ext cx="4190895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1200" dirty="0"/>
          </a:p>
        </p:txBody>
      </p:sp>
      <p:sp>
        <p:nvSpPr>
          <p:cNvPr id="22" name="Text 18">
            <a:hlinkClick r:id="rId9" tooltip=""/>
          </p:cNvPr>
          <p:cNvSpPr/>
          <p:nvPr/>
        </p:nvSpPr>
        <p:spPr>
          <a:xfrm>
            <a:off x="1466813" y="4057549"/>
            <a:ext cx="419089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u="sng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@rhyan05</a:t>
            </a:r>
            <a:endParaRPr lang="en-US" sz="750" dirty="0"/>
          </a:p>
        </p:txBody>
      </p:sp>
      <p:sp>
        <p:nvSpPr>
          <p:cNvPr id="23" name="Shape 19"/>
          <p:cNvSpPr/>
          <p:nvPr/>
        </p:nvSpPr>
        <p:spPr>
          <a:xfrm>
            <a:off x="6172046" y="3524162"/>
            <a:ext cx="5410065" cy="1047724"/>
          </a:xfrm>
          <a:prstGeom prst="roundRect">
            <a:avLst>
              <a:gd name="adj" fmla="val 5236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362541" y="3809905"/>
            <a:ext cx="476238" cy="476238"/>
          </a:xfrm>
          <a:prstGeom prst="roundRect">
            <a:avLst>
              <a:gd name="adj" fmla="val 4224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25" name="Image 2" descr="C:\Users\revio\Projeto\Portifolio\public\img-home\contact\youtub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86363" y="3933727"/>
            <a:ext cx="228594" cy="228594"/>
          </a:xfrm>
          <a:prstGeom prst="rect">
            <a:avLst/>
          </a:prstGeom>
        </p:spPr>
      </p:pic>
      <p:sp>
        <p:nvSpPr>
          <p:cNvPr id="26" name="Text 21">
            <a:hlinkClick r:id="rId11" tooltip=""/>
          </p:cNvPr>
          <p:cNvSpPr/>
          <p:nvPr/>
        </p:nvSpPr>
        <p:spPr>
          <a:xfrm>
            <a:off x="7029274" y="3790855"/>
            <a:ext cx="4190895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YouTube</a:t>
            </a:r>
            <a:endParaRPr lang="en-US" sz="1200" dirty="0"/>
          </a:p>
        </p:txBody>
      </p:sp>
      <p:sp>
        <p:nvSpPr>
          <p:cNvPr id="27" name="Text 22">
            <a:hlinkClick r:id="rId12" tooltip=""/>
          </p:cNvPr>
          <p:cNvSpPr/>
          <p:nvPr/>
        </p:nvSpPr>
        <p:spPr>
          <a:xfrm>
            <a:off x="7029274" y="4057549"/>
            <a:ext cx="419089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u="sng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youtube.com/@rhyan05lemos91</a:t>
            </a:r>
            <a:endParaRPr lang="en-US" sz="750" dirty="0"/>
          </a:p>
        </p:txBody>
      </p:sp>
      <p:sp>
        <p:nvSpPr>
          <p:cNvPr id="28" name="Shape 23"/>
          <p:cNvSpPr/>
          <p:nvPr/>
        </p:nvSpPr>
        <p:spPr>
          <a:xfrm>
            <a:off x="4606175" y="5143371"/>
            <a:ext cx="1274413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663323" y="5181470"/>
            <a:ext cx="1160116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rhyan05@outlook.com</a:t>
            </a:r>
            <a:endParaRPr lang="en-US" sz="750" dirty="0"/>
          </a:p>
        </p:txBody>
      </p:sp>
      <p:sp>
        <p:nvSpPr>
          <p:cNvPr id="30" name="Shape 25"/>
          <p:cNvSpPr/>
          <p:nvPr/>
        </p:nvSpPr>
        <p:spPr>
          <a:xfrm>
            <a:off x="5956786" y="5143371"/>
            <a:ext cx="1628734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013935" y="5181470"/>
            <a:ext cx="1514437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Available for connections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380990"/>
            <a:ext cx="323842" cy="323842"/>
          </a:xfrm>
          <a:prstGeom prst="roundRect">
            <a:avLst>
              <a:gd name="adj" fmla="val 7906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585" y="400040"/>
            <a:ext cx="323842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0508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028674" y="409565"/>
            <a:ext cx="1523962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</a:t>
            </a:r>
            <a:pPr indent="0" marL="0">
              <a:buNone/>
            </a:pPr>
            <a:r>
              <a:rPr lang="en-US" sz="13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.dev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572286" y="457189"/>
            <a:ext cx="300982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15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 LEMOS Â· 12 / 12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334267" y="3428914"/>
            <a:ext cx="2857429" cy="2857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750" b="1" dirty="0">
                <a:solidFill>
                  <a:srgbClr val="FFFFFF">
                    <a:alpha val="3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</a:t>
            </a:r>
            <a:endParaRPr lang="en-US" sz="18750" dirty="0"/>
          </a:p>
        </p:txBody>
      </p:sp>
      <p:sp>
        <p:nvSpPr>
          <p:cNvPr id="7" name="Shape 5"/>
          <p:cNvSpPr/>
          <p:nvPr/>
        </p:nvSpPr>
        <p:spPr>
          <a:xfrm>
            <a:off x="5238619" y="1428714"/>
            <a:ext cx="1714457" cy="285743"/>
          </a:xfrm>
          <a:prstGeom prst="roundRect">
            <a:avLst>
              <a:gd name="adj" fmla="val 160004"/>
            </a:avLst>
          </a:prstGeom>
          <a:solidFill>
            <a:srgbClr val="2EF2B6">
              <a:alpha val="10000"/>
            </a:srgbClr>
          </a:solidFill>
          <a:ln w="9525">
            <a:solidFill>
              <a:srgbClr val="2EF2B6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14817" y="1504912"/>
            <a:ext cx="1562061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b="1" spc="100" kern="0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 WEBSITE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1904952" y="2019250"/>
            <a:ext cx="8381790" cy="76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9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Let's</a:t>
            </a:r>
            <a:endParaRPr lang="en-US" sz="4950" dirty="0"/>
          </a:p>
        </p:txBody>
      </p:sp>
      <p:sp>
        <p:nvSpPr>
          <p:cNvPr id="10" name="Text 8"/>
          <p:cNvSpPr/>
          <p:nvPr/>
        </p:nvSpPr>
        <p:spPr>
          <a:xfrm>
            <a:off x="1904952" y="2647884"/>
            <a:ext cx="8381790" cy="76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95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talk?</a:t>
            </a:r>
            <a:endParaRPr lang="en-US" sz="4950" dirty="0"/>
          </a:p>
        </p:txBody>
      </p:sp>
      <p:sp>
        <p:nvSpPr>
          <p:cNvPr id="11" name="Text 9"/>
          <p:cNvSpPr/>
          <p:nvPr/>
        </p:nvSpPr>
        <p:spPr>
          <a:xfrm>
            <a:off x="2857429" y="3562261"/>
            <a:ext cx="6476838" cy="438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 for following my journey. The complete portfolio, projects and contact information are online.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35602" y="4286143"/>
            <a:ext cx="1274413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92750" y="4324242"/>
            <a:ext cx="1160116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rhyan05@outlook.com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986213" y="4286143"/>
            <a:ext cx="2278323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43361" y="4324242"/>
            <a:ext cx="2164026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linkedin.com/in/rhyan-lemos-silveira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340734" y="4286143"/>
            <a:ext cx="1215360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97883" y="4324242"/>
            <a:ext cx="1101062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github.com/rhyan05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904952" y="4876678"/>
            <a:ext cx="838179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https://portifolio-e232-83ywbv1he-rhyans-projects-36b8ad89.vercel.app/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Rhyan.dev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Rhyan Lemos â€” Full Stack Developer</dc:title>
  <dc:subject>Professional presentation</dc:subject>
  <dc:creator>Rhyan Lemos</dc:creator>
  <cp:lastModifiedBy>Rhyan Lemos</cp:lastModifiedBy>
  <cp:revision>1</cp:revision>
  <dcterms:created xsi:type="dcterms:W3CDTF">2026-10-30T16:21:11Z</dcterms:created>
  <dcterms:modified xsi:type="dcterms:W3CDTF">2026-10-30T16:21:11Z</dcterms:modified>
</cp:coreProperties>
</file>