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Capa da apresentação. Quem sou eu, no que trabalho e uma introdução visual ao meu perfil profissional.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Perfil profissional: resumo, stack, localização, atuação atual na REVIO com responsabilidades, formação em Sistemas de Informação com destaques acadêmicos e seis práticas de trabalho.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Linha do tempo resumida: 2022 base técnica, 2023 freelance e graduação, 2024 projetos e IA, 2025 REVIO e 2026 como ano atual.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Trajetória em cinco colunas: 2022, 2023, 2024, 2025 na REVIO e 2026 como ano atual.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Certificados e cursos em destaque, organizados por cloud, desenvolvimento, segurança, gestão e idiomas.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Palestras e eventos: participação em conferências, workshops e imersões de tecnologia e inovação.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Projetos em destaque nas frentes front-end, back-end e machine learning. Portfólio completo em github.com/rhyan05.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frentes: organização, visão crítica para projetos e soluções criativas e funcionais.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Matriz de competências: fortalezas consolidadas, habilidades em desenvolvimento e próximos focos.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 em três etapas: execução e eficiência, domínio técnico e IA, gestão e mentoria.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Links e contato: GitHub, LinkedIn, blog e YouTube. E-mail para conexões profissionais.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Fechamento: obrigado, contatos e link do portfólio online. https://portifolio-e232-83ywbv1he-rhyans-projects-36b8ad89.vercel.app/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medium.com/@rhyanlemos" TargetMode="External"/><Relationship Id="rId3" Type="http://schemas.openxmlformats.org/officeDocument/2006/relationships/hyperlink" Target="https://medium.com/@rhyanlemos" TargetMode="External"/><Relationship Id="rId5" Type="http://schemas.openxmlformats.org/officeDocument/2006/relationships/hyperlink" Target="https://www.linkedin.com/in/rhyan-lemos-silveira/" TargetMode="External"/><Relationship Id="rId6" Type="http://schemas.openxmlformats.org/officeDocument/2006/relationships/hyperlink" Target="https://www.linkedin.com/in/rhyan-lemos-silveira/" TargetMode="External"/><Relationship Id="rId8" Type="http://schemas.openxmlformats.org/officeDocument/2006/relationships/hyperlink" Target="https://github.com/rhyan05" TargetMode="External"/><Relationship Id="rId9" Type="http://schemas.openxmlformats.org/officeDocument/2006/relationships/hyperlink" Target="https://github.com/rhyan05" TargetMode="External"/><Relationship Id="rId11" Type="http://schemas.openxmlformats.org/officeDocument/2006/relationships/hyperlink" Target="https://www.youtube.com/@rhyan05lemos91" TargetMode="External"/><Relationship Id="rId12" Type="http://schemas.openxmlformats.org/officeDocument/2006/relationships/hyperlink" Target="https://www.youtube.com/@rhyan05lemos91" TargetMode="External"/><Relationship Id="rId1" Type="http://schemas.openxmlformats.org/officeDocument/2006/relationships/image" Target="../media/Slide-11-image-1.jpeg"/><Relationship Id="rId4" Type="http://schemas.openxmlformats.org/officeDocument/2006/relationships/image" Target="../media/image-11-2.png"/><Relationship Id="rId7" Type="http://schemas.openxmlformats.org/officeDocument/2006/relationships/image" Target="../media/image-11-3.png"/><Relationship Id="rId10" Type="http://schemas.openxmlformats.org/officeDocument/2006/relationships/image" Target="../media/image-11-4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585" y="609585"/>
            <a:ext cx="2000200" cy="285743"/>
          </a:xfrm>
          <a:prstGeom prst="roundRect">
            <a:avLst>
              <a:gd name="adj" fmla="val 160004"/>
            </a:avLst>
          </a:prstGeom>
          <a:solidFill>
            <a:srgbClr val="2EF2B6">
              <a:alpha val="10000"/>
            </a:srgbClr>
          </a:solidFill>
          <a:ln w="9525">
            <a:solidFill>
              <a:srgbClr val="2EF2B6">
                <a:alpha val="3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783" y="685783"/>
            <a:ext cx="1847804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75" b="1" spc="100" kern="0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APRESENTAÇÃO · 2026</a:t>
            </a:r>
            <a:endParaRPr lang="en-US" sz="675" dirty="0"/>
          </a:p>
        </p:txBody>
      </p:sp>
      <p:sp>
        <p:nvSpPr>
          <p:cNvPr id="4" name="Text 2"/>
          <p:cNvSpPr/>
          <p:nvPr/>
        </p:nvSpPr>
        <p:spPr>
          <a:xfrm>
            <a:off x="609585" y="1295368"/>
            <a:ext cx="7238819" cy="952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QUEM SOU</a:t>
            </a:r>
            <a:endParaRPr lang="en-US" sz="6600" dirty="0"/>
          </a:p>
        </p:txBody>
      </p:sp>
      <p:sp>
        <p:nvSpPr>
          <p:cNvPr id="5" name="Text 3"/>
          <p:cNvSpPr/>
          <p:nvPr/>
        </p:nvSpPr>
        <p:spPr>
          <a:xfrm>
            <a:off x="609585" y="2114497"/>
            <a:ext cx="3428914" cy="952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EU?</a:t>
            </a:r>
            <a:endParaRPr lang="en-US" sz="6600" dirty="0"/>
          </a:p>
        </p:txBody>
      </p:sp>
      <p:sp>
        <p:nvSpPr>
          <p:cNvPr id="6" name="Text 4"/>
          <p:cNvSpPr/>
          <p:nvPr/>
        </p:nvSpPr>
        <p:spPr>
          <a:xfrm>
            <a:off x="609585" y="3105072"/>
            <a:ext cx="5143371" cy="361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 no que trabalho?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609585" y="3638459"/>
            <a:ext cx="1523962" cy="19050"/>
          </a:xfrm>
          <a:prstGeom prst="rect">
            <a:avLst/>
          </a:prstGeom>
          <a:solidFill>
            <a:srgbClr val="2EF2B6"/>
          </a:solidFill>
          <a:ln/>
        </p:spPr>
      </p:sp>
      <p:sp>
        <p:nvSpPr>
          <p:cNvPr id="8" name="Text 6"/>
          <p:cNvSpPr/>
          <p:nvPr/>
        </p:nvSpPr>
        <p:spPr>
          <a:xfrm>
            <a:off x="609585" y="3886103"/>
            <a:ext cx="5143371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Rhyan Lemos Silveira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585" y="4171846"/>
            <a:ext cx="5714857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75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Desenvolvedor Full Stack · Sistemas de Informação</a:t>
            </a:r>
            <a:endParaRPr lang="en-US" sz="975" dirty="0"/>
          </a:p>
        </p:txBody>
      </p:sp>
      <p:sp>
        <p:nvSpPr>
          <p:cNvPr id="10" name="Shape 8"/>
          <p:cNvSpPr/>
          <p:nvPr/>
        </p:nvSpPr>
        <p:spPr>
          <a:xfrm>
            <a:off x="8019849" y="1352516"/>
            <a:ext cx="3200320" cy="3200320"/>
          </a:xfrm>
          <a:prstGeom prst="ellipse">
            <a:avLst/>
          </a:prstGeom>
          <a:ln w="12700">
            <a:solidFill>
              <a:srgbClr val="8B5CF6">
                <a:alpha val="3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867453" y="1200120"/>
            <a:ext cx="3505112" cy="3505112"/>
          </a:xfrm>
          <a:prstGeom prst="ellipse">
            <a:avLst/>
          </a:prstGeom>
          <a:ln w="12700">
            <a:solidFill>
              <a:srgbClr val="2EF2B6">
                <a:alpha val="20000"/>
              </a:srgbClr>
            </a:solidFill>
            <a:prstDash val="dash"/>
          </a:ln>
        </p:spPr>
      </p:sp>
      <p:pic>
        <p:nvPicPr>
          <p:cNvPr id="12" name="Image 0" descr="C:\Users\revio\Projeto\Portifolio\scripts\assets\rhyan-circ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1295" y="1523962"/>
            <a:ext cx="2857429" cy="2857429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7810305" y="4514737"/>
            <a:ext cx="3619410" cy="323842"/>
          </a:xfrm>
          <a:prstGeom prst="roundRect">
            <a:avLst>
              <a:gd name="adj" fmla="val 141180"/>
            </a:avLst>
          </a:prstGeom>
          <a:solidFill>
            <a:srgbClr val="08111C">
              <a:alpha val="85000"/>
            </a:srgbClr>
          </a:solidFill>
          <a:ln w="9525">
            <a:solidFill>
              <a:srgbClr val="2EF2B6">
                <a:alpha val="4000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10305" y="4609985"/>
            <a:ext cx="361941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 Stack Developer</a:t>
            </a:r>
            <a:endParaRPr lang="en-US" sz="750" dirty="0"/>
          </a:p>
        </p:txBody>
      </p:sp>
      <p:sp>
        <p:nvSpPr>
          <p:cNvPr id="15" name="Shape 12"/>
          <p:cNvSpPr/>
          <p:nvPr/>
        </p:nvSpPr>
        <p:spPr>
          <a:xfrm>
            <a:off x="10477238" y="1981150"/>
            <a:ext cx="1028674" cy="285743"/>
          </a:xfrm>
          <a:prstGeom prst="roundRect">
            <a:avLst>
              <a:gd name="adj" fmla="val 160004"/>
            </a:avLst>
          </a:prstGeom>
          <a:solidFill>
            <a:srgbClr val="08111C">
              <a:alpha val="85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</p:sp>
      <p:pic>
        <p:nvPicPr>
          <p:cNvPr id="16" name="Image 1" descr="C:\Users\revio\Projeto\Portifolio\public\img-home\icon-skills\framework\Reac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91535" y="2047824"/>
            <a:ext cx="142871" cy="142871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0762981" y="2057349"/>
            <a:ext cx="628634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React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7410265" y="3848004"/>
            <a:ext cx="1162021" cy="285743"/>
          </a:xfrm>
          <a:prstGeom prst="roundRect">
            <a:avLst>
              <a:gd name="adj" fmla="val 160004"/>
            </a:avLst>
          </a:prstGeom>
          <a:solidFill>
            <a:srgbClr val="08111C">
              <a:alpha val="85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</p:sp>
      <p:pic>
        <p:nvPicPr>
          <p:cNvPr id="19" name="Image 2" descr="C:\Users\revio\Projeto\Portifolio\public\img-home\icon-skills\hard-skills\typescript.sv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524562" y="3914677"/>
            <a:ext cx="142871" cy="142871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7696008" y="3924202"/>
            <a:ext cx="781030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TypeScript</a:t>
            </a:r>
            <a:endParaRPr lang="en-US" sz="750" dirty="0"/>
          </a:p>
        </p:txBody>
      </p:sp>
      <p:sp>
        <p:nvSpPr>
          <p:cNvPr id="21" name="Shape 16"/>
          <p:cNvSpPr/>
          <p:nvPr/>
        </p:nvSpPr>
        <p:spPr>
          <a:xfrm>
            <a:off x="609585" y="6172046"/>
            <a:ext cx="323842" cy="323842"/>
          </a:xfrm>
          <a:prstGeom prst="roundRect">
            <a:avLst>
              <a:gd name="adj" fmla="val 79061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609585" y="6191095"/>
            <a:ext cx="323842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75" b="1" dirty="0">
                <a:solidFill>
                  <a:srgbClr val="05080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</a:t>
            </a:r>
            <a:endParaRPr lang="en-US" sz="1275" dirty="0"/>
          </a:p>
        </p:txBody>
      </p:sp>
      <p:sp>
        <p:nvSpPr>
          <p:cNvPr id="23" name="Text 18"/>
          <p:cNvSpPr/>
          <p:nvPr/>
        </p:nvSpPr>
        <p:spPr>
          <a:xfrm>
            <a:off x="1028674" y="6200620"/>
            <a:ext cx="1523962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Rhyan</a:t>
            </a:r>
            <a:pPr indent="0" marL="0">
              <a:buNone/>
            </a:pPr>
            <a:r>
              <a:rPr lang="en-US" sz="13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.dev</a:t>
            </a:r>
            <a:endParaRPr lang="en-US" sz="1350" dirty="0"/>
          </a:p>
        </p:txBody>
      </p:sp>
      <p:sp>
        <p:nvSpPr>
          <p:cNvPr id="24" name="Text 19"/>
          <p:cNvSpPr/>
          <p:nvPr/>
        </p:nvSpPr>
        <p:spPr>
          <a:xfrm>
            <a:off x="10286743" y="6248244"/>
            <a:ext cx="129536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75" spc="15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/ 12</a:t>
            </a:r>
            <a:endParaRPr lang="en-US" sz="675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585" y="380990"/>
            <a:ext cx="323842" cy="323842"/>
          </a:xfrm>
          <a:prstGeom prst="roundRect">
            <a:avLst>
              <a:gd name="adj" fmla="val 79061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9585" y="400040"/>
            <a:ext cx="323842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75" b="1" dirty="0">
                <a:solidFill>
                  <a:srgbClr val="05080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</a:t>
            </a:r>
            <a:endParaRPr lang="en-US" sz="1275" dirty="0"/>
          </a:p>
        </p:txBody>
      </p:sp>
      <p:sp>
        <p:nvSpPr>
          <p:cNvPr id="4" name="Text 2"/>
          <p:cNvSpPr/>
          <p:nvPr/>
        </p:nvSpPr>
        <p:spPr>
          <a:xfrm>
            <a:off x="1028674" y="409565"/>
            <a:ext cx="1523962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Rhyan</a:t>
            </a:r>
            <a:pPr indent="0" marL="0">
              <a:buNone/>
            </a:pPr>
            <a:r>
              <a:rPr lang="en-US" sz="13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.dev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8572286" y="457189"/>
            <a:ext cx="300982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spc="15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RHYAN LEMOS Â· 02 / 12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609585" y="1104872"/>
            <a:ext cx="10972526" cy="495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Quem sou eu e no que trabalho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609585" y="1523962"/>
            <a:ext cx="10972526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75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Rhyan Lemos Silveira Â· Desenvolvedor Full Stack</a:t>
            </a:r>
            <a:endParaRPr lang="en-US" sz="975" dirty="0"/>
          </a:p>
        </p:txBody>
      </p:sp>
      <p:sp>
        <p:nvSpPr>
          <p:cNvPr id="8" name="Text 6"/>
          <p:cNvSpPr/>
          <p:nvPr/>
        </p:nvSpPr>
        <p:spPr>
          <a:xfrm>
            <a:off x="609585" y="1904952"/>
            <a:ext cx="3143171" cy="80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Desenvolvedor Full Stack com base em Sistemas de Informação, foco em aplicações web, APIs e evolução contínua de produtos.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09585" y="2857429"/>
            <a:ext cx="400040" cy="209545"/>
          </a:xfrm>
          <a:prstGeom prst="roundRect">
            <a:avLst>
              <a:gd name="adj" fmla="val 218187"/>
            </a:avLst>
          </a:prstGeom>
          <a:solidFill>
            <a:srgbClr val="2EF2B6">
              <a:alpha val="10000"/>
            </a:srgbClr>
          </a:solidFill>
          <a:ln w="6350">
            <a:solidFill>
              <a:srgbClr val="2EF2B6">
                <a:alpha val="28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6733" y="2895528"/>
            <a:ext cx="285743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PHP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066773" y="2857429"/>
            <a:ext cx="1510627" cy="209545"/>
          </a:xfrm>
          <a:prstGeom prst="roundRect">
            <a:avLst>
              <a:gd name="adj" fmla="val 218187"/>
            </a:avLst>
          </a:prstGeom>
          <a:solidFill>
            <a:srgbClr val="2EF2B6">
              <a:alpha val="10000"/>
            </a:srgbClr>
          </a:solidFill>
          <a:ln w="6350">
            <a:solidFill>
              <a:srgbClr val="2EF2B6">
                <a:alpha val="28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23922" y="2895528"/>
            <a:ext cx="1396330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JavaScript / TypeScript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634549" y="2857429"/>
            <a:ext cx="506717" cy="209545"/>
          </a:xfrm>
          <a:prstGeom prst="roundRect">
            <a:avLst>
              <a:gd name="adj" fmla="val 218187"/>
            </a:avLst>
          </a:prstGeom>
          <a:solidFill>
            <a:srgbClr val="2EF2B6">
              <a:alpha val="10000"/>
            </a:srgbClr>
          </a:solidFill>
          <a:ln w="6350">
            <a:solidFill>
              <a:srgbClr val="2EF2B6">
                <a:alpha val="28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91698" y="2895528"/>
            <a:ext cx="392420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Python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3198415" y="2857429"/>
            <a:ext cx="400040" cy="209545"/>
          </a:xfrm>
          <a:prstGeom prst="roundRect">
            <a:avLst>
              <a:gd name="adj" fmla="val 218187"/>
            </a:avLst>
          </a:prstGeom>
          <a:solidFill>
            <a:srgbClr val="2EF2B6">
              <a:alpha val="10000"/>
            </a:srgbClr>
          </a:solidFill>
          <a:ln w="6350">
            <a:solidFill>
              <a:srgbClr val="2EF2B6">
                <a:alpha val="28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55564" y="2895528"/>
            <a:ext cx="285743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SQL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609585" y="3124122"/>
            <a:ext cx="506717" cy="209545"/>
          </a:xfrm>
          <a:prstGeom prst="roundRect">
            <a:avLst>
              <a:gd name="adj" fmla="val 218187"/>
            </a:avLst>
          </a:prstGeom>
          <a:solidFill>
            <a:srgbClr val="2EF2B6">
              <a:alpha val="10000"/>
            </a:srgbClr>
          </a:solidFill>
          <a:ln w="6350">
            <a:solidFill>
              <a:srgbClr val="2EF2B6">
                <a:alpha val="28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6733" y="3162221"/>
            <a:ext cx="392420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Docker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1173451" y="3124122"/>
            <a:ext cx="447664" cy="209545"/>
          </a:xfrm>
          <a:prstGeom prst="roundRect">
            <a:avLst>
              <a:gd name="adj" fmla="val 218187"/>
            </a:avLst>
          </a:prstGeom>
          <a:solidFill>
            <a:srgbClr val="2EF2B6">
              <a:alpha val="10000"/>
            </a:srgbClr>
          </a:solidFill>
          <a:ln w="6350">
            <a:solidFill>
              <a:srgbClr val="2EF2B6">
                <a:alpha val="28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30599" y="3162221"/>
            <a:ext cx="333367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MySQL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1678263" y="3124122"/>
            <a:ext cx="447664" cy="209545"/>
          </a:xfrm>
          <a:prstGeom prst="roundRect">
            <a:avLst>
              <a:gd name="adj" fmla="val 218187"/>
            </a:avLst>
          </a:prstGeom>
          <a:solidFill>
            <a:srgbClr val="2EF2B6">
              <a:alpha val="10000"/>
            </a:srgbClr>
          </a:solidFill>
          <a:ln w="6350">
            <a:solidFill>
              <a:srgbClr val="2EF2B6">
                <a:alpha val="28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735412" y="3162221"/>
            <a:ext cx="333367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React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2183075" y="3124122"/>
            <a:ext cx="624824" cy="209545"/>
          </a:xfrm>
          <a:prstGeom prst="roundRect">
            <a:avLst>
              <a:gd name="adj" fmla="val 218187"/>
            </a:avLst>
          </a:prstGeom>
          <a:solidFill>
            <a:srgbClr val="2EF2B6">
              <a:alpha val="10000"/>
            </a:srgbClr>
          </a:solidFill>
          <a:ln w="6350">
            <a:solidFill>
              <a:srgbClr val="2EF2B6">
                <a:alpha val="28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240224" y="3162221"/>
            <a:ext cx="510527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Tailwind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2865048" y="3124122"/>
            <a:ext cx="400040" cy="209545"/>
          </a:xfrm>
          <a:prstGeom prst="roundRect">
            <a:avLst>
              <a:gd name="adj" fmla="val 218187"/>
            </a:avLst>
          </a:prstGeom>
          <a:solidFill>
            <a:srgbClr val="2EF2B6">
              <a:alpha val="10000"/>
            </a:srgbClr>
          </a:solidFill>
          <a:ln w="6350">
            <a:solidFill>
              <a:srgbClr val="2EF2B6">
                <a:alpha val="28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22197" y="3162221"/>
            <a:ext cx="285743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609585" y="3390815"/>
            <a:ext cx="979146" cy="209545"/>
          </a:xfrm>
          <a:prstGeom prst="roundRect">
            <a:avLst>
              <a:gd name="adj" fmla="val 218187"/>
            </a:avLst>
          </a:prstGeom>
          <a:solidFill>
            <a:srgbClr val="2EF2B6">
              <a:alpha val="10000"/>
            </a:srgbClr>
          </a:solidFill>
          <a:ln w="6350">
            <a:solidFill>
              <a:srgbClr val="2EF2B6">
                <a:alpha val="28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66733" y="3428914"/>
            <a:ext cx="864848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Actions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1645879" y="3390815"/>
            <a:ext cx="447664" cy="209545"/>
          </a:xfrm>
          <a:prstGeom prst="roundRect">
            <a:avLst>
              <a:gd name="adj" fmla="val 218187"/>
            </a:avLst>
          </a:prstGeom>
          <a:solidFill>
            <a:srgbClr val="2EF2B6">
              <a:alpha val="10000"/>
            </a:srgbClr>
          </a:solidFill>
          <a:ln w="6350">
            <a:solidFill>
              <a:srgbClr val="2EF2B6">
                <a:alpha val="28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703027" y="3428914"/>
            <a:ext cx="333367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CI/CD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609585" y="4762381"/>
            <a:ext cx="3143171" cy="1142971"/>
          </a:xfrm>
          <a:prstGeom prst="roundRect">
            <a:avLst>
              <a:gd name="adj" fmla="val 4800"/>
            </a:avLst>
          </a:prstGeom>
          <a:solidFill>
            <a:srgbClr val="2EF2B6">
              <a:alpha val="6000"/>
            </a:srgbClr>
          </a:solidFill>
          <a:ln w="9525">
            <a:solidFill>
              <a:srgbClr val="2EF2B6">
                <a:alpha val="2200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00080" y="4914777"/>
            <a:ext cx="1142971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b="1" spc="100" kern="0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675" dirty="0"/>
          </a:p>
        </p:txBody>
      </p:sp>
      <p:sp>
        <p:nvSpPr>
          <p:cNvPr id="33" name="Text 31"/>
          <p:cNvSpPr/>
          <p:nvPr/>
        </p:nvSpPr>
        <p:spPr>
          <a:xfrm>
            <a:off x="800080" y="5105272"/>
            <a:ext cx="2666933" cy="247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Guarulhos · SP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800080" y="5391015"/>
            <a:ext cx="276218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8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Sistemas de Informação Â· ENIAC</a:t>
            </a:r>
            <a:endParaRPr lang="en-US" sz="788" dirty="0"/>
          </a:p>
        </p:txBody>
      </p:sp>
      <p:sp>
        <p:nvSpPr>
          <p:cNvPr id="35" name="Shape 33"/>
          <p:cNvSpPr/>
          <p:nvPr/>
        </p:nvSpPr>
        <p:spPr>
          <a:xfrm>
            <a:off x="3943251" y="1809705"/>
            <a:ext cx="3724182" cy="1904952"/>
          </a:xfrm>
          <a:prstGeom prst="roundRect">
            <a:avLst>
              <a:gd name="adj" fmla="val 2880"/>
            </a:avLst>
          </a:prstGeom>
          <a:solidFill>
            <a:srgbClr val="2EF2B6">
              <a:alpha val="6000"/>
            </a:srgbClr>
          </a:solidFill>
          <a:ln w="9525">
            <a:solidFill>
              <a:srgbClr val="2EF2B6">
                <a:alpha val="2200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095648" y="1962101"/>
            <a:ext cx="2095448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b="1" spc="100" kern="0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ATUAÇÃO ATUAL</a:t>
            </a:r>
            <a:endParaRPr lang="en-US" sz="675" dirty="0"/>
          </a:p>
        </p:txBody>
      </p:sp>
      <p:sp>
        <p:nvSpPr>
          <p:cNvPr id="37" name="Text 35"/>
          <p:cNvSpPr/>
          <p:nvPr/>
        </p:nvSpPr>
        <p:spPr>
          <a:xfrm>
            <a:off x="4095648" y="2152596"/>
            <a:ext cx="2190695" cy="247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75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REVIO Tecnologia</a:t>
            </a:r>
            <a:endParaRPr lang="en-US" sz="1275" dirty="0"/>
          </a:p>
        </p:txBody>
      </p:sp>
      <p:sp>
        <p:nvSpPr>
          <p:cNvPr id="38" name="Text 36"/>
          <p:cNvSpPr/>
          <p:nvPr/>
        </p:nvSpPr>
        <p:spPr>
          <a:xfrm>
            <a:off x="6286343" y="2190695"/>
            <a:ext cx="1190595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Jan/2025 – Atual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4095648" y="2419290"/>
            <a:ext cx="219069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8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Desenvolvedor Full Stack</a:t>
            </a:r>
            <a:endParaRPr lang="en-US" sz="788" dirty="0"/>
          </a:p>
        </p:txBody>
      </p:sp>
      <p:sp>
        <p:nvSpPr>
          <p:cNvPr id="40" name="Text 38"/>
          <p:cNvSpPr/>
          <p:nvPr/>
        </p:nvSpPr>
        <p:spPr>
          <a:xfrm>
            <a:off x="4095648" y="2628834"/>
            <a:ext cx="3381290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63"/>
              </a:lnSpc>
              <a:buNone/>
            </a:pPr>
            <a:r>
              <a:rPr lang="en-US" sz="713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Atuação full stack na evolução de produtos digitais.</a:t>
            </a:r>
            <a:endParaRPr lang="en-US" sz="713" dirty="0"/>
          </a:p>
        </p:txBody>
      </p:sp>
      <p:sp>
        <p:nvSpPr>
          <p:cNvPr id="41" name="Text 39"/>
          <p:cNvSpPr/>
          <p:nvPr/>
        </p:nvSpPr>
        <p:spPr>
          <a:xfrm>
            <a:off x="4095648" y="2895528"/>
            <a:ext cx="3381290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788"/>
              </a:lnSpc>
              <a:buNone/>
            </a:pPr>
            <a:r>
              <a:rPr lang="en-US" sz="675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â€¢ Desenvolvimento e sustentação de aplicações web e APIs.</a:t>
            </a:r>
            <a:endParaRPr lang="en-US" sz="675" dirty="0"/>
          </a:p>
        </p:txBody>
      </p:sp>
      <p:sp>
        <p:nvSpPr>
          <p:cNvPr id="42" name="Text 40"/>
          <p:cNvSpPr/>
          <p:nvPr/>
        </p:nvSpPr>
        <p:spPr>
          <a:xfrm>
            <a:off x="4095648" y="3143171"/>
            <a:ext cx="3381290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788"/>
              </a:lnSpc>
              <a:buNone/>
            </a:pPr>
            <a:r>
              <a:rPr lang="en-US" sz="675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â€¢ Evolução de produtos, performance e débitos técnicos.</a:t>
            </a:r>
            <a:endParaRPr lang="en-US" sz="675" dirty="0"/>
          </a:p>
        </p:txBody>
      </p:sp>
      <p:sp>
        <p:nvSpPr>
          <p:cNvPr id="43" name="Text 41"/>
          <p:cNvSpPr/>
          <p:nvPr/>
        </p:nvSpPr>
        <p:spPr>
          <a:xfrm>
            <a:off x="4095648" y="3390815"/>
            <a:ext cx="3381290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788"/>
              </a:lnSpc>
              <a:buNone/>
            </a:pPr>
            <a:r>
              <a:rPr lang="en-US" sz="675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â€¢ CI/CD, Git e colaboração com o time de produto.</a:t>
            </a:r>
            <a:endParaRPr lang="en-US" sz="675" dirty="0"/>
          </a:p>
        </p:txBody>
      </p:sp>
      <p:sp>
        <p:nvSpPr>
          <p:cNvPr id="44" name="Shape 42"/>
          <p:cNvSpPr/>
          <p:nvPr/>
        </p:nvSpPr>
        <p:spPr>
          <a:xfrm>
            <a:off x="7857929" y="1809705"/>
            <a:ext cx="3724182" cy="1904952"/>
          </a:xfrm>
          <a:prstGeom prst="roundRect">
            <a:avLst>
              <a:gd name="adj" fmla="val 2880"/>
            </a:avLst>
          </a:prstGeom>
          <a:solidFill>
            <a:srgbClr val="8B5CF6">
              <a:alpha val="6000"/>
            </a:srgbClr>
          </a:solidFill>
          <a:ln w="9525">
            <a:solidFill>
              <a:srgbClr val="8B5CF6">
                <a:alpha val="22000"/>
              </a:srgbClr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010325" y="1962101"/>
            <a:ext cx="2095448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b="1" spc="100" kern="0" dirty="0">
                <a:solidFill>
                  <a:srgbClr val="8B5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FORMAÇÃO</a:t>
            </a:r>
            <a:endParaRPr lang="en-US" sz="675" dirty="0"/>
          </a:p>
        </p:txBody>
      </p:sp>
      <p:sp>
        <p:nvSpPr>
          <p:cNvPr id="46" name="Text 44"/>
          <p:cNvSpPr/>
          <p:nvPr/>
        </p:nvSpPr>
        <p:spPr>
          <a:xfrm>
            <a:off x="8010325" y="2152596"/>
            <a:ext cx="2190695" cy="247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75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Sistemas de Informação</a:t>
            </a:r>
            <a:endParaRPr lang="en-US" sz="1275" dirty="0"/>
          </a:p>
        </p:txBody>
      </p:sp>
      <p:sp>
        <p:nvSpPr>
          <p:cNvPr id="47" name="Text 45"/>
          <p:cNvSpPr/>
          <p:nvPr/>
        </p:nvSpPr>
        <p:spPr>
          <a:xfrm>
            <a:off x="10191495" y="2190695"/>
            <a:ext cx="1190595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Previsão 07/2027</a:t>
            </a:r>
            <a:endParaRPr lang="en-US" sz="600" dirty="0"/>
          </a:p>
        </p:txBody>
      </p:sp>
      <p:sp>
        <p:nvSpPr>
          <p:cNvPr id="48" name="Text 46"/>
          <p:cNvSpPr/>
          <p:nvPr/>
        </p:nvSpPr>
        <p:spPr>
          <a:xfrm>
            <a:off x="8010325" y="2419290"/>
            <a:ext cx="219069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8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ENIAC</a:t>
            </a:r>
            <a:endParaRPr lang="en-US" sz="788" dirty="0"/>
          </a:p>
        </p:txBody>
      </p:sp>
      <p:sp>
        <p:nvSpPr>
          <p:cNvPr id="49" name="Text 47"/>
          <p:cNvSpPr/>
          <p:nvPr/>
        </p:nvSpPr>
        <p:spPr>
          <a:xfrm>
            <a:off x="8010325" y="2628834"/>
            <a:ext cx="3381290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63"/>
              </a:lnSpc>
              <a:buNone/>
            </a:pPr>
            <a:r>
              <a:rPr lang="en-US" sz="713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Formação com base em desenvolvimento e arquitetura.</a:t>
            </a:r>
            <a:endParaRPr lang="en-US" sz="713" dirty="0"/>
          </a:p>
        </p:txBody>
      </p:sp>
      <p:sp>
        <p:nvSpPr>
          <p:cNvPr id="50" name="Text 48"/>
          <p:cNvSpPr/>
          <p:nvPr/>
        </p:nvSpPr>
        <p:spPr>
          <a:xfrm>
            <a:off x="8010325" y="2895528"/>
            <a:ext cx="3381290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788"/>
              </a:lnSpc>
              <a:buNone/>
            </a:pPr>
            <a:r>
              <a:rPr lang="en-US" sz="675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â€¢ Banco de dados, MVC e arquitetura de software.</a:t>
            </a:r>
            <a:endParaRPr lang="en-US" sz="675" dirty="0"/>
          </a:p>
        </p:txBody>
      </p:sp>
      <p:sp>
        <p:nvSpPr>
          <p:cNvPr id="51" name="Text 49"/>
          <p:cNvSpPr/>
          <p:nvPr/>
        </p:nvSpPr>
        <p:spPr>
          <a:xfrm>
            <a:off x="8010325" y="3143171"/>
            <a:ext cx="3381290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788"/>
              </a:lnSpc>
              <a:buNone/>
            </a:pPr>
            <a:r>
              <a:rPr lang="en-US" sz="675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â€¢ Engenharia de software e projetos acadêmicos.</a:t>
            </a:r>
            <a:endParaRPr lang="en-US" sz="675" dirty="0"/>
          </a:p>
        </p:txBody>
      </p:sp>
      <p:sp>
        <p:nvSpPr>
          <p:cNvPr id="52" name="Text 50"/>
          <p:cNvSpPr/>
          <p:nvPr/>
        </p:nvSpPr>
        <p:spPr>
          <a:xfrm>
            <a:off x="8010325" y="3390815"/>
            <a:ext cx="3381290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788"/>
              </a:lnSpc>
              <a:buNone/>
            </a:pPr>
            <a:r>
              <a:rPr lang="en-US" sz="675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â€¢ Participação no ENIAC Innovation Fest.</a:t>
            </a:r>
            <a:endParaRPr lang="en-US" sz="675" dirty="0"/>
          </a:p>
        </p:txBody>
      </p:sp>
      <p:sp>
        <p:nvSpPr>
          <p:cNvPr id="53" name="Shape 51"/>
          <p:cNvSpPr/>
          <p:nvPr/>
        </p:nvSpPr>
        <p:spPr>
          <a:xfrm>
            <a:off x="3943251" y="3905152"/>
            <a:ext cx="7638859" cy="2095448"/>
          </a:xfrm>
          <a:prstGeom prst="roundRect">
            <a:avLst>
              <a:gd name="adj" fmla="val 2618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95648" y="4057549"/>
            <a:ext cx="3809905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b="1" spc="10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COMO EU TRABALHO</a:t>
            </a:r>
            <a:endParaRPr lang="en-US" sz="675" dirty="0"/>
          </a:p>
        </p:txBody>
      </p:sp>
      <p:sp>
        <p:nvSpPr>
          <p:cNvPr id="55" name="Text 53"/>
          <p:cNvSpPr/>
          <p:nvPr/>
        </p:nvSpPr>
        <p:spPr>
          <a:xfrm>
            <a:off x="4095648" y="4343291"/>
            <a:ext cx="171446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13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713" dirty="0"/>
          </a:p>
        </p:txBody>
      </p:sp>
      <p:sp>
        <p:nvSpPr>
          <p:cNvPr id="56" name="Text 54"/>
          <p:cNvSpPr/>
          <p:nvPr/>
        </p:nvSpPr>
        <p:spPr>
          <a:xfrm>
            <a:off x="4267093" y="4343291"/>
            <a:ext cx="2095448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5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Desenvolvimento</a:t>
            </a:r>
            <a:endParaRPr lang="en-US" sz="825" dirty="0"/>
          </a:p>
        </p:txBody>
      </p:sp>
      <p:sp>
        <p:nvSpPr>
          <p:cNvPr id="57" name="Text 55"/>
          <p:cNvSpPr/>
          <p:nvPr/>
        </p:nvSpPr>
        <p:spPr>
          <a:xfrm>
            <a:off x="4267093" y="4495688"/>
            <a:ext cx="2095448" cy="323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63"/>
              </a:lnSpc>
              <a:buNone/>
            </a:pPr>
            <a:r>
              <a:rPr lang="en-US" sz="713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Requisitos viram soluções claras, simples e evolutivas.</a:t>
            </a:r>
            <a:endParaRPr lang="en-US" sz="713" dirty="0"/>
          </a:p>
        </p:txBody>
      </p:sp>
      <p:sp>
        <p:nvSpPr>
          <p:cNvPr id="58" name="Text 56"/>
          <p:cNvSpPr/>
          <p:nvPr/>
        </p:nvSpPr>
        <p:spPr>
          <a:xfrm>
            <a:off x="6495888" y="4343291"/>
            <a:ext cx="171446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13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713" dirty="0"/>
          </a:p>
        </p:txBody>
      </p:sp>
      <p:sp>
        <p:nvSpPr>
          <p:cNvPr id="59" name="Text 57"/>
          <p:cNvSpPr/>
          <p:nvPr/>
        </p:nvSpPr>
        <p:spPr>
          <a:xfrm>
            <a:off x="6667333" y="4343291"/>
            <a:ext cx="2095448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5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Qualidade</a:t>
            </a:r>
            <a:endParaRPr lang="en-US" sz="825" dirty="0"/>
          </a:p>
        </p:txBody>
      </p:sp>
      <p:sp>
        <p:nvSpPr>
          <p:cNvPr id="60" name="Text 58"/>
          <p:cNvSpPr/>
          <p:nvPr/>
        </p:nvSpPr>
        <p:spPr>
          <a:xfrm>
            <a:off x="6667333" y="4495688"/>
            <a:ext cx="2095448" cy="323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63"/>
              </a:lnSpc>
              <a:buNone/>
            </a:pPr>
            <a:r>
              <a:rPr lang="en-US" sz="713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Atenção a detalhes, revisão e correção de falhas.</a:t>
            </a:r>
            <a:endParaRPr lang="en-US" sz="713" dirty="0"/>
          </a:p>
        </p:txBody>
      </p:sp>
      <p:sp>
        <p:nvSpPr>
          <p:cNvPr id="61" name="Text 59"/>
          <p:cNvSpPr/>
          <p:nvPr/>
        </p:nvSpPr>
        <p:spPr>
          <a:xfrm>
            <a:off x="8896128" y="4343291"/>
            <a:ext cx="171446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13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713" dirty="0"/>
          </a:p>
        </p:txBody>
      </p:sp>
      <p:sp>
        <p:nvSpPr>
          <p:cNvPr id="62" name="Text 60"/>
          <p:cNvSpPr/>
          <p:nvPr/>
        </p:nvSpPr>
        <p:spPr>
          <a:xfrm>
            <a:off x="9067573" y="4343291"/>
            <a:ext cx="2095448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5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Versionamento</a:t>
            </a:r>
            <a:endParaRPr lang="en-US" sz="825" dirty="0"/>
          </a:p>
        </p:txBody>
      </p:sp>
      <p:sp>
        <p:nvSpPr>
          <p:cNvPr id="63" name="Text 61"/>
          <p:cNvSpPr/>
          <p:nvPr/>
        </p:nvSpPr>
        <p:spPr>
          <a:xfrm>
            <a:off x="9067573" y="4495688"/>
            <a:ext cx="2095448" cy="323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63"/>
              </a:lnSpc>
              <a:buNone/>
            </a:pPr>
            <a:r>
              <a:rPr lang="en-US" sz="713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 e commits organizados para facilitar a colaboração.</a:t>
            </a:r>
            <a:endParaRPr lang="en-US" sz="713" dirty="0"/>
          </a:p>
        </p:txBody>
      </p:sp>
      <p:sp>
        <p:nvSpPr>
          <p:cNvPr id="64" name="Text 62"/>
          <p:cNvSpPr/>
          <p:nvPr/>
        </p:nvSpPr>
        <p:spPr>
          <a:xfrm>
            <a:off x="4095648" y="5105272"/>
            <a:ext cx="171446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13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713" dirty="0"/>
          </a:p>
        </p:txBody>
      </p:sp>
      <p:sp>
        <p:nvSpPr>
          <p:cNvPr id="65" name="Text 63"/>
          <p:cNvSpPr/>
          <p:nvPr/>
        </p:nvSpPr>
        <p:spPr>
          <a:xfrm>
            <a:off x="4267093" y="5105272"/>
            <a:ext cx="2095448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5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Sustentação</a:t>
            </a:r>
            <a:endParaRPr lang="en-US" sz="825" dirty="0"/>
          </a:p>
        </p:txBody>
      </p:sp>
      <p:sp>
        <p:nvSpPr>
          <p:cNvPr id="66" name="Text 64"/>
          <p:cNvSpPr/>
          <p:nvPr/>
        </p:nvSpPr>
        <p:spPr>
          <a:xfrm>
            <a:off x="4267093" y="5257669"/>
            <a:ext cx="2095448" cy="323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63"/>
              </a:lnSpc>
              <a:buNone/>
            </a:pPr>
            <a:r>
              <a:rPr lang="en-US" sz="713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Causa raiz, correção definitiva e melhoria de performance.</a:t>
            </a:r>
            <a:endParaRPr lang="en-US" sz="713" dirty="0"/>
          </a:p>
        </p:txBody>
      </p:sp>
      <p:sp>
        <p:nvSpPr>
          <p:cNvPr id="67" name="Text 65"/>
          <p:cNvSpPr/>
          <p:nvPr/>
        </p:nvSpPr>
        <p:spPr>
          <a:xfrm>
            <a:off x="6495888" y="5105272"/>
            <a:ext cx="171446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13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713" dirty="0"/>
          </a:p>
        </p:txBody>
      </p:sp>
      <p:sp>
        <p:nvSpPr>
          <p:cNvPr id="68" name="Text 66"/>
          <p:cNvSpPr/>
          <p:nvPr/>
        </p:nvSpPr>
        <p:spPr>
          <a:xfrm>
            <a:off x="6667333" y="5105272"/>
            <a:ext cx="2095448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5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Colaboração</a:t>
            </a:r>
            <a:endParaRPr lang="en-US" sz="825" dirty="0"/>
          </a:p>
        </p:txBody>
      </p:sp>
      <p:sp>
        <p:nvSpPr>
          <p:cNvPr id="69" name="Text 67"/>
          <p:cNvSpPr/>
          <p:nvPr/>
        </p:nvSpPr>
        <p:spPr>
          <a:xfrm>
            <a:off x="6667333" y="5257669"/>
            <a:ext cx="2095448" cy="323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63"/>
              </a:lnSpc>
              <a:buNone/>
            </a:pPr>
            <a:r>
              <a:rPr lang="en-US" sz="713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Comunicação objetiva, alinhamento e troca de feedback.</a:t>
            </a:r>
            <a:endParaRPr lang="en-US" sz="713" dirty="0"/>
          </a:p>
        </p:txBody>
      </p:sp>
      <p:sp>
        <p:nvSpPr>
          <p:cNvPr id="70" name="Text 68"/>
          <p:cNvSpPr/>
          <p:nvPr/>
        </p:nvSpPr>
        <p:spPr>
          <a:xfrm>
            <a:off x="8896128" y="5105272"/>
            <a:ext cx="171446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13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713" dirty="0"/>
          </a:p>
        </p:txBody>
      </p:sp>
      <p:sp>
        <p:nvSpPr>
          <p:cNvPr id="71" name="Text 69"/>
          <p:cNvSpPr/>
          <p:nvPr/>
        </p:nvSpPr>
        <p:spPr>
          <a:xfrm>
            <a:off x="9067573" y="5105272"/>
            <a:ext cx="2095448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5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Aprendizado</a:t>
            </a:r>
            <a:endParaRPr lang="en-US" sz="825" dirty="0"/>
          </a:p>
        </p:txBody>
      </p:sp>
      <p:sp>
        <p:nvSpPr>
          <p:cNvPr id="72" name="Text 70"/>
          <p:cNvSpPr/>
          <p:nvPr/>
        </p:nvSpPr>
        <p:spPr>
          <a:xfrm>
            <a:off x="9067573" y="5257669"/>
            <a:ext cx="2095448" cy="323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63"/>
              </a:lnSpc>
              <a:buNone/>
            </a:pPr>
            <a:r>
              <a:rPr lang="en-US" sz="713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Estudo contínuo aplicado em projetos reais.</a:t>
            </a:r>
            <a:endParaRPr lang="en-US" sz="713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585" y="380990"/>
            <a:ext cx="323842" cy="323842"/>
          </a:xfrm>
          <a:prstGeom prst="roundRect">
            <a:avLst>
              <a:gd name="adj" fmla="val 79061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9585" y="400040"/>
            <a:ext cx="323842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75" b="1" dirty="0">
                <a:solidFill>
                  <a:srgbClr val="05080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</a:t>
            </a:r>
            <a:endParaRPr lang="en-US" sz="1275" dirty="0"/>
          </a:p>
        </p:txBody>
      </p:sp>
      <p:sp>
        <p:nvSpPr>
          <p:cNvPr id="4" name="Text 2"/>
          <p:cNvSpPr/>
          <p:nvPr/>
        </p:nvSpPr>
        <p:spPr>
          <a:xfrm>
            <a:off x="1028674" y="409565"/>
            <a:ext cx="1523962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Rhyan</a:t>
            </a:r>
            <a:pPr indent="0" marL="0">
              <a:buNone/>
            </a:pPr>
            <a:r>
              <a:rPr lang="en-US" sz="13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.dev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8572286" y="457189"/>
            <a:ext cx="300982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spc="15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RHYAN LEMOS Â· 03 / 12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5238619" y="1047724"/>
            <a:ext cx="1714457" cy="285743"/>
          </a:xfrm>
          <a:prstGeom prst="roundRect">
            <a:avLst>
              <a:gd name="adj" fmla="val 160004"/>
            </a:avLst>
          </a:prstGeom>
          <a:solidFill>
            <a:srgbClr val="2EF2B6">
              <a:alpha val="10000"/>
            </a:srgbClr>
          </a:solidFill>
          <a:ln w="9525">
            <a:solidFill>
              <a:srgbClr val="2EF2B6">
                <a:alpha val="3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314817" y="1123922"/>
            <a:ext cx="1562061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75" b="1" spc="100" kern="0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MINHA EVOLUÇÃO</a:t>
            </a:r>
            <a:endParaRPr lang="en-US" sz="675" dirty="0"/>
          </a:p>
        </p:txBody>
      </p:sp>
      <p:sp>
        <p:nvSpPr>
          <p:cNvPr id="8" name="Text 6"/>
          <p:cNvSpPr/>
          <p:nvPr/>
        </p:nvSpPr>
        <p:spPr>
          <a:xfrm>
            <a:off x="2285943" y="1600160"/>
            <a:ext cx="7619809" cy="609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3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Minha evolução</a:t>
            </a:r>
            <a:endParaRPr lang="en-US" sz="4350" dirty="0"/>
          </a:p>
        </p:txBody>
      </p:sp>
      <p:sp>
        <p:nvSpPr>
          <p:cNvPr id="9" name="Text 7"/>
          <p:cNvSpPr/>
          <p:nvPr/>
        </p:nvSpPr>
        <p:spPr>
          <a:xfrm>
            <a:off x="2285943" y="2133547"/>
            <a:ext cx="7619809" cy="609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3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profissional</a:t>
            </a:r>
            <a:endParaRPr lang="en-US" sz="4350" dirty="0"/>
          </a:p>
        </p:txBody>
      </p:sp>
      <p:sp>
        <p:nvSpPr>
          <p:cNvPr id="10" name="Text 8"/>
          <p:cNvSpPr/>
          <p:nvPr/>
        </p:nvSpPr>
        <p:spPr>
          <a:xfrm>
            <a:off x="2285943" y="2857429"/>
            <a:ext cx="7619809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 base técnica ao desenvolvimento full stack: experiências, projetos e próximos passos.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714457" y="4000400"/>
            <a:ext cx="8762781" cy="19050"/>
          </a:xfrm>
          <a:prstGeom prst="rect">
            <a:avLst/>
          </a:prstGeom>
          <a:solidFill>
            <a:srgbClr val="2EF2B6">
              <a:alpha val="4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657309" y="3943251"/>
            <a:ext cx="114297" cy="114297"/>
          </a:xfrm>
          <a:prstGeom prst="ellipse">
            <a:avLst/>
          </a:prstGeom>
          <a:solidFill>
            <a:srgbClr val="05080F"/>
          </a:solidFill>
          <a:ln w="12700">
            <a:solidFill>
              <a:srgbClr val="2EF2B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33467" y="4209945"/>
            <a:ext cx="761981" cy="30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42971" y="4514737"/>
            <a:ext cx="114297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spc="8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 TÉCNICA</a:t>
            </a:r>
            <a:endParaRPr lang="en-US" sz="600" dirty="0"/>
          </a:p>
        </p:txBody>
      </p:sp>
      <p:sp>
        <p:nvSpPr>
          <p:cNvPr id="15" name="Shape 13"/>
          <p:cNvSpPr/>
          <p:nvPr/>
        </p:nvSpPr>
        <p:spPr>
          <a:xfrm>
            <a:off x="3848004" y="3943251"/>
            <a:ext cx="114297" cy="114297"/>
          </a:xfrm>
          <a:prstGeom prst="ellipse">
            <a:avLst/>
          </a:prstGeom>
          <a:solidFill>
            <a:srgbClr val="05080F"/>
          </a:solidFill>
          <a:ln w="12700">
            <a:solidFill>
              <a:srgbClr val="2EF2B6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24162" y="4209945"/>
            <a:ext cx="761981" cy="30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333667" y="4514737"/>
            <a:ext cx="114297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spc="8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FREELANCE</a:t>
            </a:r>
            <a:endParaRPr lang="en-US" sz="600" dirty="0"/>
          </a:p>
        </p:txBody>
      </p:sp>
      <p:sp>
        <p:nvSpPr>
          <p:cNvPr id="18" name="Shape 16"/>
          <p:cNvSpPr/>
          <p:nvPr/>
        </p:nvSpPr>
        <p:spPr>
          <a:xfrm>
            <a:off x="6038699" y="3943251"/>
            <a:ext cx="114297" cy="114297"/>
          </a:xfrm>
          <a:prstGeom prst="ellipse">
            <a:avLst/>
          </a:prstGeom>
          <a:solidFill>
            <a:srgbClr val="05080F"/>
          </a:solidFill>
          <a:ln w="12700">
            <a:solidFill>
              <a:srgbClr val="2EF2B6">
                <a:alpha val="6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14857" y="4209945"/>
            <a:ext cx="761981" cy="30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524362" y="4514737"/>
            <a:ext cx="114297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spc="8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PROJETOS &amp; IA</a:t>
            </a:r>
            <a:endParaRPr lang="en-US" sz="600" dirty="0"/>
          </a:p>
        </p:txBody>
      </p:sp>
      <p:sp>
        <p:nvSpPr>
          <p:cNvPr id="21" name="Shape 19"/>
          <p:cNvSpPr/>
          <p:nvPr/>
        </p:nvSpPr>
        <p:spPr>
          <a:xfrm>
            <a:off x="8229394" y="3943251"/>
            <a:ext cx="114297" cy="114297"/>
          </a:xfrm>
          <a:prstGeom prst="ellipse">
            <a:avLst/>
          </a:prstGeom>
          <a:solidFill>
            <a:srgbClr val="05080F"/>
          </a:solidFill>
          <a:ln w="12700">
            <a:solidFill>
              <a:srgbClr val="2EF2B6">
                <a:alpha val="6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905552" y="4209945"/>
            <a:ext cx="761981" cy="30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715057" y="4514737"/>
            <a:ext cx="114297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spc="8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REVIO</a:t>
            </a:r>
            <a:endParaRPr lang="en-US" sz="600" dirty="0"/>
          </a:p>
        </p:txBody>
      </p:sp>
      <p:sp>
        <p:nvSpPr>
          <p:cNvPr id="24" name="Shape 22"/>
          <p:cNvSpPr/>
          <p:nvPr/>
        </p:nvSpPr>
        <p:spPr>
          <a:xfrm>
            <a:off x="10420089" y="3943251"/>
            <a:ext cx="114297" cy="114297"/>
          </a:xfrm>
          <a:prstGeom prst="ellipse">
            <a:avLst/>
          </a:prstGeom>
          <a:solidFill>
            <a:srgbClr val="2EF2B6"/>
          </a:solidFill>
          <a:ln w="12700">
            <a:solidFill>
              <a:srgbClr val="2EF2B6">
                <a:alpha val="6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96248" y="4209945"/>
            <a:ext cx="761981" cy="30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905752" y="4514737"/>
            <a:ext cx="114297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spc="8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ATUAL</a:t>
            </a:r>
            <a:endParaRPr lang="en-US" sz="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585" y="380990"/>
            <a:ext cx="323842" cy="323842"/>
          </a:xfrm>
          <a:prstGeom prst="roundRect">
            <a:avLst>
              <a:gd name="adj" fmla="val 79061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9585" y="400040"/>
            <a:ext cx="323842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75" b="1" dirty="0">
                <a:solidFill>
                  <a:srgbClr val="05080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</a:t>
            </a:r>
            <a:endParaRPr lang="en-US" sz="1275" dirty="0"/>
          </a:p>
        </p:txBody>
      </p:sp>
      <p:sp>
        <p:nvSpPr>
          <p:cNvPr id="4" name="Text 2"/>
          <p:cNvSpPr/>
          <p:nvPr/>
        </p:nvSpPr>
        <p:spPr>
          <a:xfrm>
            <a:off x="1028674" y="409565"/>
            <a:ext cx="1523962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Rhyan</a:t>
            </a:r>
            <a:pPr indent="0" marL="0">
              <a:buNone/>
            </a:pPr>
            <a:r>
              <a:rPr lang="en-US" sz="13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.dev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8572286" y="457189"/>
            <a:ext cx="300982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spc="15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RHYAN LEMOS Â· 04 / 12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609585" y="1104872"/>
            <a:ext cx="10972526" cy="495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Minha trajetória profissional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609585" y="1523962"/>
            <a:ext cx="10972526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75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 base técnica ao full stack: experiências, projetos e próximos passos.</a:t>
            </a:r>
            <a:endParaRPr lang="en-US" sz="975" dirty="0"/>
          </a:p>
        </p:txBody>
      </p:sp>
      <p:sp>
        <p:nvSpPr>
          <p:cNvPr id="8" name="Shape 6"/>
          <p:cNvSpPr/>
          <p:nvPr/>
        </p:nvSpPr>
        <p:spPr>
          <a:xfrm>
            <a:off x="609585" y="2095448"/>
            <a:ext cx="10972526" cy="19050"/>
          </a:xfrm>
          <a:prstGeom prst="rect">
            <a:avLst/>
          </a:prstGeom>
          <a:solidFill>
            <a:srgbClr val="2EF2B6">
              <a:alpha val="4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61961" y="2038299"/>
            <a:ext cx="95248" cy="95248"/>
          </a:xfrm>
          <a:prstGeom prst="ellipse">
            <a:avLst/>
          </a:prstGeom>
          <a:solidFill>
            <a:srgbClr val="05080F"/>
          </a:solidFill>
          <a:ln w="12700">
            <a:solidFill>
              <a:srgbClr val="2EF2B6">
                <a:alpha val="6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9585" y="2285943"/>
            <a:ext cx="2095448" cy="2857429"/>
          </a:xfrm>
          <a:prstGeom prst="roundRect">
            <a:avLst>
              <a:gd name="adj" fmla="val 2618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23882" y="2400240"/>
            <a:ext cx="1047724" cy="342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23882" y="2819330"/>
            <a:ext cx="1866853" cy="323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25"/>
              </a:lnSpc>
              <a:buNone/>
            </a:pPr>
            <a:r>
              <a:rPr lang="en-US" sz="7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Primeiros passos na tecnologia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723882" y="3162221"/>
            <a:ext cx="1866853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75"/>
              </a:lnSpc>
              <a:buNone/>
            </a:pPr>
            <a:r>
              <a:rPr lang="en-US" sz="525" spc="5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Somar · ENIAC</a:t>
            </a:r>
            <a:endParaRPr lang="en-US" sz="525" dirty="0"/>
          </a:p>
        </p:txBody>
      </p:sp>
      <p:sp>
        <p:nvSpPr>
          <p:cNvPr id="14" name="Text 12"/>
          <p:cNvSpPr/>
          <p:nvPr/>
        </p:nvSpPr>
        <p:spPr>
          <a:xfrm>
            <a:off x="723882" y="3467013"/>
            <a:ext cx="1866853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75"/>
              </a:lnSpc>
              <a:buNone/>
            </a:pPr>
            <a:r>
              <a:rPr lang="en-US" sz="60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â–¸ Suporte técnico e atendimento na Somar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723882" y="3752756"/>
            <a:ext cx="1866853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75"/>
              </a:lnSpc>
              <a:buNone/>
            </a:pPr>
            <a:r>
              <a:rPr lang="en-US" sz="60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â–¸ Desenvolvimento web no ENIAC</a:t>
            </a:r>
            <a:endParaRPr lang="en-US" sz="600" dirty="0"/>
          </a:p>
        </p:txBody>
      </p:sp>
      <p:sp>
        <p:nvSpPr>
          <p:cNvPr id="16" name="Text 14"/>
          <p:cNvSpPr/>
          <p:nvPr/>
        </p:nvSpPr>
        <p:spPr>
          <a:xfrm>
            <a:off x="723882" y="4038499"/>
            <a:ext cx="1866853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75"/>
              </a:lnSpc>
              <a:buNone/>
            </a:pPr>
            <a:r>
              <a:rPr lang="en-US" sz="60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â–¸ Técnico em Informática e lógica de programação</a:t>
            </a:r>
            <a:endParaRPr lang="en-US" sz="600" dirty="0"/>
          </a:p>
        </p:txBody>
      </p:sp>
      <p:sp>
        <p:nvSpPr>
          <p:cNvPr id="17" name="Text 15"/>
          <p:cNvSpPr/>
          <p:nvPr/>
        </p:nvSpPr>
        <p:spPr>
          <a:xfrm>
            <a:off x="723882" y="4724282"/>
            <a:ext cx="1866853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ts val="600"/>
              </a:lnSpc>
              <a:buNone/>
            </a:pPr>
            <a:r>
              <a:rPr lang="en-US" sz="488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Redes Â· Suporte Â· HTML Â· CSS Â· Git</a:t>
            </a:r>
            <a:endParaRPr lang="en-US" sz="488" dirty="0"/>
          </a:p>
        </p:txBody>
      </p:sp>
      <p:sp>
        <p:nvSpPr>
          <p:cNvPr id="18" name="Shape 16"/>
          <p:cNvSpPr/>
          <p:nvPr/>
        </p:nvSpPr>
        <p:spPr>
          <a:xfrm>
            <a:off x="2733607" y="2038299"/>
            <a:ext cx="95248" cy="95248"/>
          </a:xfrm>
          <a:prstGeom prst="ellipse">
            <a:avLst/>
          </a:prstGeom>
          <a:solidFill>
            <a:srgbClr val="05080F"/>
          </a:solidFill>
          <a:ln w="12700">
            <a:solidFill>
              <a:srgbClr val="2EF2B6">
                <a:alpha val="60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781230" y="2285943"/>
            <a:ext cx="2095448" cy="2857429"/>
          </a:xfrm>
          <a:prstGeom prst="roundRect">
            <a:avLst>
              <a:gd name="adj" fmla="val 2618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895528" y="2400240"/>
            <a:ext cx="1047724" cy="342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2895528" y="2819330"/>
            <a:ext cx="1866853" cy="323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25"/>
              </a:lnSpc>
              <a:buNone/>
            </a:pPr>
            <a:r>
              <a:rPr lang="en-US" sz="7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Freelance e graduação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2895528" y="3162221"/>
            <a:ext cx="1866853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75"/>
              </a:lnSpc>
              <a:buNone/>
            </a:pPr>
            <a:r>
              <a:rPr lang="en-US" sz="525" spc="5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Projetos sob demanda · ENIAC</a:t>
            </a:r>
            <a:endParaRPr lang="en-US" sz="525" dirty="0"/>
          </a:p>
        </p:txBody>
      </p:sp>
      <p:sp>
        <p:nvSpPr>
          <p:cNvPr id="23" name="Text 21"/>
          <p:cNvSpPr/>
          <p:nvPr/>
        </p:nvSpPr>
        <p:spPr>
          <a:xfrm>
            <a:off x="2895528" y="3467013"/>
            <a:ext cx="1866853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75"/>
              </a:lnSpc>
              <a:buNone/>
            </a:pPr>
            <a:r>
              <a:rPr lang="en-US" sz="60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â–¸ Freelances e soluções sob demanda</a:t>
            </a:r>
            <a:endParaRPr lang="en-US" sz="600" dirty="0"/>
          </a:p>
        </p:txBody>
      </p:sp>
      <p:sp>
        <p:nvSpPr>
          <p:cNvPr id="24" name="Text 22"/>
          <p:cNvSpPr/>
          <p:nvPr/>
        </p:nvSpPr>
        <p:spPr>
          <a:xfrm>
            <a:off x="2895528" y="3752756"/>
            <a:ext cx="1866853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75"/>
              </a:lnSpc>
              <a:buNone/>
            </a:pPr>
            <a:r>
              <a:rPr lang="en-US" sz="60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â–¸ Graduação em Sistemas de Informação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2895528" y="4038499"/>
            <a:ext cx="1866853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75"/>
              </a:lnSpc>
              <a:buNone/>
            </a:pPr>
            <a:r>
              <a:rPr lang="en-US" sz="60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â–¸ APIs RESTful com PHP e Node.js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2895528" y="4724282"/>
            <a:ext cx="1866853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ts val="600"/>
              </a:lnSpc>
              <a:buNone/>
            </a:pPr>
            <a:r>
              <a:rPr lang="en-US" sz="488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PHP Â· Node.js Â· MySQL Â· MVC</a:t>
            </a:r>
            <a:endParaRPr lang="en-US" sz="488" dirty="0"/>
          </a:p>
        </p:txBody>
      </p:sp>
      <p:sp>
        <p:nvSpPr>
          <p:cNvPr id="27" name="Shape 25"/>
          <p:cNvSpPr/>
          <p:nvPr/>
        </p:nvSpPr>
        <p:spPr>
          <a:xfrm>
            <a:off x="4905252" y="2038299"/>
            <a:ext cx="95248" cy="95248"/>
          </a:xfrm>
          <a:prstGeom prst="ellipse">
            <a:avLst/>
          </a:prstGeom>
          <a:solidFill>
            <a:srgbClr val="05080F"/>
          </a:solidFill>
          <a:ln w="12700">
            <a:solidFill>
              <a:srgbClr val="2EF2B6">
                <a:alpha val="6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52876" y="2285943"/>
            <a:ext cx="2095448" cy="2857429"/>
          </a:xfrm>
          <a:prstGeom prst="roundRect">
            <a:avLst>
              <a:gd name="adj" fmla="val 2618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067173" y="2400240"/>
            <a:ext cx="1047724" cy="342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5067173" y="2819330"/>
            <a:ext cx="1866853" cy="323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25"/>
              </a:lnSpc>
              <a:buNone/>
            </a:pPr>
            <a:r>
              <a:rPr lang="en-US" sz="7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Projetos reais e IA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5067173" y="3162221"/>
            <a:ext cx="1866853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75"/>
              </a:lnSpc>
              <a:buNone/>
            </a:pPr>
            <a:r>
              <a:rPr lang="en-US" sz="525" spc="5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Strong-Tech · Hackathons</a:t>
            </a:r>
            <a:endParaRPr lang="en-US" sz="525" dirty="0"/>
          </a:p>
        </p:txBody>
      </p:sp>
      <p:sp>
        <p:nvSpPr>
          <p:cNvPr id="32" name="Text 30"/>
          <p:cNvSpPr/>
          <p:nvPr/>
        </p:nvSpPr>
        <p:spPr>
          <a:xfrm>
            <a:off x="5067173" y="3467013"/>
            <a:ext cx="1866853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75"/>
              </a:lnSpc>
              <a:buNone/>
            </a:pPr>
            <a:r>
              <a:rPr lang="en-US" sz="60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â–¸ Manutenção de hardware e diagnóstico na Strong-Tech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5067173" y="3752756"/>
            <a:ext cx="1866853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75"/>
              </a:lnSpc>
              <a:buNone/>
            </a:pPr>
            <a:r>
              <a:rPr lang="en-US" sz="60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â–¸ Projeto TONI: chatbot com IA integrado ao WhatsApp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5067173" y="4038499"/>
            <a:ext cx="1866853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75"/>
              </a:lnSpc>
              <a:buNone/>
            </a:pPr>
            <a:r>
              <a:rPr lang="en-US" sz="60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â–¸ Kafnet: prototipação e entrega ágil</a:t>
            </a:r>
            <a:endParaRPr lang="en-US" sz="600" dirty="0"/>
          </a:p>
        </p:txBody>
      </p:sp>
      <p:sp>
        <p:nvSpPr>
          <p:cNvPr id="35" name="Text 33"/>
          <p:cNvSpPr/>
          <p:nvPr/>
        </p:nvSpPr>
        <p:spPr>
          <a:xfrm>
            <a:off x="5067173" y="4724282"/>
            <a:ext cx="1866853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ts val="600"/>
              </a:lnSpc>
              <a:buNone/>
            </a:pPr>
            <a:r>
              <a:rPr lang="en-US" sz="488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 Â· WhatsApp Â· Prototipação Â· GitHub</a:t>
            </a:r>
            <a:endParaRPr lang="en-US" sz="488" dirty="0"/>
          </a:p>
        </p:txBody>
      </p:sp>
      <p:sp>
        <p:nvSpPr>
          <p:cNvPr id="36" name="Shape 34"/>
          <p:cNvSpPr/>
          <p:nvPr/>
        </p:nvSpPr>
        <p:spPr>
          <a:xfrm>
            <a:off x="7076898" y="2038299"/>
            <a:ext cx="95248" cy="95248"/>
          </a:xfrm>
          <a:prstGeom prst="ellipse">
            <a:avLst/>
          </a:prstGeom>
          <a:solidFill>
            <a:srgbClr val="05080F"/>
          </a:solidFill>
          <a:ln w="12700">
            <a:solidFill>
              <a:srgbClr val="2EF2B6">
                <a:alpha val="60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124522" y="2285943"/>
            <a:ext cx="2095448" cy="2857429"/>
          </a:xfrm>
          <a:prstGeom prst="roundRect">
            <a:avLst>
              <a:gd name="adj" fmla="val 2618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238819" y="2400240"/>
            <a:ext cx="1047724" cy="342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7238819" y="2819330"/>
            <a:ext cx="1866853" cy="323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25"/>
              </a:lnSpc>
              <a:buNone/>
            </a:pPr>
            <a:r>
              <a:rPr lang="en-US" sz="7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Desenvolvedor Full Stack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7238819" y="3162221"/>
            <a:ext cx="1866853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75"/>
              </a:lnSpc>
              <a:buNone/>
            </a:pPr>
            <a:r>
              <a:rPr lang="en-US" sz="525" spc="5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REVIO Tecnologia · 2025</a:t>
            </a:r>
            <a:endParaRPr lang="en-US" sz="525" dirty="0"/>
          </a:p>
        </p:txBody>
      </p:sp>
      <p:sp>
        <p:nvSpPr>
          <p:cNvPr id="41" name="Text 39"/>
          <p:cNvSpPr/>
          <p:nvPr/>
        </p:nvSpPr>
        <p:spPr>
          <a:xfrm>
            <a:off x="7238819" y="3467013"/>
            <a:ext cx="1866853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75"/>
              </a:lnSpc>
              <a:buNone/>
            </a:pPr>
            <a:r>
              <a:rPr lang="en-US" sz="60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â–¸ Desenvolvimento e sustentação de aplicações e APIs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7238819" y="3752756"/>
            <a:ext cx="1866853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75"/>
              </a:lnSpc>
              <a:buNone/>
            </a:pPr>
            <a:r>
              <a:rPr lang="en-US" sz="60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â–¸ Performance, débitos técnicos e versionamento com Git</a:t>
            </a:r>
            <a:endParaRPr lang="en-US" sz="600" dirty="0"/>
          </a:p>
        </p:txBody>
      </p:sp>
      <p:sp>
        <p:nvSpPr>
          <p:cNvPr id="43" name="Text 41"/>
          <p:cNvSpPr/>
          <p:nvPr/>
        </p:nvSpPr>
        <p:spPr>
          <a:xfrm>
            <a:off x="7238819" y="4038499"/>
            <a:ext cx="1866853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75"/>
              </a:lnSpc>
              <a:buNone/>
            </a:pPr>
            <a:r>
              <a:rPr lang="en-US" sz="60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â–¸ Febraban Tech, AB2L LawTech e workshops de IA</a:t>
            </a:r>
            <a:endParaRPr lang="en-US" sz="600" dirty="0"/>
          </a:p>
        </p:txBody>
      </p:sp>
      <p:sp>
        <p:nvSpPr>
          <p:cNvPr id="44" name="Text 42"/>
          <p:cNvSpPr/>
          <p:nvPr/>
        </p:nvSpPr>
        <p:spPr>
          <a:xfrm>
            <a:off x="7238819" y="4724282"/>
            <a:ext cx="1866853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ts val="600"/>
              </a:lnSpc>
              <a:buNone/>
            </a:pPr>
            <a:r>
              <a:rPr lang="en-US" sz="488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Python Â· TypeScript Â· JavaScript Â· Docker Â· Docker Compose Â· Tailwind CSS Â· HTML Â· Figma Â· QA</a:t>
            </a:r>
            <a:endParaRPr lang="en-US" sz="488" dirty="0"/>
          </a:p>
        </p:txBody>
      </p:sp>
      <p:sp>
        <p:nvSpPr>
          <p:cNvPr id="45" name="Shape 43"/>
          <p:cNvSpPr/>
          <p:nvPr/>
        </p:nvSpPr>
        <p:spPr>
          <a:xfrm>
            <a:off x="9248544" y="2038299"/>
            <a:ext cx="95248" cy="95248"/>
          </a:xfrm>
          <a:prstGeom prst="ellipse">
            <a:avLst/>
          </a:prstGeom>
          <a:solidFill>
            <a:srgbClr val="2EF2B6"/>
          </a:solidFill>
          <a:ln w="12700">
            <a:solidFill>
              <a:srgbClr val="2EF2B6">
                <a:alpha val="6000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9296168" y="2285943"/>
            <a:ext cx="2095448" cy="2857429"/>
          </a:xfrm>
          <a:prstGeom prst="roundRect">
            <a:avLst>
              <a:gd name="adj" fmla="val 2618"/>
            </a:avLst>
          </a:prstGeom>
          <a:solidFill>
            <a:srgbClr val="2EF2B6">
              <a:alpha val="6000"/>
            </a:srgbClr>
          </a:solidFill>
          <a:ln w="9525">
            <a:solidFill>
              <a:srgbClr val="2EF2B6">
                <a:alpha val="22000"/>
              </a:srgbClr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410465" y="2400240"/>
            <a:ext cx="1047724" cy="342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</a:t>
            </a:r>
            <a:endParaRPr lang="en-US" sz="1800" dirty="0"/>
          </a:p>
        </p:txBody>
      </p:sp>
      <p:sp>
        <p:nvSpPr>
          <p:cNvPr id="48" name="Shape 46"/>
          <p:cNvSpPr/>
          <p:nvPr/>
        </p:nvSpPr>
        <p:spPr>
          <a:xfrm>
            <a:off x="10362941" y="2457389"/>
            <a:ext cx="495288" cy="209545"/>
          </a:xfrm>
          <a:prstGeom prst="roundRect">
            <a:avLst>
              <a:gd name="adj" fmla="val 218187"/>
            </a:avLst>
          </a:prstGeom>
          <a:solidFill>
            <a:srgbClr val="2EF2B6">
              <a:alpha val="10000"/>
            </a:srgbClr>
          </a:solidFill>
          <a:ln w="6350">
            <a:solidFill>
              <a:srgbClr val="2EF2B6">
                <a:alpha val="28000"/>
              </a:srgbClr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0420089" y="2495488"/>
            <a:ext cx="380990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ATUAL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9410465" y="2819330"/>
            <a:ext cx="1866853" cy="323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25"/>
              </a:lnSpc>
              <a:buNone/>
            </a:pPr>
            <a:r>
              <a:rPr lang="en-US" sz="7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Consolidação técnica</a:t>
            </a:r>
            <a:endParaRPr lang="en-US" sz="750" dirty="0"/>
          </a:p>
        </p:txBody>
      </p:sp>
      <p:sp>
        <p:nvSpPr>
          <p:cNvPr id="51" name="Text 49"/>
          <p:cNvSpPr/>
          <p:nvPr/>
        </p:nvSpPr>
        <p:spPr>
          <a:xfrm>
            <a:off x="9410465" y="3162221"/>
            <a:ext cx="1866853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75"/>
              </a:lnSpc>
              <a:buNone/>
            </a:pPr>
            <a:r>
              <a:rPr lang="en-US" sz="525" spc="5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REVIO Tecnologia · 2026</a:t>
            </a:r>
            <a:endParaRPr lang="en-US" sz="525" dirty="0"/>
          </a:p>
        </p:txBody>
      </p:sp>
      <p:sp>
        <p:nvSpPr>
          <p:cNvPr id="52" name="Text 50"/>
          <p:cNvSpPr/>
          <p:nvPr/>
        </p:nvSpPr>
        <p:spPr>
          <a:xfrm>
            <a:off x="9410465" y="3467013"/>
            <a:ext cx="1866853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75"/>
              </a:lnSpc>
              <a:buNone/>
            </a:pPr>
            <a:r>
              <a:rPr lang="en-US" sz="60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â–¸ Certificação Azure Pipelines (10/2026)</a:t>
            </a:r>
            <a:endParaRPr lang="en-US" sz="600" dirty="0"/>
          </a:p>
        </p:txBody>
      </p:sp>
      <p:sp>
        <p:nvSpPr>
          <p:cNvPr id="53" name="Text 51"/>
          <p:cNvSpPr/>
          <p:nvPr/>
        </p:nvSpPr>
        <p:spPr>
          <a:xfrm>
            <a:off x="9410465" y="3752756"/>
            <a:ext cx="1866853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75"/>
              </a:lnSpc>
              <a:buNone/>
            </a:pPr>
            <a:r>
              <a:rPr lang="en-US" sz="60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â–¸ Formação para a Primeira Liderança (FM2S)</a:t>
            </a:r>
            <a:endParaRPr lang="en-US" sz="600" dirty="0"/>
          </a:p>
        </p:txBody>
      </p:sp>
      <p:sp>
        <p:nvSpPr>
          <p:cNvPr id="54" name="Text 52"/>
          <p:cNvSpPr/>
          <p:nvPr/>
        </p:nvSpPr>
        <p:spPr>
          <a:xfrm>
            <a:off x="9410465" y="4038499"/>
            <a:ext cx="1866853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75"/>
              </a:lnSpc>
              <a:buNone/>
            </a:pPr>
            <a:r>
              <a:rPr lang="en-US" sz="60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â–¸ Projetos com React, TypeScript e automação</a:t>
            </a:r>
            <a:endParaRPr lang="en-US" sz="600" dirty="0"/>
          </a:p>
        </p:txBody>
      </p:sp>
      <p:sp>
        <p:nvSpPr>
          <p:cNvPr id="55" name="Text 53"/>
          <p:cNvSpPr/>
          <p:nvPr/>
        </p:nvSpPr>
        <p:spPr>
          <a:xfrm>
            <a:off x="9410465" y="4724282"/>
            <a:ext cx="1866853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ts val="600"/>
              </a:lnSpc>
              <a:buNone/>
            </a:pPr>
            <a:r>
              <a:rPr lang="en-US" sz="488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Azure Â· CI/CD Â· Kubernetes Â· Estudos de IA Â· Arquitetura Â· Liderança Â· Mentoria Â· QA Â· Figma Â· Coleta e maturação de feedback</a:t>
            </a:r>
            <a:endParaRPr lang="en-US" sz="488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585" y="380990"/>
            <a:ext cx="323842" cy="323842"/>
          </a:xfrm>
          <a:prstGeom prst="roundRect">
            <a:avLst>
              <a:gd name="adj" fmla="val 79061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9585" y="400040"/>
            <a:ext cx="323842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75" b="1" dirty="0">
                <a:solidFill>
                  <a:srgbClr val="05080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</a:t>
            </a:r>
            <a:endParaRPr lang="en-US" sz="1275" dirty="0"/>
          </a:p>
        </p:txBody>
      </p:sp>
      <p:sp>
        <p:nvSpPr>
          <p:cNvPr id="4" name="Text 2"/>
          <p:cNvSpPr/>
          <p:nvPr/>
        </p:nvSpPr>
        <p:spPr>
          <a:xfrm>
            <a:off x="1028674" y="409565"/>
            <a:ext cx="1523962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Rhyan</a:t>
            </a:r>
            <a:pPr indent="0" marL="0">
              <a:buNone/>
            </a:pPr>
            <a:r>
              <a:rPr lang="en-US" sz="13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.dev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8572286" y="457189"/>
            <a:ext cx="300982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spc="15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RHYAN LEMOS Â· 05 / 12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609585" y="1104872"/>
            <a:ext cx="10972526" cy="495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Certificados &amp; habilidades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609585" y="1523962"/>
            <a:ext cx="10972526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75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certificados em destaque Â· 100+ no total.</a:t>
            </a:r>
            <a:endParaRPr lang="en-US" sz="975" dirty="0"/>
          </a:p>
        </p:txBody>
      </p:sp>
      <p:sp>
        <p:nvSpPr>
          <p:cNvPr id="8" name="Shape 6"/>
          <p:cNvSpPr/>
          <p:nvPr/>
        </p:nvSpPr>
        <p:spPr>
          <a:xfrm>
            <a:off x="609585" y="1809705"/>
            <a:ext cx="2857429" cy="4286143"/>
          </a:xfrm>
          <a:prstGeom prst="roundRect">
            <a:avLst>
              <a:gd name="adj" fmla="val 1920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0080" y="2019250"/>
            <a:ext cx="2381190" cy="8572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100+</a:t>
            </a:r>
            <a:endParaRPr lang="en-US" sz="4650" dirty="0"/>
          </a:p>
        </p:txBody>
      </p:sp>
      <p:sp>
        <p:nvSpPr>
          <p:cNvPr id="10" name="Text 8"/>
          <p:cNvSpPr/>
          <p:nvPr/>
        </p:nvSpPr>
        <p:spPr>
          <a:xfrm>
            <a:off x="800080" y="2876478"/>
            <a:ext cx="2381190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5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certificações e cursos</a:t>
            </a:r>
            <a:endParaRPr lang="en-US" sz="1125" dirty="0"/>
          </a:p>
        </p:txBody>
      </p:sp>
      <p:sp>
        <p:nvSpPr>
          <p:cNvPr id="11" name="Text 9"/>
          <p:cNvSpPr/>
          <p:nvPr/>
        </p:nvSpPr>
        <p:spPr>
          <a:xfrm>
            <a:off x="800080" y="3162221"/>
            <a:ext cx="2428814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63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Cloud, segurança, desenvolvimento, IA, gestão e idiomas.</a:t>
            </a:r>
            <a:endParaRPr lang="en-US" sz="863" dirty="0"/>
          </a:p>
        </p:txBody>
      </p:sp>
      <p:sp>
        <p:nvSpPr>
          <p:cNvPr id="12" name="Text 10"/>
          <p:cNvSpPr/>
          <p:nvPr/>
        </p:nvSpPr>
        <p:spPr>
          <a:xfrm>
            <a:off x="800080" y="3905152"/>
            <a:ext cx="2381190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8" spc="10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LINGUAGENS</a:t>
            </a:r>
            <a:endParaRPr lang="en-US" sz="638" dirty="0"/>
          </a:p>
        </p:txBody>
      </p:sp>
      <p:sp>
        <p:nvSpPr>
          <p:cNvPr id="13" name="Shape 11"/>
          <p:cNvSpPr/>
          <p:nvPr/>
        </p:nvSpPr>
        <p:spPr>
          <a:xfrm>
            <a:off x="800080" y="4057549"/>
            <a:ext cx="400040" cy="209545"/>
          </a:xfrm>
          <a:prstGeom prst="roundRect">
            <a:avLst>
              <a:gd name="adj" fmla="val 218187"/>
            </a:avLst>
          </a:prstGeom>
          <a:solidFill>
            <a:srgbClr val="2EF2B6">
              <a:alpha val="10000"/>
            </a:srgbClr>
          </a:solidFill>
          <a:ln w="6350">
            <a:solidFill>
              <a:srgbClr val="2EF2B6">
                <a:alpha val="28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7229" y="4095648"/>
            <a:ext cx="285743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PHP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1257269" y="4057549"/>
            <a:ext cx="506717" cy="209545"/>
          </a:xfrm>
          <a:prstGeom prst="roundRect">
            <a:avLst>
              <a:gd name="adj" fmla="val 218187"/>
            </a:avLst>
          </a:prstGeom>
          <a:solidFill>
            <a:srgbClr val="2EF2B6">
              <a:alpha val="10000"/>
            </a:srgbClr>
          </a:solidFill>
          <a:ln w="6350">
            <a:solidFill>
              <a:srgbClr val="2EF2B6">
                <a:alpha val="28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14417" y="4095648"/>
            <a:ext cx="392420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Python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800080" y="4324242"/>
            <a:ext cx="1510627" cy="209545"/>
          </a:xfrm>
          <a:prstGeom prst="roundRect">
            <a:avLst>
              <a:gd name="adj" fmla="val 218187"/>
            </a:avLst>
          </a:prstGeom>
          <a:solidFill>
            <a:srgbClr val="2EF2B6">
              <a:alpha val="10000"/>
            </a:srgbClr>
          </a:solidFill>
          <a:ln w="6350">
            <a:solidFill>
              <a:srgbClr val="2EF2B6">
                <a:alpha val="28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7229" y="4362341"/>
            <a:ext cx="1396330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JavaScript / TypeScript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800080" y="4724282"/>
            <a:ext cx="2381190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8" spc="10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 &amp; DEVOPS</a:t>
            </a:r>
            <a:endParaRPr lang="en-US" sz="638" dirty="0"/>
          </a:p>
        </p:txBody>
      </p:sp>
      <p:sp>
        <p:nvSpPr>
          <p:cNvPr id="20" name="Shape 18"/>
          <p:cNvSpPr/>
          <p:nvPr/>
        </p:nvSpPr>
        <p:spPr>
          <a:xfrm>
            <a:off x="800080" y="4876678"/>
            <a:ext cx="506717" cy="209545"/>
          </a:xfrm>
          <a:prstGeom prst="roundRect">
            <a:avLst>
              <a:gd name="adj" fmla="val 218187"/>
            </a:avLst>
          </a:prstGeom>
          <a:solidFill>
            <a:srgbClr val="2EF2B6">
              <a:alpha val="10000"/>
            </a:srgbClr>
          </a:solidFill>
          <a:ln w="6350">
            <a:solidFill>
              <a:srgbClr val="2EF2B6">
                <a:alpha val="28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7229" y="4914777"/>
            <a:ext cx="392420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Docker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1363946" y="4876678"/>
            <a:ext cx="979146" cy="209545"/>
          </a:xfrm>
          <a:prstGeom prst="roundRect">
            <a:avLst>
              <a:gd name="adj" fmla="val 218187"/>
            </a:avLst>
          </a:prstGeom>
          <a:solidFill>
            <a:srgbClr val="2EF2B6">
              <a:alpha val="10000"/>
            </a:srgbClr>
          </a:solidFill>
          <a:ln w="6350">
            <a:solidFill>
              <a:srgbClr val="2EF2B6">
                <a:alpha val="2800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421094" y="4914777"/>
            <a:ext cx="864848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Actions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2400240" y="4876678"/>
            <a:ext cx="447664" cy="209545"/>
          </a:xfrm>
          <a:prstGeom prst="roundRect">
            <a:avLst>
              <a:gd name="adj" fmla="val 218187"/>
            </a:avLst>
          </a:prstGeom>
          <a:solidFill>
            <a:srgbClr val="2EF2B6">
              <a:alpha val="10000"/>
            </a:srgbClr>
          </a:solidFill>
          <a:ln w="6350">
            <a:solidFill>
              <a:srgbClr val="2EF2B6">
                <a:alpha val="28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457389" y="4914777"/>
            <a:ext cx="333367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CI/CD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800080" y="5143371"/>
            <a:ext cx="447664" cy="209545"/>
          </a:xfrm>
          <a:prstGeom prst="roundRect">
            <a:avLst>
              <a:gd name="adj" fmla="val 218187"/>
            </a:avLst>
          </a:prstGeom>
          <a:solidFill>
            <a:srgbClr val="2EF2B6">
              <a:alpha val="10000"/>
            </a:srgbClr>
          </a:solidFill>
          <a:ln w="6350">
            <a:solidFill>
              <a:srgbClr val="2EF2B6">
                <a:alpha val="28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7229" y="5181470"/>
            <a:ext cx="333367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Azure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800080" y="5543411"/>
            <a:ext cx="2381190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8" spc="10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 &amp; DADOS</a:t>
            </a:r>
            <a:endParaRPr lang="en-US" sz="638" dirty="0"/>
          </a:p>
        </p:txBody>
      </p:sp>
      <p:sp>
        <p:nvSpPr>
          <p:cNvPr id="29" name="Shape 27"/>
          <p:cNvSpPr/>
          <p:nvPr/>
        </p:nvSpPr>
        <p:spPr>
          <a:xfrm>
            <a:off x="800080" y="5695808"/>
            <a:ext cx="447664" cy="209545"/>
          </a:xfrm>
          <a:prstGeom prst="roundRect">
            <a:avLst>
              <a:gd name="adj" fmla="val 218187"/>
            </a:avLst>
          </a:prstGeom>
          <a:solidFill>
            <a:srgbClr val="2EF2B6">
              <a:alpha val="10000"/>
            </a:srgbClr>
          </a:solidFill>
          <a:ln w="6350">
            <a:solidFill>
              <a:srgbClr val="2EF2B6">
                <a:alpha val="28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57229" y="5733907"/>
            <a:ext cx="333367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React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1304892" y="5695808"/>
            <a:ext cx="624824" cy="209545"/>
          </a:xfrm>
          <a:prstGeom prst="roundRect">
            <a:avLst>
              <a:gd name="adj" fmla="val 218187"/>
            </a:avLst>
          </a:prstGeom>
          <a:solidFill>
            <a:srgbClr val="2EF2B6">
              <a:alpha val="10000"/>
            </a:srgbClr>
          </a:solidFill>
          <a:ln w="6350">
            <a:solidFill>
              <a:srgbClr val="2EF2B6">
                <a:alpha val="2800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362041" y="5733907"/>
            <a:ext cx="510527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Tailwind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1986865" y="5695808"/>
            <a:ext cx="683878" cy="209545"/>
          </a:xfrm>
          <a:prstGeom prst="roundRect">
            <a:avLst>
              <a:gd name="adj" fmla="val 218187"/>
            </a:avLst>
          </a:prstGeom>
          <a:solidFill>
            <a:srgbClr val="2EF2B6">
              <a:alpha val="10000"/>
            </a:srgbClr>
          </a:solidFill>
          <a:ln w="6350">
            <a:solidFill>
              <a:srgbClr val="2EF2B6">
                <a:alpha val="2800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44014" y="5733907"/>
            <a:ext cx="569581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APIs REST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2727892" y="5695808"/>
            <a:ext cx="400040" cy="209545"/>
          </a:xfrm>
          <a:prstGeom prst="roundRect">
            <a:avLst>
              <a:gd name="adj" fmla="val 218187"/>
            </a:avLst>
          </a:prstGeom>
          <a:solidFill>
            <a:srgbClr val="2EF2B6">
              <a:alpha val="10000"/>
            </a:srgbClr>
          </a:solidFill>
          <a:ln w="6350">
            <a:solidFill>
              <a:srgbClr val="2EF2B6">
                <a:alpha val="2800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85040" y="5733907"/>
            <a:ext cx="285743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SQL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3676558" y="1809705"/>
            <a:ext cx="2533587" cy="4286143"/>
          </a:xfrm>
          <a:prstGeom prst="roundRect">
            <a:avLst>
              <a:gd name="adj" fmla="val 2165"/>
            </a:avLst>
          </a:prstGeom>
          <a:solidFill>
            <a:srgbClr val="8B5CF6">
              <a:alpha val="6000"/>
            </a:srgbClr>
          </a:solidFill>
          <a:ln w="9525">
            <a:solidFill>
              <a:srgbClr val="8B5CF6">
                <a:alpha val="2200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809905" y="1943051"/>
            <a:ext cx="1809705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8" b="1" spc="100" kern="0" dirty="0">
                <a:solidFill>
                  <a:srgbClr val="8B5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 &amp; DEVOPS</a:t>
            </a:r>
            <a:endParaRPr lang="en-US" sz="638" dirty="0"/>
          </a:p>
        </p:txBody>
      </p:sp>
      <p:sp>
        <p:nvSpPr>
          <p:cNvPr id="39" name="Text 37"/>
          <p:cNvSpPr/>
          <p:nvPr/>
        </p:nvSpPr>
        <p:spPr>
          <a:xfrm>
            <a:off x="5867253" y="1943051"/>
            <a:ext cx="209545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8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638" dirty="0"/>
          </a:p>
        </p:txBody>
      </p:sp>
      <p:sp>
        <p:nvSpPr>
          <p:cNvPr id="40" name="Text 38"/>
          <p:cNvSpPr/>
          <p:nvPr/>
        </p:nvSpPr>
        <p:spPr>
          <a:xfrm>
            <a:off x="3809905" y="2209745"/>
            <a:ext cx="2266893" cy="95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spc="8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UDEMY</a:t>
            </a:r>
            <a:endParaRPr lang="en-US" sz="600" dirty="0"/>
          </a:p>
        </p:txBody>
      </p:sp>
      <p:sp>
        <p:nvSpPr>
          <p:cNvPr id="41" name="Text 39"/>
          <p:cNvSpPr/>
          <p:nvPr/>
        </p:nvSpPr>
        <p:spPr>
          <a:xfrm>
            <a:off x="3809905" y="2304992"/>
            <a:ext cx="2266893" cy="247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00"/>
              </a:lnSpc>
              <a:buNone/>
            </a:pPr>
            <a:r>
              <a:rPr lang="en-US" sz="788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Azure Pipelines — CI/CD, Docker e Kubernetes</a:t>
            </a:r>
            <a:endParaRPr lang="en-US" sz="788" dirty="0"/>
          </a:p>
        </p:txBody>
      </p:sp>
      <p:sp>
        <p:nvSpPr>
          <p:cNvPr id="42" name="Text 40"/>
          <p:cNvSpPr/>
          <p:nvPr/>
        </p:nvSpPr>
        <p:spPr>
          <a:xfrm>
            <a:off x="3809905" y="2571686"/>
            <a:ext cx="2266893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63"/>
              </a:lnSpc>
              <a:buNone/>
            </a:pPr>
            <a:r>
              <a:rPr lang="en-US" sz="713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CI/CD, containers e orquestração no Azure DevOps.</a:t>
            </a:r>
            <a:endParaRPr lang="en-US" sz="713" dirty="0"/>
          </a:p>
        </p:txBody>
      </p:sp>
      <p:sp>
        <p:nvSpPr>
          <p:cNvPr id="43" name="Text 41"/>
          <p:cNvSpPr/>
          <p:nvPr/>
        </p:nvSpPr>
        <p:spPr>
          <a:xfrm>
            <a:off x="3809905" y="2857429"/>
            <a:ext cx="2266893" cy="95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spc="8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· DIO</a:t>
            </a:r>
            <a:endParaRPr lang="en-US" sz="600" dirty="0"/>
          </a:p>
        </p:txBody>
      </p:sp>
      <p:sp>
        <p:nvSpPr>
          <p:cNvPr id="44" name="Text 42"/>
          <p:cNvSpPr/>
          <p:nvPr/>
        </p:nvSpPr>
        <p:spPr>
          <a:xfrm>
            <a:off x="3809905" y="2952676"/>
            <a:ext cx="2266893" cy="247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00"/>
              </a:lnSpc>
              <a:buNone/>
            </a:pPr>
            <a:r>
              <a:rPr lang="en-US" sz="788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Introdução a AZ-204</a:t>
            </a:r>
            <a:endParaRPr lang="en-US" sz="788" dirty="0"/>
          </a:p>
        </p:txBody>
      </p:sp>
      <p:sp>
        <p:nvSpPr>
          <p:cNvPr id="45" name="Text 43"/>
          <p:cNvSpPr/>
          <p:nvPr/>
        </p:nvSpPr>
        <p:spPr>
          <a:xfrm>
            <a:off x="3809905" y="3219370"/>
            <a:ext cx="2266893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63"/>
              </a:lnSpc>
              <a:buNone/>
            </a:pPr>
            <a:r>
              <a:rPr lang="en-US" sz="713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Fundamentos para desenvolver soluções no Azure.</a:t>
            </a:r>
            <a:endParaRPr lang="en-US" sz="713" dirty="0"/>
          </a:p>
        </p:txBody>
      </p:sp>
      <p:sp>
        <p:nvSpPr>
          <p:cNvPr id="46" name="Text 44"/>
          <p:cNvSpPr/>
          <p:nvPr/>
        </p:nvSpPr>
        <p:spPr>
          <a:xfrm>
            <a:off x="3809905" y="3505112"/>
            <a:ext cx="2266893" cy="95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spc="8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· DIO</a:t>
            </a:r>
            <a:endParaRPr lang="en-US" sz="600" dirty="0"/>
          </a:p>
        </p:txBody>
      </p:sp>
      <p:sp>
        <p:nvSpPr>
          <p:cNvPr id="47" name="Text 45"/>
          <p:cNvSpPr/>
          <p:nvPr/>
        </p:nvSpPr>
        <p:spPr>
          <a:xfrm>
            <a:off x="3809905" y="3600360"/>
            <a:ext cx="2266893" cy="247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00"/>
              </a:lnSpc>
              <a:buNone/>
            </a:pPr>
            <a:r>
              <a:rPr lang="en-US" sz="788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Implementando o Azure Functions</a:t>
            </a:r>
            <a:endParaRPr lang="en-US" sz="788" dirty="0"/>
          </a:p>
        </p:txBody>
      </p:sp>
      <p:sp>
        <p:nvSpPr>
          <p:cNvPr id="48" name="Text 46"/>
          <p:cNvSpPr/>
          <p:nvPr/>
        </p:nvSpPr>
        <p:spPr>
          <a:xfrm>
            <a:off x="3809905" y="3867053"/>
            <a:ext cx="2266893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63"/>
              </a:lnSpc>
              <a:buNone/>
            </a:pPr>
            <a:r>
              <a:rPr lang="en-US" sz="713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APIs serverless e processamento orientado a eventos.</a:t>
            </a:r>
            <a:endParaRPr lang="en-US" sz="713" dirty="0"/>
          </a:p>
        </p:txBody>
      </p:sp>
      <p:sp>
        <p:nvSpPr>
          <p:cNvPr id="49" name="Text 47"/>
          <p:cNvSpPr/>
          <p:nvPr/>
        </p:nvSpPr>
        <p:spPr>
          <a:xfrm>
            <a:off x="3809905" y="4152796"/>
            <a:ext cx="2266893" cy="95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spc="8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· DIO</a:t>
            </a:r>
            <a:endParaRPr lang="en-US" sz="600" dirty="0"/>
          </a:p>
        </p:txBody>
      </p:sp>
      <p:sp>
        <p:nvSpPr>
          <p:cNvPr id="50" name="Text 48"/>
          <p:cNvSpPr/>
          <p:nvPr/>
        </p:nvSpPr>
        <p:spPr>
          <a:xfrm>
            <a:off x="3809905" y="4248044"/>
            <a:ext cx="2266893" cy="247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00"/>
              </a:lnSpc>
              <a:buNone/>
            </a:pPr>
            <a:r>
              <a:rPr lang="en-US" sz="788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Trabalhando com Azure Cosmos DB</a:t>
            </a:r>
            <a:endParaRPr lang="en-US" sz="788" dirty="0"/>
          </a:p>
        </p:txBody>
      </p:sp>
      <p:sp>
        <p:nvSpPr>
          <p:cNvPr id="51" name="Text 49"/>
          <p:cNvSpPr/>
          <p:nvPr/>
        </p:nvSpPr>
        <p:spPr>
          <a:xfrm>
            <a:off x="3809905" y="4514737"/>
            <a:ext cx="2266893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63"/>
              </a:lnSpc>
              <a:buNone/>
            </a:pPr>
            <a:r>
              <a:rPr lang="en-US" sz="713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Bancos NoSQL distribuídos e modelagem de dados.</a:t>
            </a:r>
            <a:endParaRPr lang="en-US" sz="713" dirty="0"/>
          </a:p>
        </p:txBody>
      </p:sp>
      <p:sp>
        <p:nvSpPr>
          <p:cNvPr id="52" name="Text 50"/>
          <p:cNvSpPr/>
          <p:nvPr/>
        </p:nvSpPr>
        <p:spPr>
          <a:xfrm>
            <a:off x="3809905" y="4800480"/>
            <a:ext cx="2266893" cy="95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spc="8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· DIO</a:t>
            </a:r>
            <a:endParaRPr lang="en-US" sz="600" dirty="0"/>
          </a:p>
        </p:txBody>
      </p:sp>
      <p:sp>
        <p:nvSpPr>
          <p:cNvPr id="53" name="Text 51"/>
          <p:cNvSpPr/>
          <p:nvPr/>
        </p:nvSpPr>
        <p:spPr>
          <a:xfrm>
            <a:off x="3809905" y="4895728"/>
            <a:ext cx="2266893" cy="247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00"/>
              </a:lnSpc>
              <a:buNone/>
            </a:pPr>
            <a:r>
              <a:rPr lang="en-US" sz="788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 de API na Nuvem</a:t>
            </a:r>
            <a:endParaRPr lang="en-US" sz="788" dirty="0"/>
          </a:p>
        </p:txBody>
      </p:sp>
      <p:sp>
        <p:nvSpPr>
          <p:cNvPr id="54" name="Text 52"/>
          <p:cNvSpPr/>
          <p:nvPr/>
        </p:nvSpPr>
        <p:spPr>
          <a:xfrm>
            <a:off x="3809905" y="5162421"/>
            <a:ext cx="2266893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63"/>
              </a:lnSpc>
              <a:buNone/>
            </a:pPr>
            <a:r>
              <a:rPr lang="en-US" sz="713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Publicação e operação de APIs em ambiente cloud.</a:t>
            </a:r>
            <a:endParaRPr lang="en-US" sz="713" dirty="0"/>
          </a:p>
        </p:txBody>
      </p:sp>
      <p:sp>
        <p:nvSpPr>
          <p:cNvPr id="55" name="Shape 53"/>
          <p:cNvSpPr/>
          <p:nvPr/>
        </p:nvSpPr>
        <p:spPr>
          <a:xfrm>
            <a:off x="6362541" y="1809705"/>
            <a:ext cx="2533587" cy="4286143"/>
          </a:xfrm>
          <a:prstGeom prst="roundRect">
            <a:avLst>
              <a:gd name="adj" fmla="val 2165"/>
            </a:avLst>
          </a:prstGeom>
          <a:solidFill>
            <a:srgbClr val="2EF2B6">
              <a:alpha val="6000"/>
            </a:srgbClr>
          </a:solidFill>
          <a:ln w="9525">
            <a:solidFill>
              <a:srgbClr val="2EF2B6">
                <a:alpha val="22000"/>
              </a:srgbClr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495888" y="1943051"/>
            <a:ext cx="1809705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8" b="1" spc="100" kern="0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DESENVOLVIMENTO &amp; IA</a:t>
            </a:r>
            <a:endParaRPr lang="en-US" sz="638" dirty="0"/>
          </a:p>
        </p:txBody>
      </p:sp>
      <p:sp>
        <p:nvSpPr>
          <p:cNvPr id="57" name="Text 55"/>
          <p:cNvSpPr/>
          <p:nvPr/>
        </p:nvSpPr>
        <p:spPr>
          <a:xfrm>
            <a:off x="8553236" y="1943051"/>
            <a:ext cx="209545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8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638" dirty="0"/>
          </a:p>
        </p:txBody>
      </p:sp>
      <p:sp>
        <p:nvSpPr>
          <p:cNvPr id="58" name="Text 56"/>
          <p:cNvSpPr/>
          <p:nvPr/>
        </p:nvSpPr>
        <p:spPr>
          <a:xfrm>
            <a:off x="6495888" y="2209745"/>
            <a:ext cx="2266893" cy="95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spc="8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FUNDAÇÃO ESTUDAR · HARVARD</a:t>
            </a:r>
            <a:endParaRPr lang="en-US" sz="600" dirty="0"/>
          </a:p>
        </p:txBody>
      </p:sp>
      <p:sp>
        <p:nvSpPr>
          <p:cNvPr id="59" name="Text 57"/>
          <p:cNvSpPr/>
          <p:nvPr/>
        </p:nvSpPr>
        <p:spPr>
          <a:xfrm>
            <a:off x="6495888" y="2304992"/>
            <a:ext cx="2266893" cy="247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00"/>
              </a:lnSpc>
              <a:buNone/>
            </a:pPr>
            <a:r>
              <a:rPr lang="en-US" sz="788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CC50: Introdução à Ciência da Computação</a:t>
            </a:r>
            <a:endParaRPr lang="en-US" sz="788" dirty="0"/>
          </a:p>
        </p:txBody>
      </p:sp>
      <p:sp>
        <p:nvSpPr>
          <p:cNvPr id="60" name="Text 58"/>
          <p:cNvSpPr/>
          <p:nvPr/>
        </p:nvSpPr>
        <p:spPr>
          <a:xfrm>
            <a:off x="6495888" y="2571686"/>
            <a:ext cx="2266893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63"/>
              </a:lnSpc>
              <a:buNone/>
            </a:pPr>
            <a:r>
              <a:rPr lang="en-US" sz="713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Fundamentos de ciência da computação e algoritmos.</a:t>
            </a:r>
            <a:endParaRPr lang="en-US" sz="713" dirty="0"/>
          </a:p>
        </p:txBody>
      </p:sp>
      <p:sp>
        <p:nvSpPr>
          <p:cNvPr id="61" name="Text 59"/>
          <p:cNvSpPr/>
          <p:nvPr/>
        </p:nvSpPr>
        <p:spPr>
          <a:xfrm>
            <a:off x="6495888" y="2857429"/>
            <a:ext cx="2266893" cy="95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spc="8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UDEMY</a:t>
            </a:r>
            <a:endParaRPr lang="en-US" sz="600" dirty="0"/>
          </a:p>
        </p:txBody>
      </p:sp>
      <p:sp>
        <p:nvSpPr>
          <p:cNvPr id="62" name="Text 60"/>
          <p:cNvSpPr/>
          <p:nvPr/>
        </p:nvSpPr>
        <p:spPr>
          <a:xfrm>
            <a:off x="6495888" y="2952676"/>
            <a:ext cx="2266893" cy="247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00"/>
              </a:lnSpc>
              <a:buNone/>
            </a:pPr>
            <a:r>
              <a:rPr lang="en-US" sz="788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 de Loja Virtual (Parse Server + PIX)</a:t>
            </a:r>
            <a:endParaRPr lang="en-US" sz="788" dirty="0"/>
          </a:p>
        </p:txBody>
      </p:sp>
      <p:sp>
        <p:nvSpPr>
          <p:cNvPr id="63" name="Text 61"/>
          <p:cNvSpPr/>
          <p:nvPr/>
        </p:nvSpPr>
        <p:spPr>
          <a:xfrm>
            <a:off x="6495888" y="3219370"/>
            <a:ext cx="2266893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63"/>
              </a:lnSpc>
              <a:buNone/>
            </a:pPr>
            <a:r>
              <a:rPr lang="en-US" sz="713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 de e-commerce com pagamentos via PIX.</a:t>
            </a:r>
            <a:endParaRPr lang="en-US" sz="713" dirty="0"/>
          </a:p>
        </p:txBody>
      </p:sp>
      <p:sp>
        <p:nvSpPr>
          <p:cNvPr id="64" name="Text 62"/>
          <p:cNvSpPr/>
          <p:nvPr/>
        </p:nvSpPr>
        <p:spPr>
          <a:xfrm>
            <a:off x="6495888" y="3505112"/>
            <a:ext cx="2266893" cy="95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spc="8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FUNDAÇÃO BRADESCO</a:t>
            </a:r>
            <a:endParaRPr lang="en-US" sz="600" dirty="0"/>
          </a:p>
        </p:txBody>
      </p:sp>
      <p:sp>
        <p:nvSpPr>
          <p:cNvPr id="65" name="Text 63"/>
          <p:cNvSpPr/>
          <p:nvPr/>
        </p:nvSpPr>
        <p:spPr>
          <a:xfrm>
            <a:off x="6495888" y="3600360"/>
            <a:ext cx="2266893" cy="247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00"/>
              </a:lnSpc>
              <a:buNone/>
            </a:pPr>
            <a:r>
              <a:rPr lang="en-US" sz="788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Crie um Site com HTML, CSS e JavaScript</a:t>
            </a:r>
            <a:endParaRPr lang="en-US" sz="788" dirty="0"/>
          </a:p>
        </p:txBody>
      </p:sp>
      <p:sp>
        <p:nvSpPr>
          <p:cNvPr id="66" name="Text 64"/>
          <p:cNvSpPr/>
          <p:nvPr/>
        </p:nvSpPr>
        <p:spPr>
          <a:xfrm>
            <a:off x="6495888" y="3867053"/>
            <a:ext cx="2266893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63"/>
              </a:lnSpc>
              <a:buNone/>
            </a:pPr>
            <a:r>
              <a:rPr lang="en-US" sz="713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 de front-end e interatividade com JavaScript.</a:t>
            </a:r>
            <a:endParaRPr lang="en-US" sz="713" dirty="0"/>
          </a:p>
        </p:txBody>
      </p:sp>
      <p:sp>
        <p:nvSpPr>
          <p:cNvPr id="67" name="Text 65"/>
          <p:cNvSpPr/>
          <p:nvPr/>
        </p:nvSpPr>
        <p:spPr>
          <a:xfrm>
            <a:off x="6495888" y="4152796"/>
            <a:ext cx="2266893" cy="95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spc="8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ALURA</a:t>
            </a:r>
            <a:endParaRPr lang="en-US" sz="600" dirty="0"/>
          </a:p>
        </p:txBody>
      </p:sp>
      <p:sp>
        <p:nvSpPr>
          <p:cNvPr id="68" name="Text 66"/>
          <p:cNvSpPr/>
          <p:nvPr/>
        </p:nvSpPr>
        <p:spPr>
          <a:xfrm>
            <a:off x="6495888" y="4248044"/>
            <a:ext cx="2266893" cy="247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00"/>
              </a:lnSpc>
              <a:buNone/>
            </a:pPr>
            <a:r>
              <a:rPr lang="en-US" sz="788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Imersão Inteligência Artificial</a:t>
            </a:r>
            <a:endParaRPr lang="en-US" sz="788" dirty="0"/>
          </a:p>
        </p:txBody>
      </p:sp>
      <p:sp>
        <p:nvSpPr>
          <p:cNvPr id="69" name="Text 67"/>
          <p:cNvSpPr/>
          <p:nvPr/>
        </p:nvSpPr>
        <p:spPr>
          <a:xfrm>
            <a:off x="6495888" y="4514737"/>
            <a:ext cx="2266893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63"/>
              </a:lnSpc>
              <a:buNone/>
            </a:pPr>
            <a:r>
              <a:rPr lang="en-US" sz="713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IA, modelos e aplicações práticas.</a:t>
            </a:r>
            <a:endParaRPr lang="en-US" sz="713" dirty="0"/>
          </a:p>
        </p:txBody>
      </p:sp>
      <p:sp>
        <p:nvSpPr>
          <p:cNvPr id="70" name="Text 68"/>
          <p:cNvSpPr/>
          <p:nvPr/>
        </p:nvSpPr>
        <p:spPr>
          <a:xfrm>
            <a:off x="6495888" y="4800480"/>
            <a:ext cx="2266893" cy="95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spc="8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ENIAC</a:t>
            </a:r>
            <a:endParaRPr lang="en-US" sz="600" dirty="0"/>
          </a:p>
        </p:txBody>
      </p:sp>
      <p:sp>
        <p:nvSpPr>
          <p:cNvPr id="71" name="Text 69"/>
          <p:cNvSpPr/>
          <p:nvPr/>
        </p:nvSpPr>
        <p:spPr>
          <a:xfrm>
            <a:off x="6495888" y="4895728"/>
            <a:ext cx="2266893" cy="247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00"/>
              </a:lnSpc>
              <a:buNone/>
            </a:pPr>
            <a:r>
              <a:rPr lang="en-US" sz="788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Capacitação em Inteligência Artificial (CPTIA)</a:t>
            </a:r>
            <a:endParaRPr lang="en-US" sz="788" dirty="0"/>
          </a:p>
        </p:txBody>
      </p:sp>
      <p:sp>
        <p:nvSpPr>
          <p:cNvPr id="72" name="Text 70"/>
          <p:cNvSpPr/>
          <p:nvPr/>
        </p:nvSpPr>
        <p:spPr>
          <a:xfrm>
            <a:off x="6495888" y="5162421"/>
            <a:ext cx="2266893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63"/>
              </a:lnSpc>
              <a:buNone/>
            </a:pPr>
            <a:r>
              <a:rPr lang="en-US" sz="713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 aplicada à resolução de problemas reais.</a:t>
            </a:r>
            <a:endParaRPr lang="en-US" sz="713" dirty="0"/>
          </a:p>
        </p:txBody>
      </p:sp>
      <p:sp>
        <p:nvSpPr>
          <p:cNvPr id="73" name="Shape 71"/>
          <p:cNvSpPr/>
          <p:nvPr/>
        </p:nvSpPr>
        <p:spPr>
          <a:xfrm>
            <a:off x="9048524" y="1809705"/>
            <a:ext cx="2533587" cy="4286143"/>
          </a:xfrm>
          <a:prstGeom prst="roundRect">
            <a:avLst>
              <a:gd name="adj" fmla="val 2165"/>
            </a:avLst>
          </a:prstGeom>
          <a:solidFill>
            <a:srgbClr val="FF4D8D">
              <a:alpha val="6000"/>
            </a:srgbClr>
          </a:solidFill>
          <a:ln w="9525">
            <a:solidFill>
              <a:srgbClr val="FF4D8D">
                <a:alpha val="22000"/>
              </a:srgbClr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9181870" y="1943051"/>
            <a:ext cx="1809705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8" b="1" spc="100" kern="0" dirty="0">
                <a:solidFill>
                  <a:srgbClr val="FF4D8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SEGURANÇA, GESTÃO &amp; IDIOMAS</a:t>
            </a:r>
            <a:endParaRPr lang="en-US" sz="638" dirty="0"/>
          </a:p>
        </p:txBody>
      </p:sp>
      <p:sp>
        <p:nvSpPr>
          <p:cNvPr id="75" name="Text 73"/>
          <p:cNvSpPr/>
          <p:nvPr/>
        </p:nvSpPr>
        <p:spPr>
          <a:xfrm>
            <a:off x="11239219" y="1943051"/>
            <a:ext cx="209545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8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638" dirty="0"/>
          </a:p>
        </p:txBody>
      </p:sp>
      <p:sp>
        <p:nvSpPr>
          <p:cNvPr id="76" name="Text 74"/>
          <p:cNvSpPr/>
          <p:nvPr/>
        </p:nvSpPr>
        <p:spPr>
          <a:xfrm>
            <a:off x="9181870" y="2209745"/>
            <a:ext cx="2266893" cy="95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spc="8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FIAP</a:t>
            </a:r>
            <a:endParaRPr lang="en-US" sz="600" dirty="0"/>
          </a:p>
        </p:txBody>
      </p:sp>
      <p:sp>
        <p:nvSpPr>
          <p:cNvPr id="77" name="Text 75"/>
          <p:cNvSpPr/>
          <p:nvPr/>
        </p:nvSpPr>
        <p:spPr>
          <a:xfrm>
            <a:off x="9181870" y="2304992"/>
            <a:ext cx="2266893" cy="247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00"/>
              </a:lnSpc>
              <a:buNone/>
            </a:pPr>
            <a:r>
              <a:rPr lang="en-US" sz="788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Cybersecurity</a:t>
            </a:r>
            <a:endParaRPr lang="en-US" sz="788" dirty="0"/>
          </a:p>
        </p:txBody>
      </p:sp>
      <p:sp>
        <p:nvSpPr>
          <p:cNvPr id="78" name="Text 76"/>
          <p:cNvSpPr/>
          <p:nvPr/>
        </p:nvSpPr>
        <p:spPr>
          <a:xfrm>
            <a:off x="9181870" y="2571686"/>
            <a:ext cx="2266893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63"/>
              </a:lnSpc>
              <a:buNone/>
            </a:pPr>
            <a:r>
              <a:rPr lang="en-US" sz="713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Segurança, ameaças e boas práticas.</a:t>
            </a:r>
            <a:endParaRPr lang="en-US" sz="713" dirty="0"/>
          </a:p>
        </p:txBody>
      </p:sp>
      <p:sp>
        <p:nvSpPr>
          <p:cNvPr id="79" name="Text 77"/>
          <p:cNvSpPr/>
          <p:nvPr/>
        </p:nvSpPr>
        <p:spPr>
          <a:xfrm>
            <a:off x="9181870" y="2830759"/>
            <a:ext cx="2266893" cy="95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spc="8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CISCO</a:t>
            </a:r>
            <a:endParaRPr lang="en-US" sz="600" dirty="0"/>
          </a:p>
        </p:txBody>
      </p:sp>
      <p:sp>
        <p:nvSpPr>
          <p:cNvPr id="80" name="Text 78"/>
          <p:cNvSpPr/>
          <p:nvPr/>
        </p:nvSpPr>
        <p:spPr>
          <a:xfrm>
            <a:off x="9181870" y="2926007"/>
            <a:ext cx="2266893" cy="247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00"/>
              </a:lnSpc>
              <a:buNone/>
            </a:pPr>
            <a:r>
              <a:rPr lang="en-US" sz="788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Introdução à Cibersegurança</a:t>
            </a:r>
            <a:endParaRPr lang="en-US" sz="788" dirty="0"/>
          </a:p>
        </p:txBody>
      </p:sp>
      <p:sp>
        <p:nvSpPr>
          <p:cNvPr id="81" name="Text 79"/>
          <p:cNvSpPr/>
          <p:nvPr/>
        </p:nvSpPr>
        <p:spPr>
          <a:xfrm>
            <a:off x="9181870" y="3192700"/>
            <a:ext cx="2266893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63"/>
              </a:lnSpc>
              <a:buNone/>
            </a:pPr>
            <a:r>
              <a:rPr lang="en-US" sz="713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Redes, riscos e proteção de ambientes.</a:t>
            </a:r>
            <a:endParaRPr lang="en-US" sz="713" dirty="0"/>
          </a:p>
        </p:txBody>
      </p:sp>
      <p:sp>
        <p:nvSpPr>
          <p:cNvPr id="82" name="Text 80"/>
          <p:cNvSpPr/>
          <p:nvPr/>
        </p:nvSpPr>
        <p:spPr>
          <a:xfrm>
            <a:off x="9181870" y="3451774"/>
            <a:ext cx="2266893" cy="95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spc="8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FM2S</a:t>
            </a:r>
            <a:endParaRPr lang="en-US" sz="600" dirty="0"/>
          </a:p>
        </p:txBody>
      </p:sp>
      <p:sp>
        <p:nvSpPr>
          <p:cNvPr id="83" name="Text 81"/>
          <p:cNvSpPr/>
          <p:nvPr/>
        </p:nvSpPr>
        <p:spPr>
          <a:xfrm>
            <a:off x="9181870" y="3547021"/>
            <a:ext cx="2266893" cy="247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00"/>
              </a:lnSpc>
              <a:buNone/>
            </a:pPr>
            <a:r>
              <a:rPr lang="en-US" sz="788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Lean Six Sigma — Green Belt</a:t>
            </a:r>
            <a:endParaRPr lang="en-US" sz="788" dirty="0"/>
          </a:p>
        </p:txBody>
      </p:sp>
      <p:sp>
        <p:nvSpPr>
          <p:cNvPr id="84" name="Text 82"/>
          <p:cNvSpPr/>
          <p:nvPr/>
        </p:nvSpPr>
        <p:spPr>
          <a:xfrm>
            <a:off x="9181870" y="3813715"/>
            <a:ext cx="2266893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63"/>
              </a:lnSpc>
              <a:buNone/>
            </a:pPr>
            <a:r>
              <a:rPr lang="en-US" sz="713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Melhoria contínua e redução de desperdícios.</a:t>
            </a:r>
            <a:endParaRPr lang="en-US" sz="713" dirty="0"/>
          </a:p>
        </p:txBody>
      </p:sp>
      <p:sp>
        <p:nvSpPr>
          <p:cNvPr id="85" name="Text 83"/>
          <p:cNvSpPr/>
          <p:nvPr/>
        </p:nvSpPr>
        <p:spPr>
          <a:xfrm>
            <a:off x="9181870" y="4072788"/>
            <a:ext cx="2266893" cy="95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spc="8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FM2S</a:t>
            </a:r>
            <a:endParaRPr lang="en-US" sz="600" dirty="0"/>
          </a:p>
        </p:txBody>
      </p:sp>
      <p:sp>
        <p:nvSpPr>
          <p:cNvPr id="86" name="Text 84"/>
          <p:cNvSpPr/>
          <p:nvPr/>
        </p:nvSpPr>
        <p:spPr>
          <a:xfrm>
            <a:off x="9181870" y="4168036"/>
            <a:ext cx="2266893" cy="247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00"/>
              </a:lnSpc>
              <a:buNone/>
            </a:pPr>
            <a:r>
              <a:rPr lang="en-US" sz="788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Formação para a Primeira Liderança</a:t>
            </a:r>
            <a:endParaRPr lang="en-US" sz="788" dirty="0"/>
          </a:p>
        </p:txBody>
      </p:sp>
      <p:sp>
        <p:nvSpPr>
          <p:cNvPr id="87" name="Text 85"/>
          <p:cNvSpPr/>
          <p:nvPr/>
        </p:nvSpPr>
        <p:spPr>
          <a:xfrm>
            <a:off x="9181870" y="4434729"/>
            <a:ext cx="2266893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63"/>
              </a:lnSpc>
              <a:buNone/>
            </a:pPr>
            <a:r>
              <a:rPr lang="en-US" sz="713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Liderança, comunicação e gestão de equipes.</a:t>
            </a:r>
            <a:endParaRPr lang="en-US" sz="713" dirty="0"/>
          </a:p>
        </p:txBody>
      </p:sp>
      <p:sp>
        <p:nvSpPr>
          <p:cNvPr id="88" name="Text 86"/>
          <p:cNvSpPr/>
          <p:nvPr/>
        </p:nvSpPr>
        <p:spPr>
          <a:xfrm>
            <a:off x="9181870" y="4693803"/>
            <a:ext cx="2266893" cy="95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spc="8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IBM</a:t>
            </a:r>
            <a:endParaRPr lang="en-US" sz="600" dirty="0"/>
          </a:p>
        </p:txBody>
      </p:sp>
      <p:sp>
        <p:nvSpPr>
          <p:cNvPr id="89" name="Text 87"/>
          <p:cNvSpPr/>
          <p:nvPr/>
        </p:nvSpPr>
        <p:spPr>
          <a:xfrm>
            <a:off x="9181870" y="4789050"/>
            <a:ext cx="2266893" cy="247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00"/>
              </a:lnSpc>
              <a:buNone/>
            </a:pPr>
            <a:r>
              <a:rPr lang="en-US" sz="788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Pensamento Crítico e Criativo</a:t>
            </a:r>
            <a:endParaRPr lang="en-US" sz="788" dirty="0"/>
          </a:p>
        </p:txBody>
      </p:sp>
      <p:sp>
        <p:nvSpPr>
          <p:cNvPr id="90" name="Text 88"/>
          <p:cNvSpPr/>
          <p:nvPr/>
        </p:nvSpPr>
        <p:spPr>
          <a:xfrm>
            <a:off x="9181870" y="5055744"/>
            <a:ext cx="2266893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63"/>
              </a:lnSpc>
              <a:buNone/>
            </a:pPr>
            <a:r>
              <a:rPr lang="en-US" sz="713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Análise, criatividade e resolução de problemas.</a:t>
            </a:r>
            <a:endParaRPr lang="en-US" sz="713" dirty="0"/>
          </a:p>
        </p:txBody>
      </p:sp>
      <p:sp>
        <p:nvSpPr>
          <p:cNvPr id="91" name="Text 89"/>
          <p:cNvSpPr/>
          <p:nvPr/>
        </p:nvSpPr>
        <p:spPr>
          <a:xfrm>
            <a:off x="9181870" y="5314817"/>
            <a:ext cx="2266893" cy="95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spc="8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</a:t>
            </a:r>
            <a:endParaRPr lang="en-US" sz="600" dirty="0"/>
          </a:p>
        </p:txBody>
      </p:sp>
      <p:sp>
        <p:nvSpPr>
          <p:cNvPr id="92" name="Text 90"/>
          <p:cNvSpPr/>
          <p:nvPr/>
        </p:nvSpPr>
        <p:spPr>
          <a:xfrm>
            <a:off x="9181870" y="5410065"/>
            <a:ext cx="2266893" cy="247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00"/>
              </a:lnSpc>
              <a:buNone/>
            </a:pPr>
            <a:r>
              <a:rPr lang="en-US" sz="788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Inglês B1 — MET</a:t>
            </a:r>
            <a:endParaRPr lang="en-US" sz="788" dirty="0"/>
          </a:p>
        </p:txBody>
      </p:sp>
      <p:sp>
        <p:nvSpPr>
          <p:cNvPr id="93" name="Text 91"/>
          <p:cNvSpPr/>
          <p:nvPr/>
        </p:nvSpPr>
        <p:spPr>
          <a:xfrm>
            <a:off x="9181870" y="5676758"/>
            <a:ext cx="2266893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63"/>
              </a:lnSpc>
              <a:buNone/>
            </a:pPr>
            <a:r>
              <a:rPr lang="en-US" sz="713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Comunicação e leitura em contexto profissional.</a:t>
            </a:r>
            <a:endParaRPr lang="en-US" sz="713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585" y="380990"/>
            <a:ext cx="323842" cy="323842"/>
          </a:xfrm>
          <a:prstGeom prst="roundRect">
            <a:avLst>
              <a:gd name="adj" fmla="val 79061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9585" y="400040"/>
            <a:ext cx="323842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75" b="1" dirty="0">
                <a:solidFill>
                  <a:srgbClr val="05080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</a:t>
            </a:r>
            <a:endParaRPr lang="en-US" sz="1275" dirty="0"/>
          </a:p>
        </p:txBody>
      </p:sp>
      <p:sp>
        <p:nvSpPr>
          <p:cNvPr id="4" name="Text 2"/>
          <p:cNvSpPr/>
          <p:nvPr/>
        </p:nvSpPr>
        <p:spPr>
          <a:xfrm>
            <a:off x="1028674" y="409565"/>
            <a:ext cx="1523962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Rhyan</a:t>
            </a:r>
            <a:pPr indent="0" marL="0">
              <a:buNone/>
            </a:pPr>
            <a:r>
              <a:rPr lang="en-US" sz="13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.dev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8572286" y="457189"/>
            <a:ext cx="300982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spc="15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RHYAN LEMOS Â· 06 / 12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609585" y="1104872"/>
            <a:ext cx="10972526" cy="495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Palestras &amp; eventos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609585" y="1523962"/>
            <a:ext cx="10972526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75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 eventos e imersões Â· 2025.</a:t>
            </a:r>
            <a:endParaRPr lang="en-US" sz="975" dirty="0"/>
          </a:p>
        </p:txBody>
      </p:sp>
      <p:sp>
        <p:nvSpPr>
          <p:cNvPr id="8" name="Shape 6"/>
          <p:cNvSpPr/>
          <p:nvPr/>
        </p:nvSpPr>
        <p:spPr>
          <a:xfrm>
            <a:off x="609585" y="1809705"/>
            <a:ext cx="10972526" cy="914377"/>
          </a:xfrm>
          <a:prstGeom prst="roundRect">
            <a:avLst>
              <a:gd name="adj" fmla="val 6000"/>
            </a:avLst>
          </a:prstGeom>
          <a:solidFill>
            <a:srgbClr val="FF4D8D">
              <a:alpha val="6000"/>
            </a:srgbClr>
          </a:solidFill>
          <a:ln w="9525">
            <a:solidFill>
              <a:srgbClr val="FF4D8D">
                <a:alpha val="22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0080" y="1943051"/>
            <a:ext cx="7619809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8" spc="100" kern="0" dirty="0">
                <a:solidFill>
                  <a:srgbClr val="FF4D8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FEBRABAN</a:t>
            </a:r>
            <a:endParaRPr lang="en-US" sz="638" dirty="0"/>
          </a:p>
        </p:txBody>
      </p:sp>
      <p:sp>
        <p:nvSpPr>
          <p:cNvPr id="10" name="Text 8"/>
          <p:cNvSpPr/>
          <p:nvPr/>
        </p:nvSpPr>
        <p:spPr>
          <a:xfrm>
            <a:off x="800080" y="2114497"/>
            <a:ext cx="9715257" cy="247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25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Febraban Tech</a:t>
            </a:r>
            <a:endParaRPr lang="en-US" sz="1425" dirty="0"/>
          </a:p>
        </p:txBody>
      </p:sp>
      <p:sp>
        <p:nvSpPr>
          <p:cNvPr id="11" name="Text 9"/>
          <p:cNvSpPr/>
          <p:nvPr/>
        </p:nvSpPr>
        <p:spPr>
          <a:xfrm>
            <a:off x="800080" y="2381190"/>
            <a:ext cx="9715257" cy="247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00"/>
              </a:lnSpc>
              <a:buNone/>
            </a:pPr>
            <a:r>
              <a:rPr lang="en-US" sz="788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Maior evento de tecnologia e inovação do setor financeiro da América Latina, com conteúdos sobre IA, cloud, dados e o futuro do mercado.</a:t>
            </a:r>
            <a:endParaRPr lang="en-US" sz="788" dirty="0"/>
          </a:p>
        </p:txBody>
      </p:sp>
      <p:sp>
        <p:nvSpPr>
          <p:cNvPr id="12" name="Shape 10"/>
          <p:cNvSpPr/>
          <p:nvPr/>
        </p:nvSpPr>
        <p:spPr>
          <a:xfrm>
            <a:off x="609585" y="2857429"/>
            <a:ext cx="5410065" cy="914377"/>
          </a:xfrm>
          <a:prstGeom prst="roundRect">
            <a:avLst>
              <a:gd name="adj" fmla="val 6000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1981" y="2971726"/>
            <a:ext cx="4762381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8" spc="10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ENIAC INNOVATION FEST</a:t>
            </a:r>
            <a:endParaRPr lang="en-US" sz="638" dirty="0"/>
          </a:p>
        </p:txBody>
      </p:sp>
      <p:sp>
        <p:nvSpPr>
          <p:cNvPr id="14" name="Text 12"/>
          <p:cNvSpPr/>
          <p:nvPr/>
        </p:nvSpPr>
        <p:spPr>
          <a:xfrm>
            <a:off x="761981" y="3124122"/>
            <a:ext cx="4952876" cy="323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75"/>
              </a:lnSpc>
              <a:buNone/>
            </a:pPr>
            <a:r>
              <a:rPr lang="en-US" sz="825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Ciclo de Palestras e Painel de Debate — Inovação e Tecnologia</a:t>
            </a:r>
            <a:endParaRPr lang="en-US" sz="825" dirty="0"/>
          </a:p>
        </p:txBody>
      </p:sp>
      <p:sp>
        <p:nvSpPr>
          <p:cNvPr id="15" name="Text 13"/>
          <p:cNvSpPr/>
          <p:nvPr/>
        </p:nvSpPr>
        <p:spPr>
          <a:xfrm>
            <a:off x="761981" y="3467013"/>
            <a:ext cx="4952876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63"/>
              </a:lnSpc>
              <a:buNone/>
            </a:pPr>
            <a:r>
              <a:rPr lang="en-US" sz="713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Debate sobre inovação, tendências e o papel da tecnologia na formação e no mercado.</a:t>
            </a:r>
            <a:endParaRPr lang="en-US" sz="713" dirty="0"/>
          </a:p>
        </p:txBody>
      </p:sp>
      <p:sp>
        <p:nvSpPr>
          <p:cNvPr id="16" name="Shape 14"/>
          <p:cNvSpPr/>
          <p:nvPr/>
        </p:nvSpPr>
        <p:spPr>
          <a:xfrm>
            <a:off x="6172046" y="2857429"/>
            <a:ext cx="5410065" cy="914377"/>
          </a:xfrm>
          <a:prstGeom prst="roundRect">
            <a:avLst>
              <a:gd name="adj" fmla="val 6000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24442" y="2971726"/>
            <a:ext cx="4762381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8" spc="10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ENIAC INNOVATION FEST</a:t>
            </a:r>
            <a:endParaRPr lang="en-US" sz="638" dirty="0"/>
          </a:p>
        </p:txBody>
      </p:sp>
      <p:sp>
        <p:nvSpPr>
          <p:cNvPr id="18" name="Text 16"/>
          <p:cNvSpPr/>
          <p:nvPr/>
        </p:nvSpPr>
        <p:spPr>
          <a:xfrm>
            <a:off x="6324442" y="3124122"/>
            <a:ext cx="4952876" cy="323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75"/>
              </a:lnSpc>
              <a:buNone/>
            </a:pPr>
            <a:r>
              <a:rPr lang="en-US" sz="825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Oficina: Desvendando as IAs Generativas do Google</a:t>
            </a:r>
            <a:endParaRPr lang="en-US" sz="825" dirty="0"/>
          </a:p>
        </p:txBody>
      </p:sp>
      <p:sp>
        <p:nvSpPr>
          <p:cNvPr id="19" name="Text 17"/>
          <p:cNvSpPr/>
          <p:nvPr/>
        </p:nvSpPr>
        <p:spPr>
          <a:xfrm>
            <a:off x="6324442" y="3467013"/>
            <a:ext cx="4952876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63"/>
              </a:lnSpc>
              <a:buNone/>
            </a:pPr>
            <a:r>
              <a:rPr lang="en-US" sz="713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Contato prático com IA generativa do Google, prompts e aplicações no dia a dia.</a:t>
            </a:r>
            <a:endParaRPr lang="en-US" sz="713" dirty="0"/>
          </a:p>
        </p:txBody>
      </p:sp>
      <p:sp>
        <p:nvSpPr>
          <p:cNvPr id="20" name="Shape 18"/>
          <p:cNvSpPr/>
          <p:nvPr/>
        </p:nvSpPr>
        <p:spPr>
          <a:xfrm>
            <a:off x="609585" y="3886103"/>
            <a:ext cx="5410065" cy="914377"/>
          </a:xfrm>
          <a:prstGeom prst="roundRect">
            <a:avLst>
              <a:gd name="adj" fmla="val 6000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1981" y="4000400"/>
            <a:ext cx="4762381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8" spc="10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</a:t>
            </a:r>
            <a:endParaRPr lang="en-US" sz="638" dirty="0"/>
          </a:p>
        </p:txBody>
      </p:sp>
      <p:sp>
        <p:nvSpPr>
          <p:cNvPr id="22" name="Text 20"/>
          <p:cNvSpPr/>
          <p:nvPr/>
        </p:nvSpPr>
        <p:spPr>
          <a:xfrm>
            <a:off x="761981" y="4152796"/>
            <a:ext cx="4952876" cy="323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75"/>
              </a:lnSpc>
              <a:buNone/>
            </a:pPr>
            <a:r>
              <a:rPr lang="en-US" sz="825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Oficina: Crie seu Próprio Agente de IA</a:t>
            </a:r>
            <a:endParaRPr lang="en-US" sz="825" dirty="0"/>
          </a:p>
        </p:txBody>
      </p:sp>
      <p:sp>
        <p:nvSpPr>
          <p:cNvPr id="23" name="Text 21"/>
          <p:cNvSpPr/>
          <p:nvPr/>
        </p:nvSpPr>
        <p:spPr>
          <a:xfrm>
            <a:off x="761981" y="4495688"/>
            <a:ext cx="4952876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63"/>
              </a:lnSpc>
              <a:buNone/>
            </a:pPr>
            <a:r>
              <a:rPr lang="en-US" sz="713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Construção de agentes de IA e automações com ferramentas da Microsoft.</a:t>
            </a:r>
            <a:endParaRPr lang="en-US" sz="713" dirty="0"/>
          </a:p>
        </p:txBody>
      </p:sp>
      <p:sp>
        <p:nvSpPr>
          <p:cNvPr id="24" name="Shape 22"/>
          <p:cNvSpPr/>
          <p:nvPr/>
        </p:nvSpPr>
        <p:spPr>
          <a:xfrm>
            <a:off x="6172046" y="3886103"/>
            <a:ext cx="5410065" cy="914377"/>
          </a:xfrm>
          <a:prstGeom prst="roundRect">
            <a:avLst>
              <a:gd name="adj" fmla="val 6000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24442" y="4000400"/>
            <a:ext cx="4762381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8" spc="10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PALESTRA</a:t>
            </a:r>
            <a:endParaRPr lang="en-US" sz="638" dirty="0"/>
          </a:p>
        </p:txBody>
      </p:sp>
      <p:sp>
        <p:nvSpPr>
          <p:cNvPr id="26" name="Text 24"/>
          <p:cNvSpPr/>
          <p:nvPr/>
        </p:nvSpPr>
        <p:spPr>
          <a:xfrm>
            <a:off x="6324442" y="4152796"/>
            <a:ext cx="4952876" cy="323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75"/>
              </a:lnSpc>
              <a:buNone/>
            </a:pPr>
            <a:r>
              <a:rPr lang="en-US" sz="825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 no Marketing</a:t>
            </a:r>
            <a:endParaRPr lang="en-US" sz="825" dirty="0"/>
          </a:p>
        </p:txBody>
      </p:sp>
      <p:sp>
        <p:nvSpPr>
          <p:cNvPr id="27" name="Text 25"/>
          <p:cNvSpPr/>
          <p:nvPr/>
        </p:nvSpPr>
        <p:spPr>
          <a:xfrm>
            <a:off x="6324442" y="4495688"/>
            <a:ext cx="4952876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63"/>
              </a:lnSpc>
              <a:buNone/>
            </a:pPr>
            <a:r>
              <a:rPr lang="en-US" sz="713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Como a IA apoia criação, segmentação e análise de campanhas.</a:t>
            </a:r>
            <a:endParaRPr lang="en-US" sz="713" dirty="0"/>
          </a:p>
        </p:txBody>
      </p:sp>
      <p:sp>
        <p:nvSpPr>
          <p:cNvPr id="28" name="Shape 26"/>
          <p:cNvSpPr/>
          <p:nvPr/>
        </p:nvSpPr>
        <p:spPr>
          <a:xfrm>
            <a:off x="609585" y="4914777"/>
            <a:ext cx="5410065" cy="914377"/>
          </a:xfrm>
          <a:prstGeom prst="roundRect">
            <a:avLst>
              <a:gd name="adj" fmla="val 6000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61981" y="5029074"/>
            <a:ext cx="4762381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8" spc="10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AB2L</a:t>
            </a:r>
            <a:endParaRPr lang="en-US" sz="638" dirty="0"/>
          </a:p>
        </p:txBody>
      </p:sp>
      <p:sp>
        <p:nvSpPr>
          <p:cNvPr id="30" name="Text 28"/>
          <p:cNvSpPr/>
          <p:nvPr/>
        </p:nvSpPr>
        <p:spPr>
          <a:xfrm>
            <a:off x="761981" y="5181470"/>
            <a:ext cx="4952876" cy="323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75"/>
              </a:lnSpc>
              <a:buNone/>
            </a:pPr>
            <a:r>
              <a:rPr lang="en-US" sz="825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AB2L LawTech Experience</a:t>
            </a:r>
            <a:endParaRPr lang="en-US" sz="825" dirty="0"/>
          </a:p>
        </p:txBody>
      </p:sp>
      <p:sp>
        <p:nvSpPr>
          <p:cNvPr id="31" name="Text 29"/>
          <p:cNvSpPr/>
          <p:nvPr/>
        </p:nvSpPr>
        <p:spPr>
          <a:xfrm>
            <a:off x="761981" y="5524362"/>
            <a:ext cx="4952876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63"/>
              </a:lnSpc>
              <a:buNone/>
            </a:pPr>
            <a:r>
              <a:rPr lang="en-US" sz="713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Tecnologia aplicada ao jurídico: automação, dados e novos modelos de serviço.</a:t>
            </a:r>
            <a:endParaRPr lang="en-US" sz="713" dirty="0"/>
          </a:p>
        </p:txBody>
      </p:sp>
      <p:sp>
        <p:nvSpPr>
          <p:cNvPr id="32" name="Shape 30"/>
          <p:cNvSpPr/>
          <p:nvPr/>
        </p:nvSpPr>
        <p:spPr>
          <a:xfrm>
            <a:off x="6172046" y="4914777"/>
            <a:ext cx="5410065" cy="914377"/>
          </a:xfrm>
          <a:prstGeom prst="roundRect">
            <a:avLst>
              <a:gd name="adj" fmla="val 6000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24442" y="5029074"/>
            <a:ext cx="4762381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8" spc="10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ENIAC</a:t>
            </a:r>
            <a:endParaRPr lang="en-US" sz="638" dirty="0"/>
          </a:p>
        </p:txBody>
      </p:sp>
      <p:sp>
        <p:nvSpPr>
          <p:cNvPr id="34" name="Text 32"/>
          <p:cNvSpPr/>
          <p:nvPr/>
        </p:nvSpPr>
        <p:spPr>
          <a:xfrm>
            <a:off x="6324442" y="5181470"/>
            <a:ext cx="4952876" cy="323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75"/>
              </a:lnSpc>
              <a:buNone/>
            </a:pPr>
            <a:r>
              <a:rPr lang="en-US" sz="825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Liderança Multigeracional</a:t>
            </a:r>
            <a:endParaRPr lang="en-US" sz="825" dirty="0"/>
          </a:p>
        </p:txBody>
      </p:sp>
      <p:sp>
        <p:nvSpPr>
          <p:cNvPr id="35" name="Text 33"/>
          <p:cNvSpPr/>
          <p:nvPr/>
        </p:nvSpPr>
        <p:spPr>
          <a:xfrm>
            <a:off x="6324442" y="5524362"/>
            <a:ext cx="4952876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63"/>
              </a:lnSpc>
              <a:buNone/>
            </a:pPr>
            <a:r>
              <a:rPr lang="en-US" sz="713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Desafios de liderar equipes com diferentes gerações, expectativas e formas de trabalhar.</a:t>
            </a:r>
            <a:endParaRPr lang="en-US" sz="713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585" y="380990"/>
            <a:ext cx="323842" cy="323842"/>
          </a:xfrm>
          <a:prstGeom prst="roundRect">
            <a:avLst>
              <a:gd name="adj" fmla="val 79061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9585" y="400040"/>
            <a:ext cx="323842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75" b="1" dirty="0">
                <a:solidFill>
                  <a:srgbClr val="05080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</a:t>
            </a:r>
            <a:endParaRPr lang="en-US" sz="1275" dirty="0"/>
          </a:p>
        </p:txBody>
      </p:sp>
      <p:sp>
        <p:nvSpPr>
          <p:cNvPr id="4" name="Text 2"/>
          <p:cNvSpPr/>
          <p:nvPr/>
        </p:nvSpPr>
        <p:spPr>
          <a:xfrm>
            <a:off x="1028674" y="409565"/>
            <a:ext cx="1523962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Rhyan</a:t>
            </a:r>
            <a:pPr indent="0" marL="0">
              <a:buNone/>
            </a:pPr>
            <a:r>
              <a:rPr lang="en-US" sz="13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.dev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8572286" y="457189"/>
            <a:ext cx="300982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spc="15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RHYAN LEMOS Â· 07 / 12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609585" y="1104872"/>
            <a:ext cx="10972526" cy="495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Projetos em destaque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609585" y="1523962"/>
            <a:ext cx="10972526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75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projetos em 3 frentes: front-end, back-end e machine learning.</a:t>
            </a:r>
            <a:endParaRPr lang="en-US" sz="975" dirty="0"/>
          </a:p>
        </p:txBody>
      </p:sp>
      <p:sp>
        <p:nvSpPr>
          <p:cNvPr id="8" name="Shape 6"/>
          <p:cNvSpPr/>
          <p:nvPr/>
        </p:nvSpPr>
        <p:spPr>
          <a:xfrm>
            <a:off x="609585" y="1809705"/>
            <a:ext cx="3505112" cy="4095648"/>
          </a:xfrm>
          <a:prstGeom prst="roundRect">
            <a:avLst>
              <a:gd name="adj" fmla="val 1565"/>
            </a:avLst>
          </a:prstGeom>
          <a:solidFill>
            <a:srgbClr val="2EF2B6">
              <a:alpha val="6000"/>
            </a:srgbClr>
          </a:solidFill>
          <a:ln w="9525">
            <a:solidFill>
              <a:srgbClr val="2EF2B6">
                <a:alpha val="22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1981" y="1962101"/>
            <a:ext cx="2476438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8" b="1" spc="100" kern="0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FRONT-END</a:t>
            </a:r>
            <a:endParaRPr lang="en-US" sz="638" dirty="0"/>
          </a:p>
        </p:txBody>
      </p:sp>
      <p:sp>
        <p:nvSpPr>
          <p:cNvPr id="10" name="Text 8"/>
          <p:cNvSpPr/>
          <p:nvPr/>
        </p:nvSpPr>
        <p:spPr>
          <a:xfrm>
            <a:off x="3752756" y="1962101"/>
            <a:ext cx="209545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8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638" dirty="0"/>
          </a:p>
        </p:txBody>
      </p:sp>
      <p:sp>
        <p:nvSpPr>
          <p:cNvPr id="11" name="Text 9"/>
          <p:cNvSpPr/>
          <p:nvPr/>
        </p:nvSpPr>
        <p:spPr>
          <a:xfrm>
            <a:off x="761981" y="2228794"/>
            <a:ext cx="3200320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75"/>
              </a:lnSpc>
              <a:buNone/>
            </a:pPr>
            <a:r>
              <a:rPr lang="en-US" sz="825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Apple Shop Clone</a:t>
            </a:r>
            <a:endParaRPr lang="en-US" sz="825" dirty="0"/>
          </a:p>
        </p:txBody>
      </p:sp>
      <p:sp>
        <p:nvSpPr>
          <p:cNvPr id="12" name="Text 10"/>
          <p:cNvSpPr/>
          <p:nvPr/>
        </p:nvSpPr>
        <p:spPr>
          <a:xfrm>
            <a:off x="761981" y="2457389"/>
            <a:ext cx="3200320" cy="323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63"/>
              </a:lnSpc>
              <a:buNone/>
            </a:pPr>
            <a:r>
              <a:rPr lang="en-US" sz="713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Clone responsivo da Apple Shop, com fidelidade visual e experiência em diferentes dispositivos.</a:t>
            </a:r>
            <a:endParaRPr lang="en-US" sz="713" dirty="0"/>
          </a:p>
        </p:txBody>
      </p:sp>
      <p:sp>
        <p:nvSpPr>
          <p:cNvPr id="13" name="Text 11"/>
          <p:cNvSpPr/>
          <p:nvPr/>
        </p:nvSpPr>
        <p:spPr>
          <a:xfrm>
            <a:off x="761981" y="2800280"/>
            <a:ext cx="3200320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8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HTML Â· CSS Â· Bootstrap</a:t>
            </a:r>
            <a:endParaRPr lang="en-US" sz="638" dirty="0"/>
          </a:p>
        </p:txBody>
      </p:sp>
      <p:sp>
        <p:nvSpPr>
          <p:cNvPr id="14" name="Text 12"/>
          <p:cNvSpPr/>
          <p:nvPr/>
        </p:nvSpPr>
        <p:spPr>
          <a:xfrm>
            <a:off x="761981" y="3086023"/>
            <a:ext cx="3200320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75"/>
              </a:lnSpc>
              <a:buNone/>
            </a:pPr>
            <a:r>
              <a:rPr lang="en-US" sz="825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Meteora E-commerce</a:t>
            </a:r>
            <a:endParaRPr lang="en-US" sz="825" dirty="0"/>
          </a:p>
        </p:txBody>
      </p:sp>
      <p:sp>
        <p:nvSpPr>
          <p:cNvPr id="15" name="Text 13"/>
          <p:cNvSpPr/>
          <p:nvPr/>
        </p:nvSpPr>
        <p:spPr>
          <a:xfrm>
            <a:off x="761981" y="3314617"/>
            <a:ext cx="3200320" cy="323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63"/>
              </a:lnSpc>
              <a:buNone/>
            </a:pPr>
            <a:r>
              <a:rPr lang="en-US" sz="713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E-commerce completo com catálogo, busca, promoções e navegação voltada à conversão.</a:t>
            </a:r>
            <a:endParaRPr lang="en-US" sz="713" dirty="0"/>
          </a:p>
        </p:txBody>
      </p:sp>
      <p:sp>
        <p:nvSpPr>
          <p:cNvPr id="16" name="Text 14"/>
          <p:cNvSpPr/>
          <p:nvPr/>
        </p:nvSpPr>
        <p:spPr>
          <a:xfrm>
            <a:off x="761981" y="3657509"/>
            <a:ext cx="3200320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8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HTML Â· CSS Â· Bootstrap</a:t>
            </a:r>
            <a:endParaRPr lang="en-US" sz="638" dirty="0"/>
          </a:p>
        </p:txBody>
      </p:sp>
      <p:sp>
        <p:nvSpPr>
          <p:cNvPr id="17" name="Shape 15"/>
          <p:cNvSpPr/>
          <p:nvPr/>
        </p:nvSpPr>
        <p:spPr>
          <a:xfrm>
            <a:off x="4343291" y="1809705"/>
            <a:ext cx="3505112" cy="4095648"/>
          </a:xfrm>
          <a:prstGeom prst="roundRect">
            <a:avLst>
              <a:gd name="adj" fmla="val 1565"/>
            </a:avLst>
          </a:prstGeom>
          <a:solidFill>
            <a:srgbClr val="8B5CF6">
              <a:alpha val="6000"/>
            </a:srgbClr>
          </a:solidFill>
          <a:ln w="9525">
            <a:solidFill>
              <a:srgbClr val="8B5CF6">
                <a:alpha val="22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95688" y="1962101"/>
            <a:ext cx="2476438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8" b="1" spc="100" kern="0" dirty="0">
                <a:solidFill>
                  <a:srgbClr val="8B5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BACK-END</a:t>
            </a:r>
            <a:endParaRPr lang="en-US" sz="638" dirty="0"/>
          </a:p>
        </p:txBody>
      </p:sp>
      <p:sp>
        <p:nvSpPr>
          <p:cNvPr id="19" name="Text 17"/>
          <p:cNvSpPr/>
          <p:nvPr/>
        </p:nvSpPr>
        <p:spPr>
          <a:xfrm>
            <a:off x="7486463" y="1962101"/>
            <a:ext cx="209545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8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638" dirty="0"/>
          </a:p>
        </p:txBody>
      </p:sp>
      <p:sp>
        <p:nvSpPr>
          <p:cNvPr id="20" name="Text 18"/>
          <p:cNvSpPr/>
          <p:nvPr/>
        </p:nvSpPr>
        <p:spPr>
          <a:xfrm>
            <a:off x="4495688" y="2228794"/>
            <a:ext cx="3200320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75"/>
              </a:lnSpc>
              <a:buNone/>
            </a:pPr>
            <a:r>
              <a:rPr lang="en-US" sz="825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Gerador de QR Code</a:t>
            </a:r>
            <a:endParaRPr lang="en-US" sz="825" dirty="0"/>
          </a:p>
        </p:txBody>
      </p:sp>
      <p:sp>
        <p:nvSpPr>
          <p:cNvPr id="21" name="Text 19"/>
          <p:cNvSpPr/>
          <p:nvPr/>
        </p:nvSpPr>
        <p:spPr>
          <a:xfrm>
            <a:off x="4495688" y="2457389"/>
            <a:ext cx="3200320" cy="323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63"/>
              </a:lnSpc>
              <a:buNone/>
            </a:pPr>
            <a:r>
              <a:rPr lang="en-US" sz="713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Ferramenta web para criar QR Codes personalizados a partir de URLs, sem instalação.</a:t>
            </a:r>
            <a:endParaRPr lang="en-US" sz="713" dirty="0"/>
          </a:p>
        </p:txBody>
      </p:sp>
      <p:sp>
        <p:nvSpPr>
          <p:cNvPr id="22" name="Text 20"/>
          <p:cNvSpPr/>
          <p:nvPr/>
        </p:nvSpPr>
        <p:spPr>
          <a:xfrm>
            <a:off x="4495688" y="2800280"/>
            <a:ext cx="3200320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8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HTML Â· CSS Â· Tailwind</a:t>
            </a:r>
            <a:endParaRPr lang="en-US" sz="638" dirty="0"/>
          </a:p>
        </p:txBody>
      </p:sp>
      <p:sp>
        <p:nvSpPr>
          <p:cNvPr id="23" name="Text 21"/>
          <p:cNvSpPr/>
          <p:nvPr/>
        </p:nvSpPr>
        <p:spPr>
          <a:xfrm>
            <a:off x="4495688" y="3086023"/>
            <a:ext cx="3200320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75"/>
              </a:lnSpc>
              <a:buNone/>
            </a:pPr>
            <a:r>
              <a:rPr lang="en-US" sz="825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Lista de Tarefas</a:t>
            </a:r>
            <a:endParaRPr lang="en-US" sz="825" dirty="0"/>
          </a:p>
        </p:txBody>
      </p:sp>
      <p:sp>
        <p:nvSpPr>
          <p:cNvPr id="24" name="Text 22"/>
          <p:cNvSpPr/>
          <p:nvPr/>
        </p:nvSpPr>
        <p:spPr>
          <a:xfrm>
            <a:off x="4495688" y="3314617"/>
            <a:ext cx="3200320" cy="323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63"/>
              </a:lnSpc>
              <a:buNone/>
            </a:pPr>
            <a:r>
              <a:rPr lang="en-US" sz="713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Aplicação de produtividade com criação, edição, conclusão e persistência local de tarefas.</a:t>
            </a:r>
            <a:endParaRPr lang="en-US" sz="713" dirty="0"/>
          </a:p>
        </p:txBody>
      </p:sp>
      <p:sp>
        <p:nvSpPr>
          <p:cNvPr id="25" name="Text 23"/>
          <p:cNvSpPr/>
          <p:nvPr/>
        </p:nvSpPr>
        <p:spPr>
          <a:xfrm>
            <a:off x="4495688" y="3657509"/>
            <a:ext cx="3200320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8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HTML Â· CSS Â· JavaScript</a:t>
            </a:r>
            <a:endParaRPr lang="en-US" sz="638" dirty="0"/>
          </a:p>
        </p:txBody>
      </p:sp>
      <p:sp>
        <p:nvSpPr>
          <p:cNvPr id="26" name="Text 24"/>
          <p:cNvSpPr/>
          <p:nvPr/>
        </p:nvSpPr>
        <p:spPr>
          <a:xfrm>
            <a:off x="4495688" y="3943251"/>
            <a:ext cx="3200320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75"/>
              </a:lnSpc>
              <a:buNone/>
            </a:pPr>
            <a:r>
              <a:rPr lang="en-US" sz="825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Projeto Alluh</a:t>
            </a:r>
            <a:endParaRPr lang="en-US" sz="825" dirty="0"/>
          </a:p>
        </p:txBody>
      </p:sp>
      <p:sp>
        <p:nvSpPr>
          <p:cNvPr id="27" name="Text 25"/>
          <p:cNvSpPr/>
          <p:nvPr/>
        </p:nvSpPr>
        <p:spPr>
          <a:xfrm>
            <a:off x="4495688" y="4171846"/>
            <a:ext cx="3200320" cy="323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63"/>
              </a:lnSpc>
              <a:buNone/>
            </a:pPr>
            <a:r>
              <a:rPr lang="en-US" sz="713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Gestão de usuários com autenticação, upload de imagens e níveis de acesso.</a:t>
            </a:r>
            <a:endParaRPr lang="en-US" sz="713" dirty="0"/>
          </a:p>
        </p:txBody>
      </p:sp>
      <p:sp>
        <p:nvSpPr>
          <p:cNvPr id="28" name="Text 26"/>
          <p:cNvSpPr/>
          <p:nvPr/>
        </p:nvSpPr>
        <p:spPr>
          <a:xfrm>
            <a:off x="4495688" y="4514737"/>
            <a:ext cx="3200320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8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PHP Â· HTML Â· CSS</a:t>
            </a:r>
            <a:endParaRPr lang="en-US" sz="638" dirty="0"/>
          </a:p>
        </p:txBody>
      </p:sp>
      <p:sp>
        <p:nvSpPr>
          <p:cNvPr id="29" name="Text 27"/>
          <p:cNvSpPr/>
          <p:nvPr/>
        </p:nvSpPr>
        <p:spPr>
          <a:xfrm>
            <a:off x="4495688" y="4800480"/>
            <a:ext cx="3200320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75"/>
              </a:lnSpc>
              <a:buNone/>
            </a:pPr>
            <a:r>
              <a:rPr lang="en-US" sz="825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 Livraria</a:t>
            </a:r>
            <a:endParaRPr lang="en-US" sz="825" dirty="0"/>
          </a:p>
        </p:txBody>
      </p:sp>
      <p:sp>
        <p:nvSpPr>
          <p:cNvPr id="30" name="Text 28"/>
          <p:cNvSpPr/>
          <p:nvPr/>
        </p:nvSpPr>
        <p:spPr>
          <a:xfrm>
            <a:off x="4495688" y="5029074"/>
            <a:ext cx="3200320" cy="323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63"/>
              </a:lnSpc>
              <a:buNone/>
            </a:pPr>
            <a:r>
              <a:rPr lang="en-US" sz="713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 RESTful com CRUD e banco relacional de cinco tabelas, focada em boas práticas.</a:t>
            </a:r>
            <a:endParaRPr lang="en-US" sz="713" dirty="0"/>
          </a:p>
        </p:txBody>
      </p:sp>
      <p:sp>
        <p:nvSpPr>
          <p:cNvPr id="31" name="Text 29"/>
          <p:cNvSpPr/>
          <p:nvPr/>
        </p:nvSpPr>
        <p:spPr>
          <a:xfrm>
            <a:off x="4495688" y="5371966"/>
            <a:ext cx="3200320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8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PHP Â· MySQL Â· REST API</a:t>
            </a:r>
            <a:endParaRPr lang="en-US" sz="638" dirty="0"/>
          </a:p>
        </p:txBody>
      </p:sp>
      <p:sp>
        <p:nvSpPr>
          <p:cNvPr id="32" name="Shape 30"/>
          <p:cNvSpPr/>
          <p:nvPr/>
        </p:nvSpPr>
        <p:spPr>
          <a:xfrm>
            <a:off x="8076998" y="1809705"/>
            <a:ext cx="3505112" cy="4095648"/>
          </a:xfrm>
          <a:prstGeom prst="roundRect">
            <a:avLst>
              <a:gd name="adj" fmla="val 1565"/>
            </a:avLst>
          </a:prstGeom>
          <a:solidFill>
            <a:srgbClr val="FF4D8D">
              <a:alpha val="6000"/>
            </a:srgbClr>
          </a:solidFill>
          <a:ln w="9525">
            <a:solidFill>
              <a:srgbClr val="FF4D8D">
                <a:alpha val="2200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29394" y="1962101"/>
            <a:ext cx="2476438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8" b="1" spc="100" kern="0" dirty="0">
                <a:solidFill>
                  <a:srgbClr val="FF4D8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MACHINE LEARNING</a:t>
            </a:r>
            <a:endParaRPr lang="en-US" sz="638" dirty="0"/>
          </a:p>
        </p:txBody>
      </p:sp>
      <p:sp>
        <p:nvSpPr>
          <p:cNvPr id="34" name="Text 32"/>
          <p:cNvSpPr/>
          <p:nvPr/>
        </p:nvSpPr>
        <p:spPr>
          <a:xfrm>
            <a:off x="11220169" y="1962101"/>
            <a:ext cx="209545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8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638" dirty="0"/>
          </a:p>
        </p:txBody>
      </p:sp>
      <p:sp>
        <p:nvSpPr>
          <p:cNvPr id="35" name="Text 33"/>
          <p:cNvSpPr/>
          <p:nvPr/>
        </p:nvSpPr>
        <p:spPr>
          <a:xfrm>
            <a:off x="8229394" y="2228794"/>
            <a:ext cx="3200320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75"/>
              </a:lnSpc>
              <a:buNone/>
            </a:pPr>
            <a:r>
              <a:rPr lang="en-US" sz="825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Toni - Assistente Financeiro</a:t>
            </a:r>
            <a:endParaRPr lang="en-US" sz="825" dirty="0"/>
          </a:p>
        </p:txBody>
      </p:sp>
      <p:sp>
        <p:nvSpPr>
          <p:cNvPr id="36" name="Text 34"/>
          <p:cNvSpPr/>
          <p:nvPr/>
        </p:nvSpPr>
        <p:spPr>
          <a:xfrm>
            <a:off x="8229394" y="2457389"/>
            <a:ext cx="3200320" cy="323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63"/>
              </a:lnSpc>
              <a:buNone/>
            </a:pPr>
            <a:r>
              <a:rPr lang="en-US" sz="713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Assistente financeiro com IA para microempreendedores, criado no desafio da Stone.</a:t>
            </a:r>
            <a:endParaRPr lang="en-US" sz="713" dirty="0"/>
          </a:p>
        </p:txBody>
      </p:sp>
      <p:sp>
        <p:nvSpPr>
          <p:cNvPr id="37" name="Text 35"/>
          <p:cNvSpPr/>
          <p:nvPr/>
        </p:nvSpPr>
        <p:spPr>
          <a:xfrm>
            <a:off x="8229394" y="2800280"/>
            <a:ext cx="3200320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8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Python Â· Machine Learning Â· IA</a:t>
            </a:r>
            <a:endParaRPr lang="en-US" sz="638" dirty="0"/>
          </a:p>
        </p:txBody>
      </p:sp>
      <p:sp>
        <p:nvSpPr>
          <p:cNvPr id="38" name="Text 36"/>
          <p:cNvSpPr/>
          <p:nvPr/>
        </p:nvSpPr>
        <p:spPr>
          <a:xfrm>
            <a:off x="8229394" y="3086023"/>
            <a:ext cx="3200320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75"/>
              </a:lnSpc>
              <a:buNone/>
            </a:pPr>
            <a:r>
              <a:rPr lang="en-US" sz="825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Machine Learning Models</a:t>
            </a:r>
            <a:endParaRPr lang="en-US" sz="825" dirty="0"/>
          </a:p>
        </p:txBody>
      </p:sp>
      <p:sp>
        <p:nvSpPr>
          <p:cNvPr id="39" name="Text 37"/>
          <p:cNvSpPr/>
          <p:nvPr/>
        </p:nvSpPr>
        <p:spPr>
          <a:xfrm>
            <a:off x="8229394" y="3314617"/>
            <a:ext cx="3200320" cy="323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63"/>
              </a:lnSpc>
              <a:buNone/>
            </a:pPr>
            <a:r>
              <a:rPr lang="en-US" sz="713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Estudos de ML com Scikit-learn e Pandas, incluindo classificação de dados médicos.</a:t>
            </a:r>
            <a:endParaRPr lang="en-US" sz="713" dirty="0"/>
          </a:p>
        </p:txBody>
      </p:sp>
      <p:sp>
        <p:nvSpPr>
          <p:cNvPr id="40" name="Text 38"/>
          <p:cNvSpPr/>
          <p:nvPr/>
        </p:nvSpPr>
        <p:spPr>
          <a:xfrm>
            <a:off x="8229394" y="3657509"/>
            <a:ext cx="3200320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8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Python Â· Scikit-learn Â· Pandas</a:t>
            </a:r>
            <a:endParaRPr lang="en-US" sz="638" dirty="0"/>
          </a:p>
        </p:txBody>
      </p:sp>
      <p:sp>
        <p:nvSpPr>
          <p:cNvPr id="41" name="Text 39"/>
          <p:cNvSpPr/>
          <p:nvPr/>
        </p:nvSpPr>
        <p:spPr>
          <a:xfrm>
            <a:off x="609585" y="6057749"/>
            <a:ext cx="10972526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38" spc="12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projetos no portfólio · github.com/rhyan05</a:t>
            </a:r>
            <a:endParaRPr lang="en-US" sz="638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585" y="380990"/>
            <a:ext cx="323842" cy="323842"/>
          </a:xfrm>
          <a:prstGeom prst="roundRect">
            <a:avLst>
              <a:gd name="adj" fmla="val 79061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9585" y="400040"/>
            <a:ext cx="323842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75" b="1" dirty="0">
                <a:solidFill>
                  <a:srgbClr val="05080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</a:t>
            </a:r>
            <a:endParaRPr lang="en-US" sz="1275" dirty="0"/>
          </a:p>
        </p:txBody>
      </p:sp>
      <p:sp>
        <p:nvSpPr>
          <p:cNvPr id="4" name="Text 2"/>
          <p:cNvSpPr/>
          <p:nvPr/>
        </p:nvSpPr>
        <p:spPr>
          <a:xfrm>
            <a:off x="1028674" y="409565"/>
            <a:ext cx="1523962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Rhyan</a:t>
            </a:r>
            <a:pPr indent="0" marL="0">
              <a:buNone/>
            </a:pPr>
            <a:r>
              <a:rPr lang="en-US" sz="13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.dev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8572286" y="457189"/>
            <a:ext cx="300982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spc="15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RHYAN LEMOS Â· 08 / 12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609585" y="1104872"/>
            <a:ext cx="10972526" cy="495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Minhas métricas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609585" y="1523962"/>
            <a:ext cx="10972526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75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Uma boa organização traz clareza, melhora a comunicação e otimiza o tempo.</a:t>
            </a:r>
            <a:endParaRPr lang="en-US" sz="975" dirty="0"/>
          </a:p>
        </p:txBody>
      </p:sp>
      <p:sp>
        <p:nvSpPr>
          <p:cNvPr id="8" name="Shape 6"/>
          <p:cNvSpPr/>
          <p:nvPr/>
        </p:nvSpPr>
        <p:spPr>
          <a:xfrm>
            <a:off x="609585" y="1809705"/>
            <a:ext cx="10972526" cy="857229"/>
          </a:xfrm>
          <a:prstGeom prst="roundRect">
            <a:avLst>
              <a:gd name="adj" fmla="val 6400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0080" y="1981150"/>
            <a:ext cx="10591535" cy="5524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“Uma boa organização, tanto em equipe quanto em projetos, aumenta a eficácia: traz clareza nas responsabilidades, melhora a comunicação e otimiza a gestão do tempo.”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09585" y="2952676"/>
            <a:ext cx="3505112" cy="2285943"/>
          </a:xfrm>
          <a:prstGeom prst="roundRect">
            <a:avLst>
              <a:gd name="adj" fmla="val 2400"/>
            </a:avLst>
          </a:prstGeom>
          <a:solidFill>
            <a:srgbClr val="2EF2B6">
              <a:alpha val="6000"/>
            </a:srgbClr>
          </a:solidFill>
          <a:ln w="9525">
            <a:solidFill>
              <a:srgbClr val="2EF2B6">
                <a:alpha val="22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8179" y="3143171"/>
            <a:ext cx="1142971" cy="571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838179" y="3733707"/>
            <a:ext cx="3047924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75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Organização</a:t>
            </a:r>
            <a:endParaRPr lang="en-US" sz="1275" dirty="0"/>
          </a:p>
        </p:txBody>
      </p:sp>
      <p:sp>
        <p:nvSpPr>
          <p:cNvPr id="13" name="Text 11"/>
          <p:cNvSpPr/>
          <p:nvPr/>
        </p:nvSpPr>
        <p:spPr>
          <a:xfrm>
            <a:off x="838179" y="4038499"/>
            <a:ext cx="3047924" cy="876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Clareza nas responsabilidades, comunicação eficiente e gestão de tempo para manter a equipe e os projetos alinhados.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4267093" y="2952676"/>
            <a:ext cx="3505112" cy="2285943"/>
          </a:xfrm>
          <a:prstGeom prst="roundRect">
            <a:avLst>
              <a:gd name="adj" fmla="val 2400"/>
            </a:avLst>
          </a:prstGeom>
          <a:solidFill>
            <a:srgbClr val="8B5CF6">
              <a:alpha val="6000"/>
            </a:srgbClr>
          </a:solidFill>
          <a:ln w="9525">
            <a:solidFill>
              <a:srgbClr val="8B5CF6">
                <a:alpha val="22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95688" y="3143171"/>
            <a:ext cx="1142971" cy="571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8B5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4495688" y="3733707"/>
            <a:ext cx="3047924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75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Visão crítica</a:t>
            </a:r>
            <a:endParaRPr lang="en-US" sz="1275" dirty="0"/>
          </a:p>
        </p:txBody>
      </p:sp>
      <p:sp>
        <p:nvSpPr>
          <p:cNvPr id="17" name="Text 15"/>
          <p:cNvSpPr/>
          <p:nvPr/>
        </p:nvSpPr>
        <p:spPr>
          <a:xfrm>
            <a:off x="4495688" y="4038499"/>
            <a:ext cx="3047924" cy="876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Acompanhar o progresso de perto, identificar falhas e transformar inconsistências em oportunidades de melhoria.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7924602" y="2952676"/>
            <a:ext cx="3505112" cy="2285943"/>
          </a:xfrm>
          <a:prstGeom prst="roundRect">
            <a:avLst>
              <a:gd name="adj" fmla="val 2400"/>
            </a:avLst>
          </a:prstGeom>
          <a:solidFill>
            <a:srgbClr val="FF4D8D">
              <a:alpha val="6000"/>
            </a:srgbClr>
          </a:solidFill>
          <a:ln w="9525">
            <a:solidFill>
              <a:srgbClr val="FF4D8D">
                <a:alpha val="22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153196" y="3143171"/>
            <a:ext cx="1142971" cy="571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4D8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2700" dirty="0"/>
          </a:p>
        </p:txBody>
      </p:sp>
      <p:sp>
        <p:nvSpPr>
          <p:cNvPr id="20" name="Text 18"/>
          <p:cNvSpPr/>
          <p:nvPr/>
        </p:nvSpPr>
        <p:spPr>
          <a:xfrm>
            <a:off x="8153196" y="3733707"/>
            <a:ext cx="3047924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75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Soluções criativas</a:t>
            </a:r>
            <a:endParaRPr lang="en-US" sz="1275" dirty="0"/>
          </a:p>
        </p:txBody>
      </p:sp>
      <p:sp>
        <p:nvSpPr>
          <p:cNvPr id="21" name="Text 19"/>
          <p:cNvSpPr/>
          <p:nvPr/>
        </p:nvSpPr>
        <p:spPr>
          <a:xfrm>
            <a:off x="8153196" y="4038499"/>
            <a:ext cx="3047924" cy="876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Enfrentar novos desafios com repertório técnico e criatividade, evoluindo também as soluções que já existem.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585" y="380990"/>
            <a:ext cx="323842" cy="323842"/>
          </a:xfrm>
          <a:prstGeom prst="roundRect">
            <a:avLst>
              <a:gd name="adj" fmla="val 79061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9585" y="400040"/>
            <a:ext cx="323842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75" b="1" dirty="0">
                <a:solidFill>
                  <a:srgbClr val="05080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</a:t>
            </a:r>
            <a:endParaRPr lang="en-US" sz="1275" dirty="0"/>
          </a:p>
        </p:txBody>
      </p:sp>
      <p:sp>
        <p:nvSpPr>
          <p:cNvPr id="4" name="Text 2"/>
          <p:cNvSpPr/>
          <p:nvPr/>
        </p:nvSpPr>
        <p:spPr>
          <a:xfrm>
            <a:off x="1028674" y="409565"/>
            <a:ext cx="1523962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Rhyan</a:t>
            </a:r>
            <a:pPr indent="0" marL="0">
              <a:buNone/>
            </a:pPr>
            <a:r>
              <a:rPr lang="en-US" sz="13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.dev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8572286" y="457189"/>
            <a:ext cx="300982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spc="15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RHYAN LEMOS Â· 09 / 12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609585" y="1104872"/>
            <a:ext cx="10972526" cy="495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Plano de carreira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609585" y="1523962"/>
            <a:ext cx="10972526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75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Matriz de competências · autoavaliação e direcionamento estratégico.</a:t>
            </a:r>
            <a:endParaRPr lang="en-US" sz="975" dirty="0"/>
          </a:p>
        </p:txBody>
      </p:sp>
      <p:sp>
        <p:nvSpPr>
          <p:cNvPr id="8" name="Shape 6"/>
          <p:cNvSpPr/>
          <p:nvPr/>
        </p:nvSpPr>
        <p:spPr>
          <a:xfrm>
            <a:off x="609585" y="1809705"/>
            <a:ext cx="3505112" cy="4095648"/>
          </a:xfrm>
          <a:prstGeom prst="roundRect">
            <a:avLst>
              <a:gd name="adj" fmla="val 1565"/>
            </a:avLst>
          </a:prstGeom>
          <a:solidFill>
            <a:srgbClr val="2EF2B6">
              <a:alpha val="6000"/>
            </a:srgbClr>
          </a:solidFill>
          <a:ln w="9525">
            <a:solidFill>
              <a:srgbClr val="2EF2B6">
                <a:alpha val="22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38179" y="1981150"/>
            <a:ext cx="3047924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5" spc="100" kern="0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FORTALEZAS CONSOLIDADAS</a:t>
            </a:r>
            <a:endParaRPr lang="en-US" sz="525" dirty="0"/>
          </a:p>
        </p:txBody>
      </p:sp>
      <p:sp>
        <p:nvSpPr>
          <p:cNvPr id="10" name="Text 8"/>
          <p:cNvSpPr/>
          <p:nvPr/>
        </p:nvSpPr>
        <p:spPr>
          <a:xfrm>
            <a:off x="838179" y="2171646"/>
            <a:ext cx="3047924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Já possuo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38179" y="2590735"/>
            <a:ext cx="3047924" cy="285743"/>
          </a:xfrm>
          <a:prstGeom prst="roundRect">
            <a:avLst>
              <a:gd name="adj" fmla="val 96002"/>
            </a:avLst>
          </a:prstGeom>
          <a:solidFill>
            <a:srgbClr val="FFFFFF">
              <a:alpha val="3000"/>
            </a:srgbClr>
          </a:solidFill>
          <a:ln w="6350">
            <a:solidFill>
              <a:srgbClr val="FFFFFF">
                <a:alpha val="7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33427" y="2705032"/>
            <a:ext cx="57149" cy="57149"/>
          </a:xfrm>
          <a:prstGeom prst="ellipse">
            <a:avLst/>
          </a:prstGeom>
          <a:solidFill>
            <a:srgbClr val="2EF2B6"/>
          </a:solidFill>
          <a:ln/>
        </p:spPr>
      </p:sp>
      <p:sp>
        <p:nvSpPr>
          <p:cNvPr id="13" name="Text 11"/>
          <p:cNvSpPr/>
          <p:nvPr/>
        </p:nvSpPr>
        <p:spPr>
          <a:xfrm>
            <a:off x="1066773" y="2666933"/>
            <a:ext cx="266693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Visão analítica</a:t>
            </a:r>
            <a:endParaRPr lang="en-US" sz="675" dirty="0"/>
          </a:p>
        </p:txBody>
      </p:sp>
      <p:sp>
        <p:nvSpPr>
          <p:cNvPr id="14" name="Shape 12"/>
          <p:cNvSpPr/>
          <p:nvPr/>
        </p:nvSpPr>
        <p:spPr>
          <a:xfrm>
            <a:off x="838179" y="2971726"/>
            <a:ext cx="3047924" cy="285743"/>
          </a:xfrm>
          <a:prstGeom prst="roundRect">
            <a:avLst>
              <a:gd name="adj" fmla="val 96002"/>
            </a:avLst>
          </a:prstGeom>
          <a:solidFill>
            <a:srgbClr val="FFFFFF">
              <a:alpha val="3000"/>
            </a:srgbClr>
          </a:solidFill>
          <a:ln w="6350">
            <a:solidFill>
              <a:srgbClr val="FFFFFF">
                <a:alpha val="7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33427" y="3086023"/>
            <a:ext cx="57149" cy="57149"/>
          </a:xfrm>
          <a:prstGeom prst="ellipse">
            <a:avLst/>
          </a:prstGeom>
          <a:solidFill>
            <a:srgbClr val="2EF2B6"/>
          </a:solidFill>
          <a:ln/>
        </p:spPr>
      </p:sp>
      <p:sp>
        <p:nvSpPr>
          <p:cNvPr id="16" name="Text 14"/>
          <p:cNvSpPr/>
          <p:nvPr/>
        </p:nvSpPr>
        <p:spPr>
          <a:xfrm>
            <a:off x="1066773" y="3047924"/>
            <a:ext cx="266693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Organização</a:t>
            </a:r>
            <a:endParaRPr lang="en-US" sz="675" dirty="0"/>
          </a:p>
        </p:txBody>
      </p:sp>
      <p:sp>
        <p:nvSpPr>
          <p:cNvPr id="17" name="Shape 15"/>
          <p:cNvSpPr/>
          <p:nvPr/>
        </p:nvSpPr>
        <p:spPr>
          <a:xfrm>
            <a:off x="838179" y="3352716"/>
            <a:ext cx="3047924" cy="285743"/>
          </a:xfrm>
          <a:prstGeom prst="roundRect">
            <a:avLst>
              <a:gd name="adj" fmla="val 96002"/>
            </a:avLst>
          </a:prstGeom>
          <a:solidFill>
            <a:srgbClr val="FFFFFF">
              <a:alpha val="3000"/>
            </a:srgbClr>
          </a:solidFill>
          <a:ln w="6350">
            <a:solidFill>
              <a:srgbClr val="FFFFFF">
                <a:alpha val="7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33427" y="3467013"/>
            <a:ext cx="57149" cy="57149"/>
          </a:xfrm>
          <a:prstGeom prst="ellipse">
            <a:avLst/>
          </a:prstGeom>
          <a:solidFill>
            <a:srgbClr val="2EF2B6"/>
          </a:solidFill>
          <a:ln/>
        </p:spPr>
      </p:sp>
      <p:sp>
        <p:nvSpPr>
          <p:cNvPr id="19" name="Text 17"/>
          <p:cNvSpPr/>
          <p:nvPr/>
        </p:nvSpPr>
        <p:spPr>
          <a:xfrm>
            <a:off x="1066773" y="3428914"/>
            <a:ext cx="266693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Visão de negócio</a:t>
            </a:r>
            <a:endParaRPr lang="en-US" sz="675" dirty="0"/>
          </a:p>
        </p:txBody>
      </p:sp>
      <p:sp>
        <p:nvSpPr>
          <p:cNvPr id="20" name="Shape 18"/>
          <p:cNvSpPr/>
          <p:nvPr/>
        </p:nvSpPr>
        <p:spPr>
          <a:xfrm>
            <a:off x="838179" y="3733707"/>
            <a:ext cx="3047924" cy="285743"/>
          </a:xfrm>
          <a:prstGeom prst="roundRect">
            <a:avLst>
              <a:gd name="adj" fmla="val 96002"/>
            </a:avLst>
          </a:prstGeom>
          <a:solidFill>
            <a:srgbClr val="FFFFFF">
              <a:alpha val="3000"/>
            </a:srgbClr>
          </a:solidFill>
          <a:ln w="6350">
            <a:solidFill>
              <a:srgbClr val="FFFFFF">
                <a:alpha val="7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33427" y="3848004"/>
            <a:ext cx="57149" cy="57149"/>
          </a:xfrm>
          <a:prstGeom prst="ellipse">
            <a:avLst/>
          </a:prstGeom>
          <a:solidFill>
            <a:srgbClr val="2EF2B6"/>
          </a:solidFill>
          <a:ln/>
        </p:spPr>
      </p:sp>
      <p:sp>
        <p:nvSpPr>
          <p:cNvPr id="22" name="Text 20"/>
          <p:cNvSpPr/>
          <p:nvPr/>
        </p:nvSpPr>
        <p:spPr>
          <a:xfrm>
            <a:off x="1066773" y="3809905"/>
            <a:ext cx="266693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Capacidade de ação</a:t>
            </a:r>
            <a:endParaRPr lang="en-US" sz="675" dirty="0"/>
          </a:p>
        </p:txBody>
      </p:sp>
      <p:sp>
        <p:nvSpPr>
          <p:cNvPr id="23" name="Shape 21"/>
          <p:cNvSpPr/>
          <p:nvPr/>
        </p:nvSpPr>
        <p:spPr>
          <a:xfrm>
            <a:off x="838179" y="4114697"/>
            <a:ext cx="3047924" cy="285743"/>
          </a:xfrm>
          <a:prstGeom prst="roundRect">
            <a:avLst>
              <a:gd name="adj" fmla="val 96002"/>
            </a:avLst>
          </a:prstGeom>
          <a:solidFill>
            <a:srgbClr val="FFFFFF">
              <a:alpha val="3000"/>
            </a:srgbClr>
          </a:solidFill>
          <a:ln w="6350">
            <a:solidFill>
              <a:srgbClr val="FFFFFF">
                <a:alpha val="7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33427" y="4228994"/>
            <a:ext cx="57149" cy="57149"/>
          </a:xfrm>
          <a:prstGeom prst="ellipse">
            <a:avLst/>
          </a:prstGeom>
          <a:solidFill>
            <a:srgbClr val="2EF2B6"/>
          </a:solidFill>
          <a:ln/>
        </p:spPr>
      </p:sp>
      <p:sp>
        <p:nvSpPr>
          <p:cNvPr id="25" name="Text 23"/>
          <p:cNvSpPr/>
          <p:nvPr/>
        </p:nvSpPr>
        <p:spPr>
          <a:xfrm>
            <a:off x="1066773" y="4190895"/>
            <a:ext cx="266693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Proatividade</a:t>
            </a:r>
            <a:endParaRPr lang="en-US" sz="675" dirty="0"/>
          </a:p>
        </p:txBody>
      </p:sp>
      <p:sp>
        <p:nvSpPr>
          <p:cNvPr id="26" name="Shape 24"/>
          <p:cNvSpPr/>
          <p:nvPr/>
        </p:nvSpPr>
        <p:spPr>
          <a:xfrm>
            <a:off x="838179" y="4495688"/>
            <a:ext cx="3047924" cy="285743"/>
          </a:xfrm>
          <a:prstGeom prst="roundRect">
            <a:avLst>
              <a:gd name="adj" fmla="val 96002"/>
            </a:avLst>
          </a:prstGeom>
          <a:solidFill>
            <a:srgbClr val="FFFFFF">
              <a:alpha val="3000"/>
            </a:srgbClr>
          </a:solidFill>
          <a:ln w="6350">
            <a:solidFill>
              <a:srgbClr val="FFFFFF">
                <a:alpha val="7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33427" y="4609985"/>
            <a:ext cx="57149" cy="57149"/>
          </a:xfrm>
          <a:prstGeom prst="ellipse">
            <a:avLst/>
          </a:prstGeom>
          <a:solidFill>
            <a:srgbClr val="2EF2B6"/>
          </a:solidFill>
          <a:ln/>
        </p:spPr>
      </p:sp>
      <p:sp>
        <p:nvSpPr>
          <p:cNvPr id="28" name="Text 26"/>
          <p:cNvSpPr/>
          <p:nvPr/>
        </p:nvSpPr>
        <p:spPr>
          <a:xfrm>
            <a:off x="1066773" y="4571886"/>
            <a:ext cx="266693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Documentação técnica</a:t>
            </a:r>
            <a:endParaRPr lang="en-US" sz="675" dirty="0"/>
          </a:p>
        </p:txBody>
      </p:sp>
      <p:sp>
        <p:nvSpPr>
          <p:cNvPr id="29" name="Shape 27"/>
          <p:cNvSpPr/>
          <p:nvPr/>
        </p:nvSpPr>
        <p:spPr>
          <a:xfrm>
            <a:off x="4267093" y="1809705"/>
            <a:ext cx="3505112" cy="4095648"/>
          </a:xfrm>
          <a:prstGeom prst="roundRect">
            <a:avLst>
              <a:gd name="adj" fmla="val 1565"/>
            </a:avLst>
          </a:prstGeom>
          <a:solidFill>
            <a:srgbClr val="8B5CF6">
              <a:alpha val="6000"/>
            </a:srgbClr>
          </a:solidFill>
          <a:ln w="9525">
            <a:solidFill>
              <a:srgbClr val="8B5CF6">
                <a:alpha val="22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495688" y="1981150"/>
            <a:ext cx="3047924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5" spc="100" kern="0" dirty="0">
                <a:solidFill>
                  <a:srgbClr val="8B5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HABILIDADES EM APRIMORAMENTO</a:t>
            </a:r>
            <a:endParaRPr lang="en-US" sz="525" dirty="0"/>
          </a:p>
        </p:txBody>
      </p:sp>
      <p:sp>
        <p:nvSpPr>
          <p:cNvPr id="31" name="Text 29"/>
          <p:cNvSpPr/>
          <p:nvPr/>
        </p:nvSpPr>
        <p:spPr>
          <a:xfrm>
            <a:off x="4495688" y="2171646"/>
            <a:ext cx="3047924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Desenvolvendo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4495688" y="2590735"/>
            <a:ext cx="3047924" cy="285743"/>
          </a:xfrm>
          <a:prstGeom prst="roundRect">
            <a:avLst>
              <a:gd name="adj" fmla="val 96002"/>
            </a:avLst>
          </a:prstGeom>
          <a:solidFill>
            <a:srgbClr val="FFFFFF">
              <a:alpha val="3000"/>
            </a:srgbClr>
          </a:solidFill>
          <a:ln w="6350">
            <a:solidFill>
              <a:srgbClr val="FFFFFF">
                <a:alpha val="7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90935" y="2705032"/>
            <a:ext cx="57149" cy="57149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34" name="Text 32"/>
          <p:cNvSpPr/>
          <p:nvPr/>
        </p:nvSpPr>
        <p:spPr>
          <a:xfrm>
            <a:off x="4724282" y="2666933"/>
            <a:ext cx="266693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Liderança de equipes</a:t>
            </a:r>
            <a:endParaRPr lang="en-US" sz="675" dirty="0"/>
          </a:p>
        </p:txBody>
      </p:sp>
      <p:sp>
        <p:nvSpPr>
          <p:cNvPr id="35" name="Shape 33"/>
          <p:cNvSpPr/>
          <p:nvPr/>
        </p:nvSpPr>
        <p:spPr>
          <a:xfrm>
            <a:off x="4495688" y="2971726"/>
            <a:ext cx="3047924" cy="285743"/>
          </a:xfrm>
          <a:prstGeom prst="roundRect">
            <a:avLst>
              <a:gd name="adj" fmla="val 96002"/>
            </a:avLst>
          </a:prstGeom>
          <a:solidFill>
            <a:srgbClr val="FFFFFF">
              <a:alpha val="3000"/>
            </a:srgbClr>
          </a:solidFill>
          <a:ln w="6350">
            <a:solidFill>
              <a:srgbClr val="FFFFFF">
                <a:alpha val="7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590935" y="3086023"/>
            <a:ext cx="57149" cy="57149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37" name="Text 35"/>
          <p:cNvSpPr/>
          <p:nvPr/>
        </p:nvSpPr>
        <p:spPr>
          <a:xfrm>
            <a:off x="4724282" y="3047924"/>
            <a:ext cx="266693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Comunicação assertiva</a:t>
            </a:r>
            <a:endParaRPr lang="en-US" sz="675" dirty="0"/>
          </a:p>
        </p:txBody>
      </p:sp>
      <p:sp>
        <p:nvSpPr>
          <p:cNvPr id="38" name="Shape 36"/>
          <p:cNvSpPr/>
          <p:nvPr/>
        </p:nvSpPr>
        <p:spPr>
          <a:xfrm>
            <a:off x="4495688" y="3352716"/>
            <a:ext cx="3047924" cy="285743"/>
          </a:xfrm>
          <a:prstGeom prst="roundRect">
            <a:avLst>
              <a:gd name="adj" fmla="val 96002"/>
            </a:avLst>
          </a:prstGeom>
          <a:solidFill>
            <a:srgbClr val="FFFFFF">
              <a:alpha val="3000"/>
            </a:srgbClr>
          </a:solidFill>
          <a:ln w="6350">
            <a:solidFill>
              <a:srgbClr val="FFFFFF">
                <a:alpha val="700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590935" y="3467013"/>
            <a:ext cx="57149" cy="57149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40" name="Text 38"/>
          <p:cNvSpPr/>
          <p:nvPr/>
        </p:nvSpPr>
        <p:spPr>
          <a:xfrm>
            <a:off x="4724282" y="3428914"/>
            <a:ext cx="266693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Priorização estratégica</a:t>
            </a:r>
            <a:endParaRPr lang="en-US" sz="675" dirty="0"/>
          </a:p>
        </p:txBody>
      </p:sp>
      <p:sp>
        <p:nvSpPr>
          <p:cNvPr id="41" name="Shape 39"/>
          <p:cNvSpPr/>
          <p:nvPr/>
        </p:nvSpPr>
        <p:spPr>
          <a:xfrm>
            <a:off x="7924602" y="1809705"/>
            <a:ext cx="3505112" cy="4095648"/>
          </a:xfrm>
          <a:prstGeom prst="roundRect">
            <a:avLst>
              <a:gd name="adj" fmla="val 1565"/>
            </a:avLst>
          </a:prstGeom>
          <a:solidFill>
            <a:srgbClr val="FF4D8D">
              <a:alpha val="6000"/>
            </a:srgbClr>
          </a:solidFill>
          <a:ln w="9525">
            <a:solidFill>
              <a:srgbClr val="FF4D8D">
                <a:alpha val="22000"/>
              </a:srgbClr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153196" y="1981150"/>
            <a:ext cx="3047924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5" spc="100" kern="0" dirty="0">
                <a:solidFill>
                  <a:srgbClr val="FF4D8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PRÓXIMOS FOCOS</a:t>
            </a:r>
            <a:endParaRPr lang="en-US" sz="525" dirty="0"/>
          </a:p>
        </p:txBody>
      </p:sp>
      <p:sp>
        <p:nvSpPr>
          <p:cNvPr id="43" name="Text 41"/>
          <p:cNvSpPr/>
          <p:nvPr/>
        </p:nvSpPr>
        <p:spPr>
          <a:xfrm>
            <a:off x="8153196" y="2171646"/>
            <a:ext cx="3047924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Preciso adquirir</a:t>
            </a:r>
            <a:endParaRPr lang="en-US" sz="1500" dirty="0"/>
          </a:p>
        </p:txBody>
      </p:sp>
      <p:sp>
        <p:nvSpPr>
          <p:cNvPr id="44" name="Shape 42"/>
          <p:cNvSpPr/>
          <p:nvPr/>
        </p:nvSpPr>
        <p:spPr>
          <a:xfrm>
            <a:off x="8153196" y="2590735"/>
            <a:ext cx="3047924" cy="285743"/>
          </a:xfrm>
          <a:prstGeom prst="roundRect">
            <a:avLst>
              <a:gd name="adj" fmla="val 96002"/>
            </a:avLst>
          </a:prstGeom>
          <a:solidFill>
            <a:srgbClr val="FFFFFF">
              <a:alpha val="3000"/>
            </a:srgbClr>
          </a:solidFill>
          <a:ln w="6350">
            <a:solidFill>
              <a:srgbClr val="FFFFFF">
                <a:alpha val="700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248444" y="2705032"/>
            <a:ext cx="57149" cy="57149"/>
          </a:xfrm>
          <a:prstGeom prst="ellipse">
            <a:avLst/>
          </a:prstGeom>
          <a:solidFill>
            <a:srgbClr val="FF4D8D"/>
          </a:solidFill>
          <a:ln/>
        </p:spPr>
      </p:sp>
      <p:sp>
        <p:nvSpPr>
          <p:cNvPr id="46" name="Text 44"/>
          <p:cNvSpPr/>
          <p:nvPr/>
        </p:nvSpPr>
        <p:spPr>
          <a:xfrm>
            <a:off x="8381790" y="2666933"/>
            <a:ext cx="266693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Persuasão &amp; influência</a:t>
            </a:r>
            <a:endParaRPr lang="en-US" sz="675" dirty="0"/>
          </a:p>
        </p:txBody>
      </p:sp>
      <p:sp>
        <p:nvSpPr>
          <p:cNvPr id="47" name="Shape 45"/>
          <p:cNvSpPr/>
          <p:nvPr/>
        </p:nvSpPr>
        <p:spPr>
          <a:xfrm>
            <a:off x="8153196" y="2971726"/>
            <a:ext cx="3047924" cy="285743"/>
          </a:xfrm>
          <a:prstGeom prst="roundRect">
            <a:avLst>
              <a:gd name="adj" fmla="val 96002"/>
            </a:avLst>
          </a:prstGeom>
          <a:solidFill>
            <a:srgbClr val="FFFFFF">
              <a:alpha val="3000"/>
            </a:srgbClr>
          </a:solidFill>
          <a:ln w="6350">
            <a:solidFill>
              <a:srgbClr val="FFFFFF">
                <a:alpha val="700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248444" y="3086023"/>
            <a:ext cx="57149" cy="57149"/>
          </a:xfrm>
          <a:prstGeom prst="ellipse">
            <a:avLst/>
          </a:prstGeom>
          <a:solidFill>
            <a:srgbClr val="FF4D8D"/>
          </a:solidFill>
          <a:ln/>
        </p:spPr>
      </p:sp>
      <p:sp>
        <p:nvSpPr>
          <p:cNvPr id="49" name="Text 47"/>
          <p:cNvSpPr/>
          <p:nvPr/>
        </p:nvSpPr>
        <p:spPr>
          <a:xfrm>
            <a:off x="8381790" y="3047924"/>
            <a:ext cx="266693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Exposição de métricas</a:t>
            </a:r>
            <a:endParaRPr lang="en-US" sz="675" dirty="0"/>
          </a:p>
        </p:txBody>
      </p:sp>
      <p:sp>
        <p:nvSpPr>
          <p:cNvPr id="50" name="Shape 48"/>
          <p:cNvSpPr/>
          <p:nvPr/>
        </p:nvSpPr>
        <p:spPr>
          <a:xfrm>
            <a:off x="8153196" y="3352716"/>
            <a:ext cx="3047924" cy="285743"/>
          </a:xfrm>
          <a:prstGeom prst="roundRect">
            <a:avLst>
              <a:gd name="adj" fmla="val 96002"/>
            </a:avLst>
          </a:prstGeom>
          <a:solidFill>
            <a:srgbClr val="FFFFFF">
              <a:alpha val="3000"/>
            </a:srgbClr>
          </a:solidFill>
          <a:ln w="6350">
            <a:solidFill>
              <a:srgbClr val="FFFFFF">
                <a:alpha val="700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248444" y="3467013"/>
            <a:ext cx="57149" cy="57149"/>
          </a:xfrm>
          <a:prstGeom prst="ellipse">
            <a:avLst/>
          </a:prstGeom>
          <a:solidFill>
            <a:srgbClr val="FF4D8D"/>
          </a:solidFill>
          <a:ln/>
        </p:spPr>
      </p:sp>
      <p:sp>
        <p:nvSpPr>
          <p:cNvPr id="52" name="Text 50"/>
          <p:cNvSpPr/>
          <p:nvPr/>
        </p:nvSpPr>
        <p:spPr>
          <a:xfrm>
            <a:off x="8381790" y="3428914"/>
            <a:ext cx="266693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Apresentação de resultados</a:t>
            </a:r>
            <a:endParaRPr lang="en-US" sz="675" dirty="0"/>
          </a:p>
        </p:txBody>
      </p:sp>
      <p:sp>
        <p:nvSpPr>
          <p:cNvPr id="53" name="Shape 51"/>
          <p:cNvSpPr/>
          <p:nvPr/>
        </p:nvSpPr>
        <p:spPr>
          <a:xfrm>
            <a:off x="8153196" y="3733707"/>
            <a:ext cx="3047924" cy="285743"/>
          </a:xfrm>
          <a:prstGeom prst="roundRect">
            <a:avLst>
              <a:gd name="adj" fmla="val 96002"/>
            </a:avLst>
          </a:prstGeom>
          <a:solidFill>
            <a:srgbClr val="FFFFFF">
              <a:alpha val="3000"/>
            </a:srgbClr>
          </a:solidFill>
          <a:ln w="6350">
            <a:solidFill>
              <a:srgbClr val="FFFFFF">
                <a:alpha val="700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248444" y="3848004"/>
            <a:ext cx="57149" cy="57149"/>
          </a:xfrm>
          <a:prstGeom prst="ellipse">
            <a:avLst/>
          </a:prstGeom>
          <a:solidFill>
            <a:srgbClr val="FF4D8D"/>
          </a:solidFill>
          <a:ln/>
        </p:spPr>
      </p:sp>
      <p:sp>
        <p:nvSpPr>
          <p:cNvPr id="55" name="Text 53"/>
          <p:cNvSpPr/>
          <p:nvPr/>
        </p:nvSpPr>
        <p:spPr>
          <a:xfrm>
            <a:off x="8381790" y="3809905"/>
            <a:ext cx="266693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Gestão &amp; foco em pessoas</a:t>
            </a:r>
            <a:endParaRPr lang="en-US" sz="675" dirty="0"/>
          </a:p>
        </p:txBody>
      </p:sp>
      <p:sp>
        <p:nvSpPr>
          <p:cNvPr id="56" name="Shape 54"/>
          <p:cNvSpPr/>
          <p:nvPr/>
        </p:nvSpPr>
        <p:spPr>
          <a:xfrm>
            <a:off x="8153196" y="4114697"/>
            <a:ext cx="3047924" cy="285743"/>
          </a:xfrm>
          <a:prstGeom prst="roundRect">
            <a:avLst>
              <a:gd name="adj" fmla="val 96002"/>
            </a:avLst>
          </a:prstGeom>
          <a:solidFill>
            <a:srgbClr val="FFFFFF">
              <a:alpha val="3000"/>
            </a:srgbClr>
          </a:solidFill>
          <a:ln w="6350">
            <a:solidFill>
              <a:srgbClr val="FFFFFF">
                <a:alpha val="7000"/>
              </a:srgbClr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248444" y="4228994"/>
            <a:ext cx="57149" cy="57149"/>
          </a:xfrm>
          <a:prstGeom prst="ellipse">
            <a:avLst/>
          </a:prstGeom>
          <a:solidFill>
            <a:srgbClr val="FF4D8D"/>
          </a:solidFill>
          <a:ln/>
        </p:spPr>
      </p:sp>
      <p:sp>
        <p:nvSpPr>
          <p:cNvPr id="58" name="Text 56"/>
          <p:cNvSpPr/>
          <p:nvPr/>
        </p:nvSpPr>
        <p:spPr>
          <a:xfrm>
            <a:off x="8381790" y="4190895"/>
            <a:ext cx="266693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Critérios de documentação</a:t>
            </a:r>
            <a:endParaRPr lang="en-US" sz="675" dirty="0"/>
          </a:p>
        </p:txBody>
      </p:sp>
      <p:sp>
        <p:nvSpPr>
          <p:cNvPr id="59" name="Text 57"/>
          <p:cNvSpPr/>
          <p:nvPr/>
        </p:nvSpPr>
        <p:spPr>
          <a:xfrm>
            <a:off x="609585" y="6095848"/>
            <a:ext cx="1097252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spc="15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AUTOAVALIAÇÃO CONTÍNUA · DIRECIONAMENTO ESTRATÉGICO</a:t>
            </a:r>
            <a:endParaRPr lang="en-US" sz="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585" y="380990"/>
            <a:ext cx="323842" cy="323842"/>
          </a:xfrm>
          <a:prstGeom prst="roundRect">
            <a:avLst>
              <a:gd name="adj" fmla="val 79061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9585" y="400040"/>
            <a:ext cx="323842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75" b="1" dirty="0">
                <a:solidFill>
                  <a:srgbClr val="05080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</a:t>
            </a:r>
            <a:endParaRPr lang="en-US" sz="1275" dirty="0"/>
          </a:p>
        </p:txBody>
      </p:sp>
      <p:sp>
        <p:nvSpPr>
          <p:cNvPr id="4" name="Text 2"/>
          <p:cNvSpPr/>
          <p:nvPr/>
        </p:nvSpPr>
        <p:spPr>
          <a:xfrm>
            <a:off x="1028674" y="409565"/>
            <a:ext cx="1523962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Rhyan</a:t>
            </a:r>
            <a:pPr indent="0" marL="0">
              <a:buNone/>
            </a:pPr>
            <a:r>
              <a:rPr lang="en-US" sz="13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.dev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8572286" y="457189"/>
            <a:ext cx="300982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spc="15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RHYAN LEMOS Â· 10 / 12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609585" y="1104872"/>
            <a:ext cx="10972526" cy="495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Trajetória em 3 etapas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609585" y="1523962"/>
            <a:ext cx="10972526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75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Roadmap estratégico de crescimento.</a:t>
            </a:r>
            <a:endParaRPr lang="en-US" sz="975" dirty="0"/>
          </a:p>
        </p:txBody>
      </p:sp>
      <p:sp>
        <p:nvSpPr>
          <p:cNvPr id="8" name="Shape 6"/>
          <p:cNvSpPr/>
          <p:nvPr/>
        </p:nvSpPr>
        <p:spPr>
          <a:xfrm>
            <a:off x="609585" y="2762181"/>
            <a:ext cx="10972526" cy="19050"/>
          </a:xfrm>
          <a:prstGeom prst="rect">
            <a:avLst/>
          </a:prstGeom>
          <a:solidFill>
            <a:srgbClr val="2EF2B6">
              <a:alpha val="4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609585" y="2590735"/>
            <a:ext cx="342891" cy="342891"/>
          </a:xfrm>
          <a:prstGeom prst="ellipse">
            <a:avLst/>
          </a:prstGeom>
          <a:solidFill>
            <a:srgbClr val="2EF2B6"/>
          </a:solidFill>
          <a:ln w="12700">
            <a:solidFill>
              <a:srgbClr val="2EF2B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9585" y="2638359"/>
            <a:ext cx="342891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080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66773" y="2685983"/>
            <a:ext cx="190495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spc="10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– 3 MESES</a:t>
            </a:r>
            <a:endParaRPr lang="en-US" sz="675" dirty="0"/>
          </a:p>
        </p:txBody>
      </p:sp>
      <p:sp>
        <p:nvSpPr>
          <p:cNvPr id="12" name="Shape 10"/>
          <p:cNvSpPr/>
          <p:nvPr/>
        </p:nvSpPr>
        <p:spPr>
          <a:xfrm>
            <a:off x="609585" y="3143171"/>
            <a:ext cx="3505112" cy="2381190"/>
          </a:xfrm>
          <a:prstGeom prst="roundRect">
            <a:avLst>
              <a:gd name="adj" fmla="val 2304"/>
            </a:avLst>
          </a:prstGeom>
          <a:solidFill>
            <a:srgbClr val="2EF2B6">
              <a:alpha val="6000"/>
            </a:srgbClr>
          </a:solidFill>
          <a:ln w="9525">
            <a:solidFill>
              <a:srgbClr val="2EF2B6">
                <a:alpha val="22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0080" y="3295568"/>
            <a:ext cx="3047924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5" spc="10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FASE INICIAL</a:t>
            </a:r>
            <a:endParaRPr lang="en-US" sz="525" dirty="0"/>
          </a:p>
        </p:txBody>
      </p:sp>
      <p:sp>
        <p:nvSpPr>
          <p:cNvPr id="14" name="Text 12"/>
          <p:cNvSpPr/>
          <p:nvPr/>
        </p:nvSpPr>
        <p:spPr>
          <a:xfrm>
            <a:off x="800080" y="3486063"/>
            <a:ext cx="3047924" cy="247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Execução &amp; eficiência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00080" y="3828954"/>
            <a:ext cx="304792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â–¸ Assumir maiores responsabilidades</a:t>
            </a:r>
            <a:endParaRPr lang="en-US" sz="675" dirty="0"/>
          </a:p>
        </p:txBody>
      </p:sp>
      <p:sp>
        <p:nvSpPr>
          <p:cNvPr id="16" name="Text 14"/>
          <p:cNvSpPr/>
          <p:nvPr/>
        </p:nvSpPr>
        <p:spPr>
          <a:xfrm>
            <a:off x="800080" y="4057549"/>
            <a:ext cx="304792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â–¸ Aplicar técnicas de versionamento</a:t>
            </a:r>
            <a:endParaRPr lang="en-US" sz="675" dirty="0"/>
          </a:p>
        </p:txBody>
      </p:sp>
      <p:sp>
        <p:nvSpPr>
          <p:cNvPr id="17" name="Text 15"/>
          <p:cNvSpPr/>
          <p:nvPr/>
        </p:nvSpPr>
        <p:spPr>
          <a:xfrm>
            <a:off x="800080" y="4286143"/>
            <a:ext cx="304792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â–¸ Dominar e estruturar pipelines</a:t>
            </a:r>
            <a:endParaRPr lang="en-US" sz="675" dirty="0"/>
          </a:p>
        </p:txBody>
      </p:sp>
      <p:sp>
        <p:nvSpPr>
          <p:cNvPr id="18" name="Text 16"/>
          <p:cNvSpPr/>
          <p:nvPr/>
        </p:nvSpPr>
        <p:spPr>
          <a:xfrm>
            <a:off x="800080" y="4514737"/>
            <a:ext cx="304792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â–¸ Lean Six Sigma Green Belt</a:t>
            </a:r>
            <a:endParaRPr lang="en-US" sz="675" dirty="0"/>
          </a:p>
        </p:txBody>
      </p:sp>
      <p:sp>
        <p:nvSpPr>
          <p:cNvPr id="19" name="Shape 17"/>
          <p:cNvSpPr/>
          <p:nvPr/>
        </p:nvSpPr>
        <p:spPr>
          <a:xfrm>
            <a:off x="800080" y="5124322"/>
            <a:ext cx="3124122" cy="9525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800080" y="5219570"/>
            <a:ext cx="3124122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750"/>
              </a:lnSpc>
              <a:buNone/>
            </a:pPr>
            <a:r>
              <a:rPr lang="en-US" sz="600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Ganhar autonomia e consistência técnica.</a:t>
            </a:r>
            <a:endParaRPr lang="en-US" sz="600" dirty="0"/>
          </a:p>
        </p:txBody>
      </p:sp>
      <p:sp>
        <p:nvSpPr>
          <p:cNvPr id="21" name="Shape 19"/>
          <p:cNvSpPr/>
          <p:nvPr/>
        </p:nvSpPr>
        <p:spPr>
          <a:xfrm>
            <a:off x="4267093" y="2590735"/>
            <a:ext cx="342891" cy="342891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267093" y="2638359"/>
            <a:ext cx="342891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080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724282" y="2685983"/>
            <a:ext cx="190495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spc="10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– 6 MESES</a:t>
            </a:r>
            <a:endParaRPr lang="en-US" sz="675" dirty="0"/>
          </a:p>
        </p:txBody>
      </p:sp>
      <p:sp>
        <p:nvSpPr>
          <p:cNvPr id="24" name="Shape 22"/>
          <p:cNvSpPr/>
          <p:nvPr/>
        </p:nvSpPr>
        <p:spPr>
          <a:xfrm>
            <a:off x="4267093" y="3143171"/>
            <a:ext cx="3505112" cy="2381190"/>
          </a:xfrm>
          <a:prstGeom prst="roundRect">
            <a:avLst>
              <a:gd name="adj" fmla="val 2304"/>
            </a:avLst>
          </a:prstGeom>
          <a:solidFill>
            <a:srgbClr val="8B5CF6">
              <a:alpha val="6000"/>
            </a:srgbClr>
          </a:solidFill>
          <a:ln w="9525">
            <a:solidFill>
              <a:srgbClr val="8B5CF6">
                <a:alpha val="22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457589" y="3295568"/>
            <a:ext cx="3047924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5" spc="10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FASE INTERMEDIÁRIA</a:t>
            </a:r>
            <a:endParaRPr lang="en-US" sz="525" dirty="0"/>
          </a:p>
        </p:txBody>
      </p:sp>
      <p:sp>
        <p:nvSpPr>
          <p:cNvPr id="26" name="Text 24"/>
          <p:cNvSpPr/>
          <p:nvPr/>
        </p:nvSpPr>
        <p:spPr>
          <a:xfrm>
            <a:off x="4457589" y="3486063"/>
            <a:ext cx="3047924" cy="247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Domínio técnico &amp; IA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457589" y="3828954"/>
            <a:ext cx="304792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â–¸ Liderança técnica entre pares</a:t>
            </a:r>
            <a:endParaRPr lang="en-US" sz="675" dirty="0"/>
          </a:p>
        </p:txBody>
      </p:sp>
      <p:sp>
        <p:nvSpPr>
          <p:cNvPr id="28" name="Text 26"/>
          <p:cNvSpPr/>
          <p:nvPr/>
        </p:nvSpPr>
        <p:spPr>
          <a:xfrm>
            <a:off x="4457589" y="4057549"/>
            <a:ext cx="304792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â–¸ Apresentação de resultados e KPIs</a:t>
            </a:r>
            <a:endParaRPr lang="en-US" sz="675" dirty="0"/>
          </a:p>
        </p:txBody>
      </p:sp>
      <p:sp>
        <p:nvSpPr>
          <p:cNvPr id="29" name="Text 27"/>
          <p:cNvSpPr/>
          <p:nvPr/>
        </p:nvSpPr>
        <p:spPr>
          <a:xfrm>
            <a:off x="4457589" y="4286143"/>
            <a:ext cx="304792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â–¸ DevOps, CI/CD e automação</a:t>
            </a:r>
            <a:endParaRPr lang="en-US" sz="675" dirty="0"/>
          </a:p>
        </p:txBody>
      </p:sp>
      <p:sp>
        <p:nvSpPr>
          <p:cNvPr id="30" name="Text 28"/>
          <p:cNvSpPr/>
          <p:nvPr/>
        </p:nvSpPr>
        <p:spPr>
          <a:xfrm>
            <a:off x="4457589" y="4514737"/>
            <a:ext cx="304792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â–¸ Aplicação de LLMs e IA generativa</a:t>
            </a:r>
            <a:endParaRPr lang="en-US" sz="675" dirty="0"/>
          </a:p>
        </p:txBody>
      </p:sp>
      <p:sp>
        <p:nvSpPr>
          <p:cNvPr id="31" name="Shape 29"/>
          <p:cNvSpPr/>
          <p:nvPr/>
        </p:nvSpPr>
        <p:spPr>
          <a:xfrm>
            <a:off x="4457589" y="5124322"/>
            <a:ext cx="3124122" cy="9525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32" name="Text 30"/>
          <p:cNvSpPr/>
          <p:nvPr/>
        </p:nvSpPr>
        <p:spPr>
          <a:xfrm>
            <a:off x="4457589" y="5219570"/>
            <a:ext cx="3124122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750"/>
              </a:lnSpc>
              <a:buNone/>
            </a:pPr>
            <a:r>
              <a:rPr lang="en-US" sz="600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 referência técnica em automação e IA.</a:t>
            </a:r>
            <a:endParaRPr lang="en-US" sz="600" dirty="0"/>
          </a:p>
        </p:txBody>
      </p:sp>
      <p:sp>
        <p:nvSpPr>
          <p:cNvPr id="33" name="Shape 31"/>
          <p:cNvSpPr/>
          <p:nvPr/>
        </p:nvSpPr>
        <p:spPr>
          <a:xfrm>
            <a:off x="7924602" y="2590735"/>
            <a:ext cx="342891" cy="342891"/>
          </a:xfrm>
          <a:prstGeom prst="ellipse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924602" y="2638359"/>
            <a:ext cx="342891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080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381790" y="2685983"/>
            <a:ext cx="190495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spc="10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 – 12 MESES</a:t>
            </a:r>
            <a:endParaRPr lang="en-US" sz="675" dirty="0"/>
          </a:p>
        </p:txBody>
      </p:sp>
      <p:sp>
        <p:nvSpPr>
          <p:cNvPr id="36" name="Shape 34"/>
          <p:cNvSpPr/>
          <p:nvPr/>
        </p:nvSpPr>
        <p:spPr>
          <a:xfrm>
            <a:off x="7924602" y="3143171"/>
            <a:ext cx="3505112" cy="2381190"/>
          </a:xfrm>
          <a:prstGeom prst="roundRect">
            <a:avLst>
              <a:gd name="adj" fmla="val 2304"/>
            </a:avLst>
          </a:prstGeom>
          <a:solidFill>
            <a:srgbClr val="FF4D8D">
              <a:alpha val="6000"/>
            </a:srgbClr>
          </a:solidFill>
          <a:ln w="9525">
            <a:solidFill>
              <a:srgbClr val="FF4D8D">
                <a:alpha val="2200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115097" y="3295568"/>
            <a:ext cx="3047924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5" spc="10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FASE AVANÇADA</a:t>
            </a:r>
            <a:endParaRPr lang="en-US" sz="525" dirty="0"/>
          </a:p>
        </p:txBody>
      </p:sp>
      <p:sp>
        <p:nvSpPr>
          <p:cNvPr id="38" name="Text 36"/>
          <p:cNvSpPr/>
          <p:nvPr/>
        </p:nvSpPr>
        <p:spPr>
          <a:xfrm>
            <a:off x="8115097" y="3486063"/>
            <a:ext cx="3047924" cy="247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Gestão &amp; mentoria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115097" y="3828954"/>
            <a:ext cx="304792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â–¸ Programa de mentoria</a:t>
            </a:r>
            <a:endParaRPr lang="en-US" sz="675" dirty="0"/>
          </a:p>
        </p:txBody>
      </p:sp>
      <p:sp>
        <p:nvSpPr>
          <p:cNvPr id="40" name="Text 38"/>
          <p:cNvSpPr/>
          <p:nvPr/>
        </p:nvSpPr>
        <p:spPr>
          <a:xfrm>
            <a:off x="8115097" y="4057549"/>
            <a:ext cx="304792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â–¸ Apresentações executivas</a:t>
            </a:r>
            <a:endParaRPr lang="en-US" sz="675" dirty="0"/>
          </a:p>
        </p:txBody>
      </p:sp>
      <p:sp>
        <p:nvSpPr>
          <p:cNvPr id="41" name="Text 39"/>
          <p:cNvSpPr/>
          <p:nvPr/>
        </p:nvSpPr>
        <p:spPr>
          <a:xfrm>
            <a:off x="8115097" y="4286143"/>
            <a:ext cx="304792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â–¸ Liderança e gestão de equipes</a:t>
            </a:r>
            <a:endParaRPr lang="en-US" sz="675" dirty="0"/>
          </a:p>
        </p:txBody>
      </p:sp>
      <p:sp>
        <p:nvSpPr>
          <p:cNvPr id="42" name="Text 40"/>
          <p:cNvSpPr/>
          <p:nvPr/>
        </p:nvSpPr>
        <p:spPr>
          <a:xfrm>
            <a:off x="8115097" y="4514737"/>
            <a:ext cx="304792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â–¸ Gestão ponta a ponta de projetos</a:t>
            </a:r>
            <a:endParaRPr lang="en-US" sz="675" dirty="0"/>
          </a:p>
        </p:txBody>
      </p:sp>
      <p:sp>
        <p:nvSpPr>
          <p:cNvPr id="43" name="Shape 41"/>
          <p:cNvSpPr/>
          <p:nvPr/>
        </p:nvSpPr>
        <p:spPr>
          <a:xfrm>
            <a:off x="8115097" y="5124322"/>
            <a:ext cx="3124122" cy="9525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44" name="Text 42"/>
          <p:cNvSpPr/>
          <p:nvPr/>
        </p:nvSpPr>
        <p:spPr>
          <a:xfrm>
            <a:off x="8115097" y="5219570"/>
            <a:ext cx="3124122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750"/>
              </a:lnSpc>
              <a:buNone/>
            </a:pPr>
            <a:r>
              <a:rPr lang="en-US" sz="600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Liderar pessoas e projetos de ponta a ponta.</a:t>
            </a:r>
            <a:endParaRPr lang="en-US" sz="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585" y="380990"/>
            <a:ext cx="323842" cy="323842"/>
          </a:xfrm>
          <a:prstGeom prst="roundRect">
            <a:avLst>
              <a:gd name="adj" fmla="val 79061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9585" y="400040"/>
            <a:ext cx="323842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75" b="1" dirty="0">
                <a:solidFill>
                  <a:srgbClr val="05080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</a:t>
            </a:r>
            <a:endParaRPr lang="en-US" sz="1275" dirty="0"/>
          </a:p>
        </p:txBody>
      </p:sp>
      <p:sp>
        <p:nvSpPr>
          <p:cNvPr id="4" name="Text 2"/>
          <p:cNvSpPr/>
          <p:nvPr/>
        </p:nvSpPr>
        <p:spPr>
          <a:xfrm>
            <a:off x="1028674" y="409565"/>
            <a:ext cx="1523962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Rhyan</a:t>
            </a:r>
            <a:pPr indent="0" marL="0">
              <a:buNone/>
            </a:pPr>
            <a:r>
              <a:rPr lang="en-US" sz="13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.dev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8572286" y="457189"/>
            <a:ext cx="300982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spc="15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RHYAN LEMOS Â· 11 / 12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609585" y="1104872"/>
            <a:ext cx="10972526" cy="495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Onde me encontrar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609585" y="1523962"/>
            <a:ext cx="10972526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75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Vamos trocar ideias sobre tecnologia, projetos e carreira.</a:t>
            </a:r>
            <a:endParaRPr lang="en-US" sz="975" dirty="0"/>
          </a:p>
        </p:txBody>
      </p:sp>
      <p:sp>
        <p:nvSpPr>
          <p:cNvPr id="8" name="Shape 6"/>
          <p:cNvSpPr/>
          <p:nvPr/>
        </p:nvSpPr>
        <p:spPr>
          <a:xfrm>
            <a:off x="609585" y="2285943"/>
            <a:ext cx="5410065" cy="1047724"/>
          </a:xfrm>
          <a:prstGeom prst="roundRect">
            <a:avLst>
              <a:gd name="adj" fmla="val 5236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00080" y="2571686"/>
            <a:ext cx="476238" cy="476238"/>
          </a:xfrm>
          <a:prstGeom prst="roundRect">
            <a:avLst>
              <a:gd name="adj" fmla="val 42241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0080" y="2647884"/>
            <a:ext cx="476238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500" dirty="0"/>
          </a:p>
        </p:txBody>
      </p:sp>
      <p:sp>
        <p:nvSpPr>
          <p:cNvPr id="11" name="Text 9">
            <a:hlinkClick r:id="rId2" tooltip=""/>
          </p:cNvPr>
          <p:cNvSpPr/>
          <p:nvPr/>
        </p:nvSpPr>
        <p:spPr>
          <a:xfrm>
            <a:off x="1466813" y="2552636"/>
            <a:ext cx="4190895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u="sng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Blog</a:t>
            </a:r>
            <a:endParaRPr lang="en-US" sz="1200" dirty="0"/>
          </a:p>
        </p:txBody>
      </p:sp>
      <p:sp>
        <p:nvSpPr>
          <p:cNvPr id="12" name="Text 10">
            <a:hlinkClick r:id="rId3" tooltip=""/>
          </p:cNvPr>
          <p:cNvSpPr/>
          <p:nvPr/>
        </p:nvSpPr>
        <p:spPr>
          <a:xfrm>
            <a:off x="1466813" y="2819330"/>
            <a:ext cx="419089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u="sng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medium.com/@rhyanlemos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6172046" y="2285943"/>
            <a:ext cx="5410065" cy="1047724"/>
          </a:xfrm>
          <a:prstGeom prst="roundRect">
            <a:avLst>
              <a:gd name="adj" fmla="val 5236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62541" y="2571686"/>
            <a:ext cx="476238" cy="476238"/>
          </a:xfrm>
          <a:prstGeom prst="roundRect">
            <a:avLst>
              <a:gd name="adj" fmla="val 42241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>
                <a:alpha val="10000"/>
              </a:srgbClr>
            </a:solidFill>
            <a:prstDash val="solid"/>
          </a:ln>
        </p:spPr>
      </p:sp>
      <p:pic>
        <p:nvPicPr>
          <p:cNvPr id="15" name="Image 0" descr="C:\Users\revio\Projeto\Portifolio\public\img-home\contact\linkedi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6363" y="2695508"/>
            <a:ext cx="228594" cy="228594"/>
          </a:xfrm>
          <a:prstGeom prst="rect">
            <a:avLst/>
          </a:prstGeom>
        </p:spPr>
      </p:pic>
      <p:sp>
        <p:nvSpPr>
          <p:cNvPr id="16" name="Text 13">
            <a:hlinkClick r:id="rId5" tooltip=""/>
          </p:cNvPr>
          <p:cNvSpPr/>
          <p:nvPr/>
        </p:nvSpPr>
        <p:spPr>
          <a:xfrm>
            <a:off x="7029274" y="2552636"/>
            <a:ext cx="4190895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u="sng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</a:t>
            </a:r>
            <a:endParaRPr lang="en-US" sz="1200" dirty="0"/>
          </a:p>
        </p:txBody>
      </p:sp>
      <p:sp>
        <p:nvSpPr>
          <p:cNvPr id="17" name="Text 14">
            <a:hlinkClick r:id="rId6" tooltip=""/>
          </p:cNvPr>
          <p:cNvSpPr/>
          <p:nvPr/>
        </p:nvSpPr>
        <p:spPr>
          <a:xfrm>
            <a:off x="7029274" y="2819330"/>
            <a:ext cx="419089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u="sng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@rhyan-lemos-silveira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609585" y="3524162"/>
            <a:ext cx="5410065" cy="1047724"/>
          </a:xfrm>
          <a:prstGeom prst="roundRect">
            <a:avLst>
              <a:gd name="adj" fmla="val 5236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00080" y="3809905"/>
            <a:ext cx="476238" cy="476238"/>
          </a:xfrm>
          <a:prstGeom prst="roundRect">
            <a:avLst>
              <a:gd name="adj" fmla="val 42241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>
                <a:alpha val="10000"/>
              </a:srgbClr>
            </a:solidFill>
            <a:prstDash val="solid"/>
          </a:ln>
        </p:spPr>
      </p:sp>
      <p:pic>
        <p:nvPicPr>
          <p:cNvPr id="20" name="Image 1" descr="C:\Users\revio\Projeto\Portifolio\scripts\assets\github-whit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3902" y="3933727"/>
            <a:ext cx="228594" cy="228594"/>
          </a:xfrm>
          <a:prstGeom prst="rect">
            <a:avLst/>
          </a:prstGeom>
        </p:spPr>
      </p:pic>
      <p:sp>
        <p:nvSpPr>
          <p:cNvPr id="21" name="Text 17">
            <a:hlinkClick r:id="rId8" tooltip=""/>
          </p:cNvPr>
          <p:cNvSpPr/>
          <p:nvPr/>
        </p:nvSpPr>
        <p:spPr>
          <a:xfrm>
            <a:off x="1466813" y="3790855"/>
            <a:ext cx="4190895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u="sng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en-US" sz="1200" dirty="0"/>
          </a:p>
        </p:txBody>
      </p:sp>
      <p:sp>
        <p:nvSpPr>
          <p:cNvPr id="22" name="Text 18">
            <a:hlinkClick r:id="rId9" tooltip=""/>
          </p:cNvPr>
          <p:cNvSpPr/>
          <p:nvPr/>
        </p:nvSpPr>
        <p:spPr>
          <a:xfrm>
            <a:off x="1466813" y="4057549"/>
            <a:ext cx="419089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u="sng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@rhyan05</a:t>
            </a:r>
            <a:endParaRPr lang="en-US" sz="750" dirty="0"/>
          </a:p>
        </p:txBody>
      </p:sp>
      <p:sp>
        <p:nvSpPr>
          <p:cNvPr id="23" name="Shape 19"/>
          <p:cNvSpPr/>
          <p:nvPr/>
        </p:nvSpPr>
        <p:spPr>
          <a:xfrm>
            <a:off x="6172046" y="3524162"/>
            <a:ext cx="5410065" cy="1047724"/>
          </a:xfrm>
          <a:prstGeom prst="roundRect">
            <a:avLst>
              <a:gd name="adj" fmla="val 5236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6362541" y="3809905"/>
            <a:ext cx="476238" cy="476238"/>
          </a:xfrm>
          <a:prstGeom prst="roundRect">
            <a:avLst>
              <a:gd name="adj" fmla="val 42241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>
                <a:alpha val="10000"/>
              </a:srgbClr>
            </a:solidFill>
            <a:prstDash val="solid"/>
          </a:ln>
        </p:spPr>
      </p:sp>
      <p:pic>
        <p:nvPicPr>
          <p:cNvPr id="25" name="Image 2" descr="C:\Users\revio\Projeto\Portifolio\public\img-home\contact\youtub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86363" y="3933727"/>
            <a:ext cx="228594" cy="228594"/>
          </a:xfrm>
          <a:prstGeom prst="rect">
            <a:avLst/>
          </a:prstGeom>
        </p:spPr>
      </p:pic>
      <p:sp>
        <p:nvSpPr>
          <p:cNvPr id="26" name="Text 21">
            <a:hlinkClick r:id="rId11" tooltip=""/>
          </p:cNvPr>
          <p:cNvSpPr/>
          <p:nvPr/>
        </p:nvSpPr>
        <p:spPr>
          <a:xfrm>
            <a:off x="7029274" y="3790855"/>
            <a:ext cx="4190895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u="sng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YouTube</a:t>
            </a:r>
            <a:endParaRPr lang="en-US" sz="1200" dirty="0"/>
          </a:p>
        </p:txBody>
      </p:sp>
      <p:sp>
        <p:nvSpPr>
          <p:cNvPr id="27" name="Text 22">
            <a:hlinkClick r:id="rId12" tooltip=""/>
          </p:cNvPr>
          <p:cNvSpPr/>
          <p:nvPr/>
        </p:nvSpPr>
        <p:spPr>
          <a:xfrm>
            <a:off x="7029274" y="4057549"/>
            <a:ext cx="419089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u="sng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youtube.com/@rhyan05lemos91</a:t>
            </a:r>
            <a:endParaRPr lang="en-US" sz="750" dirty="0"/>
          </a:p>
        </p:txBody>
      </p:sp>
      <p:sp>
        <p:nvSpPr>
          <p:cNvPr id="28" name="Shape 23"/>
          <p:cNvSpPr/>
          <p:nvPr/>
        </p:nvSpPr>
        <p:spPr>
          <a:xfrm>
            <a:off x="4635702" y="5143371"/>
            <a:ext cx="1274413" cy="209545"/>
          </a:xfrm>
          <a:prstGeom prst="roundRect">
            <a:avLst>
              <a:gd name="adj" fmla="val 218187"/>
            </a:avLst>
          </a:prstGeom>
          <a:solidFill>
            <a:srgbClr val="2EF2B6">
              <a:alpha val="10000"/>
            </a:srgbClr>
          </a:solidFill>
          <a:ln w="6350">
            <a:solidFill>
              <a:srgbClr val="2EF2B6">
                <a:alpha val="28000"/>
              </a:srgbClr>
            </a:solidFill>
            <a:prstDash val="solid"/>
          </a:ln>
        </p:spPr>
      </p:sp>
      <p:sp>
        <p:nvSpPr>
          <p:cNvPr id="29" name="Text 24"/>
          <p:cNvSpPr/>
          <p:nvPr/>
        </p:nvSpPr>
        <p:spPr>
          <a:xfrm>
            <a:off x="4692850" y="5181470"/>
            <a:ext cx="1160116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rhyan05@outlook.com</a:t>
            </a:r>
            <a:endParaRPr lang="en-US" sz="750" dirty="0"/>
          </a:p>
        </p:txBody>
      </p:sp>
      <p:sp>
        <p:nvSpPr>
          <p:cNvPr id="30" name="Shape 25"/>
          <p:cNvSpPr/>
          <p:nvPr/>
        </p:nvSpPr>
        <p:spPr>
          <a:xfrm>
            <a:off x="5986313" y="5143371"/>
            <a:ext cx="1569681" cy="209545"/>
          </a:xfrm>
          <a:prstGeom prst="roundRect">
            <a:avLst>
              <a:gd name="adj" fmla="val 218187"/>
            </a:avLst>
          </a:prstGeom>
          <a:solidFill>
            <a:srgbClr val="2EF2B6">
              <a:alpha val="10000"/>
            </a:srgbClr>
          </a:solidFill>
          <a:ln w="6350">
            <a:solidFill>
              <a:srgbClr val="2EF2B6">
                <a:alpha val="28000"/>
              </a:srgbClr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6043461" y="5181470"/>
            <a:ext cx="1455384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Disponível para conexões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585" y="380990"/>
            <a:ext cx="323842" cy="323842"/>
          </a:xfrm>
          <a:prstGeom prst="roundRect">
            <a:avLst>
              <a:gd name="adj" fmla="val 79061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9585" y="400040"/>
            <a:ext cx="323842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75" b="1" dirty="0">
                <a:solidFill>
                  <a:srgbClr val="05080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</a:t>
            </a:r>
            <a:endParaRPr lang="en-US" sz="1275" dirty="0"/>
          </a:p>
        </p:txBody>
      </p:sp>
      <p:sp>
        <p:nvSpPr>
          <p:cNvPr id="4" name="Text 2"/>
          <p:cNvSpPr/>
          <p:nvPr/>
        </p:nvSpPr>
        <p:spPr>
          <a:xfrm>
            <a:off x="1028674" y="409565"/>
            <a:ext cx="1523962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Rhyan</a:t>
            </a:r>
            <a:pPr indent="0" marL="0">
              <a:buNone/>
            </a:pPr>
            <a:r>
              <a:rPr lang="en-US" sz="13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.dev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8572286" y="457189"/>
            <a:ext cx="300982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spc="15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RHYAN LEMOS Â· 12 / 12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9334267" y="3428914"/>
            <a:ext cx="2857429" cy="28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750" b="1" dirty="0">
                <a:solidFill>
                  <a:srgbClr val="FFFFFF">
                    <a:alpha val="3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</a:t>
            </a:r>
            <a:endParaRPr lang="en-US" sz="18750" dirty="0"/>
          </a:p>
        </p:txBody>
      </p:sp>
      <p:sp>
        <p:nvSpPr>
          <p:cNvPr id="7" name="Shape 5"/>
          <p:cNvSpPr/>
          <p:nvPr/>
        </p:nvSpPr>
        <p:spPr>
          <a:xfrm>
            <a:off x="5238619" y="1428714"/>
            <a:ext cx="1714457" cy="285743"/>
          </a:xfrm>
          <a:prstGeom prst="roundRect">
            <a:avLst>
              <a:gd name="adj" fmla="val 160004"/>
            </a:avLst>
          </a:prstGeom>
          <a:solidFill>
            <a:srgbClr val="2EF2B6">
              <a:alpha val="10000"/>
            </a:srgbClr>
          </a:solidFill>
          <a:ln w="9525">
            <a:solidFill>
              <a:srgbClr val="2EF2B6">
                <a:alpha val="3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14817" y="1504912"/>
            <a:ext cx="1562061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75" b="1" spc="100" kern="0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MEU SITE</a:t>
            </a:r>
            <a:endParaRPr lang="en-US" sz="675" dirty="0"/>
          </a:p>
        </p:txBody>
      </p:sp>
      <p:sp>
        <p:nvSpPr>
          <p:cNvPr id="9" name="Text 7"/>
          <p:cNvSpPr/>
          <p:nvPr/>
        </p:nvSpPr>
        <p:spPr>
          <a:xfrm>
            <a:off x="1904952" y="2019250"/>
            <a:ext cx="8381790" cy="761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9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Vamos</a:t>
            </a:r>
            <a:endParaRPr lang="en-US" sz="4950" dirty="0"/>
          </a:p>
        </p:txBody>
      </p:sp>
      <p:sp>
        <p:nvSpPr>
          <p:cNvPr id="10" name="Text 8"/>
          <p:cNvSpPr/>
          <p:nvPr/>
        </p:nvSpPr>
        <p:spPr>
          <a:xfrm>
            <a:off x="1904952" y="2647884"/>
            <a:ext cx="8381790" cy="761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950" b="1" dirty="0">
                <a:solidFill>
                  <a:srgbClr val="8B5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conversar?</a:t>
            </a:r>
            <a:endParaRPr lang="en-US" sz="4950" dirty="0"/>
          </a:p>
        </p:txBody>
      </p:sp>
      <p:sp>
        <p:nvSpPr>
          <p:cNvPr id="11" name="Text 9"/>
          <p:cNvSpPr/>
          <p:nvPr/>
        </p:nvSpPr>
        <p:spPr>
          <a:xfrm>
            <a:off x="2857429" y="3562261"/>
            <a:ext cx="6476838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Obrigado por acompanhar minha trajetória. O portfólio completo, projetos e formas de contato estão online.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635602" y="4286143"/>
            <a:ext cx="1274413" cy="209545"/>
          </a:xfrm>
          <a:prstGeom prst="roundRect">
            <a:avLst>
              <a:gd name="adj" fmla="val 218187"/>
            </a:avLst>
          </a:prstGeom>
          <a:solidFill>
            <a:srgbClr val="2EF2B6">
              <a:alpha val="10000"/>
            </a:srgbClr>
          </a:solidFill>
          <a:ln w="6350">
            <a:solidFill>
              <a:srgbClr val="2EF2B6">
                <a:alpha val="28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92750" y="4324242"/>
            <a:ext cx="1160116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rhyan05@outlook.com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4986213" y="4286143"/>
            <a:ext cx="2278323" cy="209545"/>
          </a:xfrm>
          <a:prstGeom prst="roundRect">
            <a:avLst>
              <a:gd name="adj" fmla="val 218187"/>
            </a:avLst>
          </a:prstGeom>
          <a:solidFill>
            <a:srgbClr val="2EF2B6">
              <a:alpha val="10000"/>
            </a:srgbClr>
          </a:solidFill>
          <a:ln w="6350">
            <a:solidFill>
              <a:srgbClr val="2EF2B6">
                <a:alpha val="28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43361" y="4324242"/>
            <a:ext cx="2164026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linkedin.com/in/rhyan-lemos-silveira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7340734" y="4286143"/>
            <a:ext cx="1215360" cy="209545"/>
          </a:xfrm>
          <a:prstGeom prst="roundRect">
            <a:avLst>
              <a:gd name="adj" fmla="val 218187"/>
            </a:avLst>
          </a:prstGeom>
          <a:solidFill>
            <a:srgbClr val="2EF2B6">
              <a:alpha val="10000"/>
            </a:srgbClr>
          </a:solidFill>
          <a:ln w="6350">
            <a:solidFill>
              <a:srgbClr val="2EF2B6">
                <a:alpha val="28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97883" y="4324242"/>
            <a:ext cx="1101062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github.com/rhyan05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904952" y="4876678"/>
            <a:ext cx="838179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https://portifolio-e232-83ywbv1he-rhyans-projects-36b8ad89.vercel.app/</a:t>
            </a:r>
            <a:endParaRPr lang="en-US" sz="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egoe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Rhyan.dev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Rhyan Lemos â€” Desenvolvedor Full Stack</dc:title>
  <dc:subject>ApresentaÃ§Ã£o profissional</dc:subject>
  <dc:creator>Rhyan Lemos</dc:creator>
  <cp:lastModifiedBy>Rhyan Lemos</cp:lastModifiedBy>
  <cp:revision>1</cp:revision>
  <dcterms:created xsi:type="dcterms:W3CDTF">2026-10-30T16:21:10Z</dcterms:created>
  <dcterms:modified xsi:type="dcterms:W3CDTF">2026-10-30T16:21:10Z</dcterms:modified>
</cp:coreProperties>
</file>