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 da apresentação. Quem sou eu, no que trabalho e uma introdução visual ao meu perfil profissional.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Perfil profissional: resumo, stack, localização, atuação atual na REVIO, formação em Sistemas de Informação e forma de trabalho.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Linha do tempo resumida: 2022 base técnica, 2023 freelance e graduação, 2024 projetos e IA, 2025 REVIO e 2026 como ano atual.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Trajetória em cinco colunas: 2022, 2023, 2024, 2025 na REVIO e 2026 como ano atual.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Certificados: 25+ cursos. Destaques em Cybersecurity (FIAP), Azure Pipelines/CI-CD (Microsoft · DIO), Lean Six Sigma e Primeira Liderança (FM2S), inglês B1 (MET) e Imersão IA (Alura).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Palestras e eventos: Febraban Tech; Ciclo de Palestras e Painel de Debate — Inovação e Tecnologia; Oficina: Desvendando as IAs Generativas do Google; Oficina: Crie seu Próprio Agente de IA; IA no Marketing; AB2L LawTech Experience; Liderança Multigeracional.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Projetos em destaque: Apple Shop Clone; Meteora E-commerce; Projeto Alluh; API Livraria; Toni - Assistente Financeiro; Machine Learning Models. Portfólio completo em github.com/rhyan05.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frentes: organização, visão crítica para projetos e soluções criativas e funcionais.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Matriz de competências: fortalezas consolidadas, habilidades em desenvolvimento e próximos focos.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em três etapas: execução e eficiência, domínio técnico e IA, gestão e mentoria.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 e contato: rhyan05@outlook.com. GitHub @rhyan05, LinkedIn rhyan-lemos-silveira, blog e YouTube em breve.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Fechamento: obrigado, contatos e link do portfólio online. https://portifolio-e232-83ywbv1he-rhyans-projects-36b8ad89.vercel.app/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585"/>
            <a:ext cx="2000200" cy="285743"/>
          </a:xfrm>
          <a:prstGeom prst="roundRect">
            <a:avLst>
              <a:gd name="adj" fmla="val 160004"/>
            </a:avLst>
          </a:prstGeom>
          <a:solidFill>
            <a:srgbClr val="2EF2B6">
              <a:alpha val="10000"/>
            </a:srgbClr>
          </a:solidFill>
          <a:ln w="9525">
            <a:solidFill>
              <a:srgbClr val="2EF2B6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783" y="685783"/>
            <a:ext cx="1847804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b="1" spc="100" kern="0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APRESENTAÇÃO · 2026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609585" y="1295368"/>
            <a:ext cx="7238819" cy="952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QUEM SOU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609585" y="2114497"/>
            <a:ext cx="3428914" cy="952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EU?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609585" y="3105072"/>
            <a:ext cx="5143371" cy="361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 no que trabalho?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09585" y="3638459"/>
            <a:ext cx="1523962" cy="19050"/>
          </a:xfrm>
          <a:prstGeom prst="rect">
            <a:avLst/>
          </a:prstGeom>
          <a:solidFill>
            <a:srgbClr val="2EF2B6"/>
          </a:solidFill>
          <a:ln/>
        </p:spPr>
      </p:sp>
      <p:sp>
        <p:nvSpPr>
          <p:cNvPr id="8" name="Text 6"/>
          <p:cNvSpPr/>
          <p:nvPr/>
        </p:nvSpPr>
        <p:spPr>
          <a:xfrm>
            <a:off x="609585" y="3886103"/>
            <a:ext cx="5143371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 Lemos Silveira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585" y="4171846"/>
            <a:ext cx="5714857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Desenvolvedor Full Stack · Sistemas de Informação</a:t>
            </a:r>
            <a:endParaRPr lang="en-US" sz="975" dirty="0"/>
          </a:p>
        </p:txBody>
      </p:sp>
      <p:sp>
        <p:nvSpPr>
          <p:cNvPr id="10" name="Shape 8"/>
          <p:cNvSpPr/>
          <p:nvPr/>
        </p:nvSpPr>
        <p:spPr>
          <a:xfrm>
            <a:off x="8019849" y="1352516"/>
            <a:ext cx="3200320" cy="3200320"/>
          </a:xfrm>
          <a:prstGeom prst="ellipse">
            <a:avLst/>
          </a:prstGeom>
          <a:ln w="12700">
            <a:solidFill>
              <a:srgbClr val="8B5CF6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7453" y="1200120"/>
            <a:ext cx="3505112" cy="3505112"/>
          </a:xfrm>
          <a:prstGeom prst="ellipse">
            <a:avLst/>
          </a:prstGeom>
          <a:ln w="12700">
            <a:solidFill>
              <a:srgbClr val="2EF2B6">
                <a:alpha val="20000"/>
              </a:srgbClr>
            </a:solidFill>
            <a:prstDash val="dash"/>
          </a:ln>
        </p:spPr>
      </p:sp>
      <p:pic>
        <p:nvPicPr>
          <p:cNvPr id="12" name="Image 0" descr="C:\Users\revio\Projeto\Portifolio\scripts\assets\rhyan-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295" y="1523962"/>
            <a:ext cx="2857429" cy="285742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810305" y="4514737"/>
            <a:ext cx="3619410" cy="323842"/>
          </a:xfrm>
          <a:prstGeom prst="roundRect">
            <a:avLst>
              <a:gd name="adj" fmla="val 141180"/>
            </a:avLst>
          </a:prstGeom>
          <a:solidFill>
            <a:srgbClr val="08111C">
              <a:alpha val="85000"/>
            </a:srgbClr>
          </a:solidFill>
          <a:ln w="9525">
            <a:solidFill>
              <a:srgbClr val="2EF2B6">
                <a:alpha val="4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10305" y="4609985"/>
            <a:ext cx="361941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Stack Developer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10477238" y="1981150"/>
            <a:ext cx="1028674" cy="285743"/>
          </a:xfrm>
          <a:prstGeom prst="roundRect">
            <a:avLst>
              <a:gd name="adj" fmla="val 160004"/>
            </a:avLst>
          </a:prstGeom>
          <a:solidFill>
            <a:srgbClr val="08111C">
              <a:alpha val="85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16" name="Image 1" descr="C:\Users\revio\Projeto\Portifolio\public\img-home\icon-skills\framework\Reac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535" y="2047824"/>
            <a:ext cx="142871" cy="14287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762981" y="2057349"/>
            <a:ext cx="628634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7410265" y="3848004"/>
            <a:ext cx="1162021" cy="285743"/>
          </a:xfrm>
          <a:prstGeom prst="roundRect">
            <a:avLst>
              <a:gd name="adj" fmla="val 160004"/>
            </a:avLst>
          </a:prstGeom>
          <a:solidFill>
            <a:srgbClr val="08111C">
              <a:alpha val="85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19" name="Image 2" descr="C:\Users\revio\Projeto\Portifolio\public\img-home\icon-skills\hard-skills\TypeScrip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562" y="3914677"/>
            <a:ext cx="142871" cy="14287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696008" y="3924202"/>
            <a:ext cx="78103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</a:t>
            </a:r>
            <a:endParaRPr lang="en-US" sz="750" dirty="0"/>
          </a:p>
        </p:txBody>
      </p:sp>
      <p:sp>
        <p:nvSpPr>
          <p:cNvPr id="21" name="Shape 16"/>
          <p:cNvSpPr/>
          <p:nvPr/>
        </p:nvSpPr>
        <p:spPr>
          <a:xfrm>
            <a:off x="609585" y="6172046"/>
            <a:ext cx="323842" cy="323842"/>
          </a:xfrm>
          <a:prstGeom prst="roundRect">
            <a:avLst>
              <a:gd name="adj" fmla="val 79061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09585" y="6191095"/>
            <a:ext cx="323842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0508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</a:t>
            </a:r>
            <a:endParaRPr lang="en-US" sz="1275" dirty="0"/>
          </a:p>
        </p:txBody>
      </p:sp>
      <p:sp>
        <p:nvSpPr>
          <p:cNvPr id="23" name="Text 18"/>
          <p:cNvSpPr/>
          <p:nvPr/>
        </p:nvSpPr>
        <p:spPr>
          <a:xfrm>
            <a:off x="1028674" y="6200620"/>
            <a:ext cx="1523962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</a:t>
            </a:r>
            <a:pPr indent="0" marL="0">
              <a:buNone/>
            </a:pPr>
            <a:r>
              <a:rPr lang="en-US" sz="13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.dev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10286743" y="6248244"/>
            <a:ext cx="1295368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5" spc="15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/ 12</a:t>
            </a:r>
            <a:endParaRPr lang="en-US" sz="6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380990"/>
            <a:ext cx="323842" cy="323842"/>
          </a:xfrm>
          <a:prstGeom prst="roundRect">
            <a:avLst>
              <a:gd name="adj" fmla="val 79061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585" y="400040"/>
            <a:ext cx="323842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0508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028674" y="409565"/>
            <a:ext cx="1523962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</a:t>
            </a:r>
            <a:pPr indent="0" marL="0">
              <a:buNone/>
            </a:pPr>
            <a:r>
              <a:rPr lang="en-US" sz="13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.dev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572286" y="457189"/>
            <a:ext cx="300982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15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 LEMOS · 02 / 12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09585" y="1104872"/>
            <a:ext cx="10972526" cy="4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Quem sou eu e no que trabalho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609585" y="1523962"/>
            <a:ext cx="10972526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 Lemos Silveira · Desenvolvedor Full Stack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585" y="1904952"/>
            <a:ext cx="3428914" cy="80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Desenvolvedor Full Stack com base em Sistemas de Informação, foco em aplicações web, APIs e evolução contínua de produtos.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609585" y="2857429"/>
            <a:ext cx="400040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6733" y="2895528"/>
            <a:ext cx="285743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PHP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066773" y="2857429"/>
            <a:ext cx="1510627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3922" y="2895528"/>
            <a:ext cx="1396330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 / TypeScript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634549" y="2857429"/>
            <a:ext cx="506717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1698" y="2895528"/>
            <a:ext cx="392420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198415" y="2857429"/>
            <a:ext cx="400040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55564" y="2895528"/>
            <a:ext cx="285743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09585" y="3124122"/>
            <a:ext cx="506717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6733" y="3162221"/>
            <a:ext cx="392420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173451" y="3124122"/>
            <a:ext cx="447664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0599" y="3162221"/>
            <a:ext cx="333367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678263" y="3124122"/>
            <a:ext cx="447664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35412" y="3162221"/>
            <a:ext cx="333367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183075" y="3124122"/>
            <a:ext cx="624824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40224" y="3162221"/>
            <a:ext cx="510527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865048" y="3124122"/>
            <a:ext cx="400040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2197" y="3162221"/>
            <a:ext cx="285743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09585" y="3390815"/>
            <a:ext cx="979146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6733" y="3428914"/>
            <a:ext cx="864848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Actions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645879" y="3390815"/>
            <a:ext cx="447664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03027" y="3428914"/>
            <a:ext cx="333367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09585" y="4762381"/>
            <a:ext cx="3428914" cy="1142971"/>
          </a:xfrm>
          <a:prstGeom prst="roundRect">
            <a:avLst>
              <a:gd name="adj" fmla="val 4800"/>
            </a:avLst>
          </a:prstGeom>
          <a:solidFill>
            <a:srgbClr val="2EF2B6">
              <a:alpha val="6000"/>
            </a:srgbClr>
          </a:solidFill>
          <a:ln w="9525">
            <a:solidFill>
              <a:srgbClr val="2EF2B6">
                <a:alpha val="22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0080" y="4914777"/>
            <a:ext cx="1142971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b="1" spc="100" kern="0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800080" y="5105272"/>
            <a:ext cx="2857429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5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Guarulhos · SP</a:t>
            </a:r>
            <a:endParaRPr lang="en-US" sz="1275" dirty="0"/>
          </a:p>
        </p:txBody>
      </p:sp>
      <p:sp>
        <p:nvSpPr>
          <p:cNvPr id="34" name="Text 32"/>
          <p:cNvSpPr/>
          <p:nvPr/>
        </p:nvSpPr>
        <p:spPr>
          <a:xfrm>
            <a:off x="800080" y="5391015"/>
            <a:ext cx="304792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Sistemas de Informação · ENIAC</a:t>
            </a:r>
            <a:endParaRPr lang="en-US" sz="675" dirty="0"/>
          </a:p>
        </p:txBody>
      </p:sp>
      <p:sp>
        <p:nvSpPr>
          <p:cNvPr id="35" name="Shape 33"/>
          <p:cNvSpPr/>
          <p:nvPr/>
        </p:nvSpPr>
        <p:spPr>
          <a:xfrm>
            <a:off x="4286143" y="1809705"/>
            <a:ext cx="2381190" cy="1428714"/>
          </a:xfrm>
          <a:prstGeom prst="roundRect">
            <a:avLst>
              <a:gd name="adj" fmla="val 3840"/>
            </a:avLst>
          </a:prstGeom>
          <a:solidFill>
            <a:srgbClr val="2EF2B6">
              <a:alpha val="6000"/>
            </a:srgbClr>
          </a:solidFill>
          <a:ln w="9525">
            <a:solidFill>
              <a:srgbClr val="2EF2B6">
                <a:alpha val="22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38539" y="1962101"/>
            <a:ext cx="2095448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b="1" spc="100" kern="0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ATUAÇÃO ATUAL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4438539" y="2152596"/>
            <a:ext cx="2095448" cy="323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5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REVIO Tecnologia</a:t>
            </a:r>
            <a:endParaRPr lang="en-US" sz="1425" dirty="0"/>
          </a:p>
        </p:txBody>
      </p:sp>
      <p:sp>
        <p:nvSpPr>
          <p:cNvPr id="38" name="Text 36"/>
          <p:cNvSpPr/>
          <p:nvPr/>
        </p:nvSpPr>
        <p:spPr>
          <a:xfrm>
            <a:off x="4438539" y="2514537"/>
            <a:ext cx="209544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Desenvolvedor Full Stack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4438539" y="2724082"/>
            <a:ext cx="2095448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25"/>
              </a:lnSpc>
              <a:buNone/>
            </a:pPr>
            <a:r>
              <a:rPr lang="en-US" sz="6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Desenvolvimento, sustentação e evolução de aplicações.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4438539" y="3028874"/>
            <a:ext cx="2095448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Jan/2025 – Atual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6857829" y="1809705"/>
            <a:ext cx="2381190" cy="1428714"/>
          </a:xfrm>
          <a:prstGeom prst="roundRect">
            <a:avLst>
              <a:gd name="adj" fmla="val 3840"/>
            </a:avLst>
          </a:prstGeom>
          <a:solidFill>
            <a:srgbClr val="8B5CF6">
              <a:alpha val="6000"/>
            </a:srgbClr>
          </a:solidFill>
          <a:ln w="9525">
            <a:solidFill>
              <a:srgbClr val="8B5CF6">
                <a:alpha val="22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10225" y="1962101"/>
            <a:ext cx="2095448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b="1" spc="100" kern="0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FORMAÇÃO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7010225" y="2152596"/>
            <a:ext cx="2095448" cy="323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25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Sistemas de Informação</a:t>
            </a:r>
            <a:endParaRPr lang="en-US" sz="1425" dirty="0"/>
          </a:p>
        </p:txBody>
      </p:sp>
      <p:sp>
        <p:nvSpPr>
          <p:cNvPr id="44" name="Text 42"/>
          <p:cNvSpPr/>
          <p:nvPr/>
        </p:nvSpPr>
        <p:spPr>
          <a:xfrm>
            <a:off x="7010225" y="2514537"/>
            <a:ext cx="2095448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ENIAC</a:t>
            </a:r>
            <a:endParaRPr lang="en-US" sz="825" dirty="0"/>
          </a:p>
        </p:txBody>
      </p:sp>
      <p:sp>
        <p:nvSpPr>
          <p:cNvPr id="45" name="Text 43"/>
          <p:cNvSpPr/>
          <p:nvPr/>
        </p:nvSpPr>
        <p:spPr>
          <a:xfrm>
            <a:off x="7010225" y="2724082"/>
            <a:ext cx="2095448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25"/>
              </a:lnSpc>
              <a:buNone/>
            </a:pPr>
            <a:r>
              <a:rPr lang="en-US" sz="6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Banco de dados, MVC e arquitetura de software.</a:t>
            </a:r>
            <a:endParaRPr lang="en-US" sz="675" dirty="0"/>
          </a:p>
        </p:txBody>
      </p:sp>
      <p:sp>
        <p:nvSpPr>
          <p:cNvPr id="46" name="Text 44"/>
          <p:cNvSpPr/>
          <p:nvPr/>
        </p:nvSpPr>
        <p:spPr>
          <a:xfrm>
            <a:off x="7010225" y="3028874"/>
            <a:ext cx="2095448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Previsão 07/2027</a:t>
            </a:r>
            <a:endParaRPr lang="en-US" sz="600" dirty="0"/>
          </a:p>
        </p:txBody>
      </p:sp>
      <p:sp>
        <p:nvSpPr>
          <p:cNvPr id="47" name="Shape 45"/>
          <p:cNvSpPr/>
          <p:nvPr/>
        </p:nvSpPr>
        <p:spPr>
          <a:xfrm>
            <a:off x="4286143" y="3428914"/>
            <a:ext cx="4952876" cy="2476438"/>
          </a:xfrm>
          <a:prstGeom prst="roundRect">
            <a:avLst>
              <a:gd name="adj" fmla="val 221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38539" y="3581310"/>
            <a:ext cx="3809905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b="1" spc="10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EU TRABALHO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4438539" y="3905152"/>
            <a:ext cx="20954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675" dirty="0"/>
          </a:p>
        </p:txBody>
      </p:sp>
      <p:sp>
        <p:nvSpPr>
          <p:cNvPr id="50" name="Text 48"/>
          <p:cNvSpPr/>
          <p:nvPr/>
        </p:nvSpPr>
        <p:spPr>
          <a:xfrm>
            <a:off x="4648084" y="3905152"/>
            <a:ext cx="190495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Desenvolvimento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648084" y="4076598"/>
            <a:ext cx="2000200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Criação e evolução de aplicações e APIs.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6819730" y="3905152"/>
            <a:ext cx="20954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675" dirty="0"/>
          </a:p>
        </p:txBody>
      </p:sp>
      <p:sp>
        <p:nvSpPr>
          <p:cNvPr id="53" name="Text 51"/>
          <p:cNvSpPr/>
          <p:nvPr/>
        </p:nvSpPr>
        <p:spPr>
          <a:xfrm>
            <a:off x="7029274" y="3905152"/>
            <a:ext cx="190495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Versionamento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7029274" y="4076598"/>
            <a:ext cx="2000200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para controle, histórico e colaboração.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4438539" y="4667133"/>
            <a:ext cx="20954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675" dirty="0"/>
          </a:p>
        </p:txBody>
      </p:sp>
      <p:sp>
        <p:nvSpPr>
          <p:cNvPr id="56" name="Text 54"/>
          <p:cNvSpPr/>
          <p:nvPr/>
        </p:nvSpPr>
        <p:spPr>
          <a:xfrm>
            <a:off x="4648084" y="4667133"/>
            <a:ext cx="190495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Sustentação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4648084" y="4838579"/>
            <a:ext cx="2000200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Correção de problemas e melhoria de performance.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6819730" y="4667133"/>
            <a:ext cx="20954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675" dirty="0"/>
          </a:p>
        </p:txBody>
      </p:sp>
      <p:sp>
        <p:nvSpPr>
          <p:cNvPr id="59" name="Text 57"/>
          <p:cNvSpPr/>
          <p:nvPr/>
        </p:nvSpPr>
        <p:spPr>
          <a:xfrm>
            <a:off x="7029274" y="4667133"/>
            <a:ext cx="190495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Visão de equipe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7029274" y="4838579"/>
            <a:ext cx="2000200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Organização, colaboração e gestão de demandas.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380990"/>
            <a:ext cx="323842" cy="323842"/>
          </a:xfrm>
          <a:prstGeom prst="roundRect">
            <a:avLst>
              <a:gd name="adj" fmla="val 79061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585" y="400040"/>
            <a:ext cx="323842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0508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028674" y="409565"/>
            <a:ext cx="1523962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</a:t>
            </a:r>
            <a:pPr indent="0" marL="0">
              <a:buNone/>
            </a:pPr>
            <a:r>
              <a:rPr lang="en-US" sz="13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.dev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572286" y="457189"/>
            <a:ext cx="300982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15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 LEMOS · 03 / 12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238619" y="1047724"/>
            <a:ext cx="1714457" cy="285743"/>
          </a:xfrm>
          <a:prstGeom prst="roundRect">
            <a:avLst>
              <a:gd name="adj" fmla="val 160004"/>
            </a:avLst>
          </a:prstGeom>
          <a:solidFill>
            <a:srgbClr val="2EF2B6">
              <a:alpha val="10000"/>
            </a:srgbClr>
          </a:solidFill>
          <a:ln w="9525">
            <a:solidFill>
              <a:srgbClr val="2EF2B6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14817" y="1123922"/>
            <a:ext cx="1562061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b="1" spc="100" kern="0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MINHA EVOLUÇÃO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2285943" y="1600160"/>
            <a:ext cx="7619809" cy="609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3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Minha evolução</a:t>
            </a:r>
            <a:endParaRPr lang="en-US" sz="4350" dirty="0"/>
          </a:p>
        </p:txBody>
      </p:sp>
      <p:sp>
        <p:nvSpPr>
          <p:cNvPr id="9" name="Text 7"/>
          <p:cNvSpPr/>
          <p:nvPr/>
        </p:nvSpPr>
        <p:spPr>
          <a:xfrm>
            <a:off x="2285943" y="2133547"/>
            <a:ext cx="7619809" cy="609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3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profissional</a:t>
            </a:r>
            <a:endParaRPr lang="en-US" sz="4350" dirty="0"/>
          </a:p>
        </p:txBody>
      </p:sp>
      <p:sp>
        <p:nvSpPr>
          <p:cNvPr id="10" name="Text 8"/>
          <p:cNvSpPr/>
          <p:nvPr/>
        </p:nvSpPr>
        <p:spPr>
          <a:xfrm>
            <a:off x="2285943" y="2857429"/>
            <a:ext cx="7619809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 base técnica ao desenvolvimento full stack: experiências, projetos e próximos passos.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714457" y="4000400"/>
            <a:ext cx="8762781" cy="19050"/>
          </a:xfrm>
          <a:prstGeom prst="rect">
            <a:avLst/>
          </a:prstGeom>
          <a:solidFill>
            <a:srgbClr val="2EF2B6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657309" y="3943251"/>
            <a:ext cx="114297" cy="114297"/>
          </a:xfrm>
          <a:prstGeom prst="ellipse">
            <a:avLst/>
          </a:prstGeom>
          <a:solidFill>
            <a:srgbClr val="05080F"/>
          </a:solidFill>
          <a:ln w="12700">
            <a:solidFill>
              <a:srgbClr val="2EF2B6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33467" y="4209945"/>
            <a:ext cx="761981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2971" y="4514737"/>
            <a:ext cx="1142971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spc="8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TÉCNICA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3848004" y="3943251"/>
            <a:ext cx="114297" cy="114297"/>
          </a:xfrm>
          <a:prstGeom prst="ellipse">
            <a:avLst/>
          </a:prstGeom>
          <a:solidFill>
            <a:srgbClr val="05080F"/>
          </a:solidFill>
          <a:ln w="12700">
            <a:solidFill>
              <a:srgbClr val="2EF2B6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4162" y="4209945"/>
            <a:ext cx="761981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33667" y="4514737"/>
            <a:ext cx="1142971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spc="8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FREELANCE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6038699" y="3943251"/>
            <a:ext cx="114297" cy="114297"/>
          </a:xfrm>
          <a:prstGeom prst="ellipse">
            <a:avLst/>
          </a:prstGeom>
          <a:solidFill>
            <a:srgbClr val="05080F"/>
          </a:solidFill>
          <a:ln w="12700">
            <a:solidFill>
              <a:srgbClr val="2EF2B6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14857" y="4209945"/>
            <a:ext cx="761981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524362" y="4514737"/>
            <a:ext cx="1142971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spc="8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PROJETOS &amp; IA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8229394" y="3943251"/>
            <a:ext cx="114297" cy="114297"/>
          </a:xfrm>
          <a:prstGeom prst="ellipse">
            <a:avLst/>
          </a:prstGeom>
          <a:solidFill>
            <a:srgbClr val="05080F"/>
          </a:solidFill>
          <a:ln w="12700">
            <a:solidFill>
              <a:srgbClr val="2EF2B6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05552" y="4209945"/>
            <a:ext cx="761981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15057" y="4514737"/>
            <a:ext cx="1142971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spc="8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REVIO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10420089" y="3943251"/>
            <a:ext cx="114297" cy="114297"/>
          </a:xfrm>
          <a:prstGeom prst="ellipse">
            <a:avLst/>
          </a:prstGeom>
          <a:solidFill>
            <a:srgbClr val="2EF2B6"/>
          </a:solidFill>
          <a:ln w="12700">
            <a:solidFill>
              <a:srgbClr val="2EF2B6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96248" y="4209945"/>
            <a:ext cx="761981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905752" y="4514737"/>
            <a:ext cx="1142971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spc="8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ATUAL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380990"/>
            <a:ext cx="323842" cy="323842"/>
          </a:xfrm>
          <a:prstGeom prst="roundRect">
            <a:avLst>
              <a:gd name="adj" fmla="val 79061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585" y="400040"/>
            <a:ext cx="323842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0508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028674" y="409565"/>
            <a:ext cx="1523962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</a:t>
            </a:r>
            <a:pPr indent="0" marL="0">
              <a:buNone/>
            </a:pPr>
            <a:r>
              <a:rPr lang="en-US" sz="13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.dev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572286" y="457189"/>
            <a:ext cx="300982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15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 LEMOS · 04 / 12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09585" y="1104872"/>
            <a:ext cx="10972526" cy="4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Minha trajetória profissional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609585" y="1523962"/>
            <a:ext cx="10972526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 base técnica ao full stack: experiências, projetos e próximos passos.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09585" y="2095448"/>
            <a:ext cx="10972526" cy="19050"/>
          </a:xfrm>
          <a:prstGeom prst="rect">
            <a:avLst/>
          </a:prstGeom>
          <a:solidFill>
            <a:srgbClr val="2EF2B6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61961" y="2038299"/>
            <a:ext cx="95248" cy="95248"/>
          </a:xfrm>
          <a:prstGeom prst="ellipse">
            <a:avLst/>
          </a:prstGeom>
          <a:solidFill>
            <a:srgbClr val="05080F"/>
          </a:solidFill>
          <a:ln w="12700">
            <a:solidFill>
              <a:srgbClr val="2EF2B6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9585" y="2285943"/>
            <a:ext cx="2095448" cy="2857429"/>
          </a:xfrm>
          <a:prstGeom prst="roundRect">
            <a:avLst>
              <a:gd name="adj" fmla="val 261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3882" y="2400240"/>
            <a:ext cx="1047724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3882" y="2819330"/>
            <a:ext cx="1866853" cy="323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25"/>
              </a:lnSpc>
              <a:buNone/>
            </a:pPr>
            <a:r>
              <a:rPr lang="en-US" sz="7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Primeiros passos na tecnologia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23882" y="3162221"/>
            <a:ext cx="1866853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75"/>
              </a:lnSpc>
              <a:buNone/>
            </a:pPr>
            <a:r>
              <a:rPr lang="en-US" sz="525" spc="5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Somar · ENIAC</a:t>
            </a:r>
            <a:endParaRPr lang="en-US" sz="525" dirty="0"/>
          </a:p>
        </p:txBody>
      </p:sp>
      <p:sp>
        <p:nvSpPr>
          <p:cNvPr id="14" name="Text 12"/>
          <p:cNvSpPr/>
          <p:nvPr/>
        </p:nvSpPr>
        <p:spPr>
          <a:xfrm>
            <a:off x="723882" y="3467013"/>
            <a:ext cx="1866853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75"/>
              </a:lnSpc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Suporte técnico e atendimento na Somar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723882" y="3752756"/>
            <a:ext cx="1866853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75"/>
              </a:lnSpc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Desenvolvimento web no ENIAC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723882" y="4038499"/>
            <a:ext cx="1866853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75"/>
              </a:lnSpc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Técnico em Informática e lógica de programação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723882" y="4724282"/>
            <a:ext cx="1866853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600"/>
              </a:lnSpc>
              <a:buNone/>
            </a:pPr>
            <a:r>
              <a:rPr lang="en-US" sz="488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Redes · Suporte · HTML · CSS · Git</a:t>
            </a:r>
            <a:endParaRPr lang="en-US" sz="488" dirty="0"/>
          </a:p>
        </p:txBody>
      </p:sp>
      <p:sp>
        <p:nvSpPr>
          <p:cNvPr id="18" name="Shape 16"/>
          <p:cNvSpPr/>
          <p:nvPr/>
        </p:nvSpPr>
        <p:spPr>
          <a:xfrm>
            <a:off x="2733607" y="2038299"/>
            <a:ext cx="95248" cy="95248"/>
          </a:xfrm>
          <a:prstGeom prst="ellipse">
            <a:avLst/>
          </a:prstGeom>
          <a:solidFill>
            <a:srgbClr val="05080F"/>
          </a:solidFill>
          <a:ln w="12700">
            <a:solidFill>
              <a:srgbClr val="2EF2B6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81230" y="2285943"/>
            <a:ext cx="2095448" cy="2857429"/>
          </a:xfrm>
          <a:prstGeom prst="roundRect">
            <a:avLst>
              <a:gd name="adj" fmla="val 261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95528" y="2400240"/>
            <a:ext cx="1047724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895528" y="2819330"/>
            <a:ext cx="1866853" cy="323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25"/>
              </a:lnSpc>
              <a:buNone/>
            </a:pPr>
            <a:r>
              <a:rPr lang="en-US" sz="7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Freelance e graduação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895528" y="3162221"/>
            <a:ext cx="1866853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75"/>
              </a:lnSpc>
              <a:buNone/>
            </a:pPr>
            <a:r>
              <a:rPr lang="en-US" sz="525" spc="5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Projetos sob demanda · ENIAC</a:t>
            </a:r>
            <a:endParaRPr lang="en-US" sz="525" dirty="0"/>
          </a:p>
        </p:txBody>
      </p:sp>
      <p:sp>
        <p:nvSpPr>
          <p:cNvPr id="23" name="Text 21"/>
          <p:cNvSpPr/>
          <p:nvPr/>
        </p:nvSpPr>
        <p:spPr>
          <a:xfrm>
            <a:off x="2895528" y="3467013"/>
            <a:ext cx="1866853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75"/>
              </a:lnSpc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Freelances e soluções sob demanda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2895528" y="3752756"/>
            <a:ext cx="1866853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75"/>
              </a:lnSpc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Graduação em Sistemas de Informação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2895528" y="4038499"/>
            <a:ext cx="1866853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75"/>
              </a:lnSpc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APIs RESTful com PHP e Node.js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2895528" y="4724282"/>
            <a:ext cx="1866853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600"/>
              </a:lnSpc>
              <a:buNone/>
            </a:pPr>
            <a:r>
              <a:rPr lang="en-US" sz="488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PHP · Node.js · MySQL · MVC</a:t>
            </a:r>
            <a:endParaRPr lang="en-US" sz="488" dirty="0"/>
          </a:p>
        </p:txBody>
      </p:sp>
      <p:sp>
        <p:nvSpPr>
          <p:cNvPr id="27" name="Shape 25"/>
          <p:cNvSpPr/>
          <p:nvPr/>
        </p:nvSpPr>
        <p:spPr>
          <a:xfrm>
            <a:off x="4905252" y="2038299"/>
            <a:ext cx="95248" cy="95248"/>
          </a:xfrm>
          <a:prstGeom prst="ellipse">
            <a:avLst/>
          </a:prstGeom>
          <a:solidFill>
            <a:srgbClr val="05080F"/>
          </a:solidFill>
          <a:ln w="12700">
            <a:solidFill>
              <a:srgbClr val="2EF2B6">
                <a:alpha val="6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52876" y="2285943"/>
            <a:ext cx="2095448" cy="2857429"/>
          </a:xfrm>
          <a:prstGeom prst="roundRect">
            <a:avLst>
              <a:gd name="adj" fmla="val 261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7173" y="2400240"/>
            <a:ext cx="1047724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067173" y="2819330"/>
            <a:ext cx="1866853" cy="323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25"/>
              </a:lnSpc>
              <a:buNone/>
            </a:pPr>
            <a:r>
              <a:rPr lang="en-US" sz="7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Projetos reais e IA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067173" y="3162221"/>
            <a:ext cx="1866853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75"/>
              </a:lnSpc>
              <a:buNone/>
            </a:pPr>
            <a:r>
              <a:rPr lang="en-US" sz="525" spc="5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Strong-Tech · Hackathons</a:t>
            </a:r>
            <a:endParaRPr lang="en-US" sz="525" dirty="0"/>
          </a:p>
        </p:txBody>
      </p:sp>
      <p:sp>
        <p:nvSpPr>
          <p:cNvPr id="32" name="Text 30"/>
          <p:cNvSpPr/>
          <p:nvPr/>
        </p:nvSpPr>
        <p:spPr>
          <a:xfrm>
            <a:off x="5067173" y="3467013"/>
            <a:ext cx="1866853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75"/>
              </a:lnSpc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Manutenção de hardware e diagnóstico na Strong-Tech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5067173" y="3752756"/>
            <a:ext cx="1866853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75"/>
              </a:lnSpc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Projeto TONI: chatbot com IA integrado ao WhatsApp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5067173" y="4038499"/>
            <a:ext cx="1866853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75"/>
              </a:lnSpc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Kafnet: prototipação e entrega ágil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5067173" y="4724282"/>
            <a:ext cx="1866853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600"/>
              </a:lnSpc>
              <a:buNone/>
            </a:pPr>
            <a:r>
              <a:rPr lang="en-US" sz="488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 · WhatsApp · Prototipação · GitHub</a:t>
            </a:r>
            <a:endParaRPr lang="en-US" sz="488" dirty="0"/>
          </a:p>
        </p:txBody>
      </p:sp>
      <p:sp>
        <p:nvSpPr>
          <p:cNvPr id="36" name="Shape 34"/>
          <p:cNvSpPr/>
          <p:nvPr/>
        </p:nvSpPr>
        <p:spPr>
          <a:xfrm>
            <a:off x="7076898" y="2038299"/>
            <a:ext cx="95248" cy="95248"/>
          </a:xfrm>
          <a:prstGeom prst="ellipse">
            <a:avLst/>
          </a:prstGeom>
          <a:solidFill>
            <a:srgbClr val="05080F"/>
          </a:solidFill>
          <a:ln w="12700">
            <a:solidFill>
              <a:srgbClr val="2EF2B6">
                <a:alpha val="6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24522" y="2285943"/>
            <a:ext cx="2095448" cy="2857429"/>
          </a:xfrm>
          <a:prstGeom prst="roundRect">
            <a:avLst>
              <a:gd name="adj" fmla="val 261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38819" y="2400240"/>
            <a:ext cx="1047724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238819" y="2819330"/>
            <a:ext cx="1866853" cy="323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25"/>
              </a:lnSpc>
              <a:buNone/>
            </a:pPr>
            <a:r>
              <a:rPr lang="en-US" sz="7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Desenvolvedor Full Stack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7238819" y="3162221"/>
            <a:ext cx="1866853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75"/>
              </a:lnSpc>
              <a:buNone/>
            </a:pPr>
            <a:r>
              <a:rPr lang="en-US" sz="525" spc="5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REVIO Tecnologia · 2025</a:t>
            </a:r>
            <a:endParaRPr lang="en-US" sz="525" dirty="0"/>
          </a:p>
        </p:txBody>
      </p:sp>
      <p:sp>
        <p:nvSpPr>
          <p:cNvPr id="41" name="Text 39"/>
          <p:cNvSpPr/>
          <p:nvPr/>
        </p:nvSpPr>
        <p:spPr>
          <a:xfrm>
            <a:off x="7238819" y="3467013"/>
            <a:ext cx="1866853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75"/>
              </a:lnSpc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Desenvolvimento e sustentação de aplicações e APIs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7238819" y="3752756"/>
            <a:ext cx="1866853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75"/>
              </a:lnSpc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Performance, débitos técnicos e versionamento com Git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7238819" y="4038499"/>
            <a:ext cx="1866853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75"/>
              </a:lnSpc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Febraban Tech, AB2L LawTech e workshops de IA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7238819" y="4724282"/>
            <a:ext cx="1866853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600"/>
              </a:lnSpc>
              <a:buNone/>
            </a:pPr>
            <a:r>
              <a:rPr lang="en-US" sz="488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· TypeScript · JavaScript · Docker · Docker Compose · Tailwind CSS · HTML · Figma · QA</a:t>
            </a:r>
            <a:endParaRPr lang="en-US" sz="488" dirty="0"/>
          </a:p>
        </p:txBody>
      </p:sp>
      <p:sp>
        <p:nvSpPr>
          <p:cNvPr id="45" name="Shape 43"/>
          <p:cNvSpPr/>
          <p:nvPr/>
        </p:nvSpPr>
        <p:spPr>
          <a:xfrm>
            <a:off x="9248544" y="2038299"/>
            <a:ext cx="95248" cy="95248"/>
          </a:xfrm>
          <a:prstGeom prst="ellipse">
            <a:avLst/>
          </a:prstGeom>
          <a:solidFill>
            <a:srgbClr val="2EF2B6"/>
          </a:solidFill>
          <a:ln w="12700">
            <a:solidFill>
              <a:srgbClr val="2EF2B6">
                <a:alpha val="6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296168" y="2285943"/>
            <a:ext cx="2095448" cy="2857429"/>
          </a:xfrm>
          <a:prstGeom prst="roundRect">
            <a:avLst>
              <a:gd name="adj" fmla="val 2618"/>
            </a:avLst>
          </a:prstGeom>
          <a:solidFill>
            <a:srgbClr val="2EF2B6">
              <a:alpha val="6000"/>
            </a:srgbClr>
          </a:solidFill>
          <a:ln w="9525">
            <a:solidFill>
              <a:srgbClr val="2EF2B6">
                <a:alpha val="22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410465" y="2400240"/>
            <a:ext cx="1047724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0362941" y="2457389"/>
            <a:ext cx="495288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420089" y="2495488"/>
            <a:ext cx="380990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ATUAL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9410465" y="2819330"/>
            <a:ext cx="1866853" cy="323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25"/>
              </a:lnSpc>
              <a:buNone/>
            </a:pPr>
            <a:r>
              <a:rPr lang="en-US" sz="7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Consolidação técnica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9410465" y="3162221"/>
            <a:ext cx="1866853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75"/>
              </a:lnSpc>
              <a:buNone/>
            </a:pPr>
            <a:r>
              <a:rPr lang="en-US" sz="525" spc="5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REVIO Tecnologia · 2026</a:t>
            </a:r>
            <a:endParaRPr lang="en-US" sz="525" dirty="0"/>
          </a:p>
        </p:txBody>
      </p:sp>
      <p:sp>
        <p:nvSpPr>
          <p:cNvPr id="52" name="Text 50"/>
          <p:cNvSpPr/>
          <p:nvPr/>
        </p:nvSpPr>
        <p:spPr>
          <a:xfrm>
            <a:off x="9410465" y="3467013"/>
            <a:ext cx="1866853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75"/>
              </a:lnSpc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Certificação Azure Pipelines (10/2026)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9410465" y="3752756"/>
            <a:ext cx="1866853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75"/>
              </a:lnSpc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Formação para a Primeira Liderança (FM2S)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9410465" y="4038499"/>
            <a:ext cx="1866853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75"/>
              </a:lnSpc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Projetos com React, TypeScript e automação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9410465" y="4724282"/>
            <a:ext cx="1866853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600"/>
              </a:lnSpc>
              <a:buNone/>
            </a:pPr>
            <a:r>
              <a:rPr lang="en-US" sz="488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· CI/CD · Kubernetes · Estudos de IA · Arquitetura · Liderança · Mentoria · QA · Figma · Coleta e maturação de feedback</a:t>
            </a:r>
            <a:endParaRPr lang="en-US" sz="488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380990"/>
            <a:ext cx="323842" cy="323842"/>
          </a:xfrm>
          <a:prstGeom prst="roundRect">
            <a:avLst>
              <a:gd name="adj" fmla="val 79061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585" y="400040"/>
            <a:ext cx="323842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0508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028674" y="409565"/>
            <a:ext cx="1523962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</a:t>
            </a:r>
            <a:pPr indent="0" marL="0">
              <a:buNone/>
            </a:pPr>
            <a:r>
              <a:rPr lang="en-US" sz="13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.dev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572286" y="457189"/>
            <a:ext cx="300982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15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 LEMOS · 05 / 12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09585" y="1104872"/>
            <a:ext cx="10972526" cy="4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Certificados &amp; habilidades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609585" y="1523962"/>
            <a:ext cx="10972526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Aprendizado contínuo aplicado ao dia a dia.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09585" y="1809705"/>
            <a:ext cx="3428914" cy="4286143"/>
          </a:xfrm>
          <a:prstGeom prst="roundRect">
            <a:avLst>
              <a:gd name="adj" fmla="val 16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0080" y="2019250"/>
            <a:ext cx="2857429" cy="857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25+</a:t>
            </a:r>
            <a:endParaRPr lang="en-US" sz="4650" dirty="0"/>
          </a:p>
        </p:txBody>
      </p:sp>
      <p:sp>
        <p:nvSpPr>
          <p:cNvPr id="10" name="Text 8"/>
          <p:cNvSpPr/>
          <p:nvPr/>
        </p:nvSpPr>
        <p:spPr>
          <a:xfrm>
            <a:off x="800080" y="2876478"/>
            <a:ext cx="2857429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certificações e cursos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800080" y="3162221"/>
            <a:ext cx="3047924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Cloud, segurança, desenvolvimento, IA, gestão e idiomas.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00080" y="3905152"/>
            <a:ext cx="2857429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5" spc="10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LINGUAGENS</a:t>
            </a:r>
            <a:endParaRPr lang="en-US" sz="525" dirty="0"/>
          </a:p>
        </p:txBody>
      </p:sp>
      <p:sp>
        <p:nvSpPr>
          <p:cNvPr id="13" name="Shape 11"/>
          <p:cNvSpPr/>
          <p:nvPr/>
        </p:nvSpPr>
        <p:spPr>
          <a:xfrm>
            <a:off x="800080" y="4057549"/>
            <a:ext cx="400040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7229" y="4095648"/>
            <a:ext cx="285743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PHP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257269" y="4057549"/>
            <a:ext cx="506717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14417" y="4095648"/>
            <a:ext cx="392420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821134" y="4057549"/>
            <a:ext cx="1510627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78283" y="4095648"/>
            <a:ext cx="1396330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 / TypeScript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800080" y="4457589"/>
            <a:ext cx="2857429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5" spc="10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&amp; DEVOPS</a:t>
            </a:r>
            <a:endParaRPr lang="en-US" sz="525" dirty="0"/>
          </a:p>
        </p:txBody>
      </p:sp>
      <p:sp>
        <p:nvSpPr>
          <p:cNvPr id="20" name="Shape 18"/>
          <p:cNvSpPr/>
          <p:nvPr/>
        </p:nvSpPr>
        <p:spPr>
          <a:xfrm>
            <a:off x="800080" y="4609985"/>
            <a:ext cx="506717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7229" y="4648084"/>
            <a:ext cx="392420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363946" y="4609985"/>
            <a:ext cx="979146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21094" y="4648084"/>
            <a:ext cx="864848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Actions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400240" y="4609985"/>
            <a:ext cx="447664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57389" y="4648084"/>
            <a:ext cx="333367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905052" y="4609985"/>
            <a:ext cx="447664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62201" y="4648084"/>
            <a:ext cx="333367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00080" y="5010025"/>
            <a:ext cx="2857429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5" spc="10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&amp; DADOS</a:t>
            </a:r>
            <a:endParaRPr lang="en-US" sz="525" dirty="0"/>
          </a:p>
        </p:txBody>
      </p:sp>
      <p:sp>
        <p:nvSpPr>
          <p:cNvPr id="29" name="Shape 27"/>
          <p:cNvSpPr/>
          <p:nvPr/>
        </p:nvSpPr>
        <p:spPr>
          <a:xfrm>
            <a:off x="800080" y="5162421"/>
            <a:ext cx="447664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7229" y="5200520"/>
            <a:ext cx="333367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304892" y="5162421"/>
            <a:ext cx="624824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62041" y="5200520"/>
            <a:ext cx="510527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986865" y="5162421"/>
            <a:ext cx="683878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44014" y="5200520"/>
            <a:ext cx="569581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APIs REST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727892" y="5162421"/>
            <a:ext cx="400040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85040" y="5200520"/>
            <a:ext cx="285743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286143" y="1809705"/>
            <a:ext cx="2333567" cy="2047824"/>
          </a:xfrm>
          <a:prstGeom prst="roundRect">
            <a:avLst>
              <a:gd name="adj" fmla="val 2679"/>
            </a:avLst>
          </a:prstGeom>
          <a:solidFill>
            <a:srgbClr val="2EF2B6">
              <a:alpha val="6000"/>
            </a:srgbClr>
          </a:solidFill>
          <a:ln w="9525">
            <a:solidFill>
              <a:srgbClr val="2EF2B6">
                <a:alpha val="22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19490" y="1943051"/>
            <a:ext cx="2047824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8" spc="10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FIAP</a:t>
            </a:r>
            <a:endParaRPr lang="en-US" sz="488" dirty="0"/>
          </a:p>
        </p:txBody>
      </p:sp>
      <p:sp>
        <p:nvSpPr>
          <p:cNvPr id="39" name="Text 37"/>
          <p:cNvSpPr/>
          <p:nvPr/>
        </p:nvSpPr>
        <p:spPr>
          <a:xfrm>
            <a:off x="4419490" y="2171646"/>
            <a:ext cx="2066873" cy="685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3"/>
              </a:lnSpc>
              <a:buNone/>
            </a:pPr>
            <a:r>
              <a:rPr lang="en-US" sz="863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Cybersecurity</a:t>
            </a:r>
            <a:endParaRPr lang="en-US" sz="863" dirty="0"/>
          </a:p>
        </p:txBody>
      </p:sp>
      <p:sp>
        <p:nvSpPr>
          <p:cNvPr id="40" name="Text 38"/>
          <p:cNvSpPr/>
          <p:nvPr/>
        </p:nvSpPr>
        <p:spPr>
          <a:xfrm>
            <a:off x="4419490" y="2895528"/>
            <a:ext cx="2066873" cy="514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75"/>
              </a:lnSpc>
              <a:buNone/>
            </a:pPr>
            <a:r>
              <a:rPr lang="en-US" sz="56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Fundamentos de segurança, ameaças e boas práticas.</a:t>
            </a:r>
            <a:endParaRPr lang="en-US" sz="563" dirty="0"/>
          </a:p>
        </p:txBody>
      </p:sp>
      <p:sp>
        <p:nvSpPr>
          <p:cNvPr id="41" name="Text 39"/>
          <p:cNvSpPr/>
          <p:nvPr/>
        </p:nvSpPr>
        <p:spPr>
          <a:xfrm>
            <a:off x="4419490" y="3562261"/>
            <a:ext cx="952476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</a:t>
            </a:r>
            <a:endParaRPr lang="en-US" sz="563" dirty="0"/>
          </a:p>
        </p:txBody>
      </p:sp>
      <p:sp>
        <p:nvSpPr>
          <p:cNvPr id="42" name="Shape 40"/>
          <p:cNvSpPr/>
          <p:nvPr/>
        </p:nvSpPr>
        <p:spPr>
          <a:xfrm>
            <a:off x="6762581" y="1809705"/>
            <a:ext cx="2333567" cy="2047824"/>
          </a:xfrm>
          <a:prstGeom prst="roundRect">
            <a:avLst>
              <a:gd name="adj" fmla="val 2679"/>
            </a:avLst>
          </a:prstGeom>
          <a:solidFill>
            <a:srgbClr val="8B5CF6">
              <a:alpha val="6000"/>
            </a:srgbClr>
          </a:solidFill>
          <a:ln w="9525">
            <a:solidFill>
              <a:srgbClr val="8B5CF6">
                <a:alpha val="22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95928" y="1943051"/>
            <a:ext cx="2047824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8" spc="10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· DIO</a:t>
            </a:r>
            <a:endParaRPr lang="en-US" sz="488" dirty="0"/>
          </a:p>
        </p:txBody>
      </p:sp>
      <p:sp>
        <p:nvSpPr>
          <p:cNvPr id="44" name="Text 42"/>
          <p:cNvSpPr/>
          <p:nvPr/>
        </p:nvSpPr>
        <p:spPr>
          <a:xfrm>
            <a:off x="6895928" y="2171646"/>
            <a:ext cx="2066873" cy="685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3"/>
              </a:lnSpc>
              <a:buNone/>
            </a:pPr>
            <a:r>
              <a:rPr lang="en-US" sz="863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Pipelines — CI/CD, Docker e Kubernetes</a:t>
            </a:r>
            <a:endParaRPr lang="en-US" sz="863" dirty="0"/>
          </a:p>
        </p:txBody>
      </p:sp>
      <p:sp>
        <p:nvSpPr>
          <p:cNvPr id="45" name="Text 43"/>
          <p:cNvSpPr/>
          <p:nvPr/>
        </p:nvSpPr>
        <p:spPr>
          <a:xfrm>
            <a:off x="6895928" y="2895528"/>
            <a:ext cx="2066873" cy="514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75"/>
              </a:lnSpc>
              <a:buNone/>
            </a:pPr>
            <a:r>
              <a:rPr lang="en-US" sz="56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CI/CD, containers e orquestração no Azure DevOps.</a:t>
            </a:r>
            <a:endParaRPr lang="en-US" sz="563" dirty="0"/>
          </a:p>
        </p:txBody>
      </p:sp>
      <p:sp>
        <p:nvSpPr>
          <p:cNvPr id="46" name="Text 44"/>
          <p:cNvSpPr/>
          <p:nvPr/>
        </p:nvSpPr>
        <p:spPr>
          <a:xfrm>
            <a:off x="6895928" y="3562261"/>
            <a:ext cx="952476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</a:t>
            </a:r>
            <a:endParaRPr lang="en-US" sz="563" dirty="0"/>
          </a:p>
        </p:txBody>
      </p:sp>
      <p:sp>
        <p:nvSpPr>
          <p:cNvPr id="47" name="Shape 45"/>
          <p:cNvSpPr/>
          <p:nvPr/>
        </p:nvSpPr>
        <p:spPr>
          <a:xfrm>
            <a:off x="9239019" y="1809705"/>
            <a:ext cx="2333567" cy="2047824"/>
          </a:xfrm>
          <a:prstGeom prst="roundRect">
            <a:avLst>
              <a:gd name="adj" fmla="val 2679"/>
            </a:avLst>
          </a:prstGeom>
          <a:solidFill>
            <a:srgbClr val="FF4D8D">
              <a:alpha val="6000"/>
            </a:srgbClr>
          </a:solidFill>
          <a:ln w="9525">
            <a:solidFill>
              <a:srgbClr val="FF4D8D">
                <a:alpha val="22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372366" y="1943051"/>
            <a:ext cx="2047824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8" spc="10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FM2S</a:t>
            </a:r>
            <a:endParaRPr lang="en-US" sz="488" dirty="0"/>
          </a:p>
        </p:txBody>
      </p:sp>
      <p:sp>
        <p:nvSpPr>
          <p:cNvPr id="49" name="Text 47"/>
          <p:cNvSpPr/>
          <p:nvPr/>
        </p:nvSpPr>
        <p:spPr>
          <a:xfrm>
            <a:off x="9372366" y="2171646"/>
            <a:ext cx="2066873" cy="685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3"/>
              </a:lnSpc>
              <a:buNone/>
            </a:pPr>
            <a:r>
              <a:rPr lang="en-US" sz="863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Lean Six Sigma — Yellow Belt</a:t>
            </a:r>
            <a:endParaRPr lang="en-US" sz="863" dirty="0"/>
          </a:p>
        </p:txBody>
      </p:sp>
      <p:sp>
        <p:nvSpPr>
          <p:cNvPr id="50" name="Text 48"/>
          <p:cNvSpPr/>
          <p:nvPr/>
        </p:nvSpPr>
        <p:spPr>
          <a:xfrm>
            <a:off x="9372366" y="2895528"/>
            <a:ext cx="2066873" cy="514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75"/>
              </a:lnSpc>
              <a:buNone/>
            </a:pPr>
            <a:r>
              <a:rPr lang="en-US" sz="56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Melhoria contínua e redução de desperdícios.</a:t>
            </a:r>
            <a:endParaRPr lang="en-US" sz="563" dirty="0"/>
          </a:p>
        </p:txBody>
      </p:sp>
      <p:sp>
        <p:nvSpPr>
          <p:cNvPr id="51" name="Text 49"/>
          <p:cNvSpPr/>
          <p:nvPr/>
        </p:nvSpPr>
        <p:spPr>
          <a:xfrm>
            <a:off x="9372366" y="3562261"/>
            <a:ext cx="952476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2022</a:t>
            </a:r>
            <a:endParaRPr lang="en-US" sz="563" dirty="0"/>
          </a:p>
        </p:txBody>
      </p:sp>
      <p:sp>
        <p:nvSpPr>
          <p:cNvPr id="52" name="Shape 50"/>
          <p:cNvSpPr/>
          <p:nvPr/>
        </p:nvSpPr>
        <p:spPr>
          <a:xfrm>
            <a:off x="4286143" y="4000400"/>
            <a:ext cx="2333567" cy="2047824"/>
          </a:xfrm>
          <a:prstGeom prst="roundRect">
            <a:avLst>
              <a:gd name="adj" fmla="val 2679"/>
            </a:avLst>
          </a:prstGeom>
          <a:solidFill>
            <a:srgbClr val="2EF2B6">
              <a:alpha val="6000"/>
            </a:srgbClr>
          </a:solidFill>
          <a:ln w="9525">
            <a:solidFill>
              <a:srgbClr val="2EF2B6">
                <a:alpha val="22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19490" y="4133747"/>
            <a:ext cx="2047824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8" spc="10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488" dirty="0"/>
          </a:p>
        </p:txBody>
      </p:sp>
      <p:sp>
        <p:nvSpPr>
          <p:cNvPr id="54" name="Text 52"/>
          <p:cNvSpPr/>
          <p:nvPr/>
        </p:nvSpPr>
        <p:spPr>
          <a:xfrm>
            <a:off x="4419490" y="4362341"/>
            <a:ext cx="2066873" cy="685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3"/>
              </a:lnSpc>
              <a:buNone/>
            </a:pPr>
            <a:r>
              <a:rPr lang="en-US" sz="863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Inglês B1 — MET</a:t>
            </a:r>
            <a:endParaRPr lang="en-US" sz="863" dirty="0"/>
          </a:p>
        </p:txBody>
      </p:sp>
      <p:sp>
        <p:nvSpPr>
          <p:cNvPr id="55" name="Text 53"/>
          <p:cNvSpPr/>
          <p:nvPr/>
        </p:nvSpPr>
        <p:spPr>
          <a:xfrm>
            <a:off x="4419490" y="5086223"/>
            <a:ext cx="2066873" cy="514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75"/>
              </a:lnSpc>
              <a:buNone/>
            </a:pPr>
            <a:r>
              <a:rPr lang="en-US" sz="56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Comunicação e leitura em contexto profissional.</a:t>
            </a:r>
            <a:endParaRPr lang="en-US" sz="563" dirty="0"/>
          </a:p>
        </p:txBody>
      </p:sp>
      <p:sp>
        <p:nvSpPr>
          <p:cNvPr id="56" name="Text 54"/>
          <p:cNvSpPr/>
          <p:nvPr/>
        </p:nvSpPr>
        <p:spPr>
          <a:xfrm>
            <a:off x="4419490" y="5752956"/>
            <a:ext cx="952476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2024</a:t>
            </a:r>
            <a:endParaRPr lang="en-US" sz="563" dirty="0"/>
          </a:p>
        </p:txBody>
      </p:sp>
      <p:sp>
        <p:nvSpPr>
          <p:cNvPr id="57" name="Shape 55"/>
          <p:cNvSpPr/>
          <p:nvPr/>
        </p:nvSpPr>
        <p:spPr>
          <a:xfrm>
            <a:off x="6762581" y="4000400"/>
            <a:ext cx="2333567" cy="2047824"/>
          </a:xfrm>
          <a:prstGeom prst="roundRect">
            <a:avLst>
              <a:gd name="adj" fmla="val 2679"/>
            </a:avLst>
          </a:prstGeom>
          <a:solidFill>
            <a:srgbClr val="8B5CF6">
              <a:alpha val="6000"/>
            </a:srgbClr>
          </a:solidFill>
          <a:ln w="9525">
            <a:solidFill>
              <a:srgbClr val="8B5CF6">
                <a:alpha val="22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95928" y="4133747"/>
            <a:ext cx="2047824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8" spc="10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FM2S</a:t>
            </a:r>
            <a:endParaRPr lang="en-US" sz="488" dirty="0"/>
          </a:p>
        </p:txBody>
      </p:sp>
      <p:sp>
        <p:nvSpPr>
          <p:cNvPr id="59" name="Text 57"/>
          <p:cNvSpPr/>
          <p:nvPr/>
        </p:nvSpPr>
        <p:spPr>
          <a:xfrm>
            <a:off x="6895928" y="4362341"/>
            <a:ext cx="2066873" cy="685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3"/>
              </a:lnSpc>
              <a:buNone/>
            </a:pPr>
            <a:r>
              <a:rPr lang="en-US" sz="863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Formação para a Primeira Liderança</a:t>
            </a:r>
            <a:endParaRPr lang="en-US" sz="863" dirty="0"/>
          </a:p>
        </p:txBody>
      </p:sp>
      <p:sp>
        <p:nvSpPr>
          <p:cNvPr id="60" name="Text 58"/>
          <p:cNvSpPr/>
          <p:nvPr/>
        </p:nvSpPr>
        <p:spPr>
          <a:xfrm>
            <a:off x="6895928" y="5086223"/>
            <a:ext cx="2066873" cy="514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75"/>
              </a:lnSpc>
              <a:buNone/>
            </a:pPr>
            <a:r>
              <a:rPr lang="en-US" sz="56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Liderança, comunicação e gestão de equipes.</a:t>
            </a:r>
            <a:endParaRPr lang="en-US" sz="563" dirty="0"/>
          </a:p>
        </p:txBody>
      </p:sp>
      <p:sp>
        <p:nvSpPr>
          <p:cNvPr id="61" name="Text 59"/>
          <p:cNvSpPr/>
          <p:nvPr/>
        </p:nvSpPr>
        <p:spPr>
          <a:xfrm>
            <a:off x="6895928" y="5752956"/>
            <a:ext cx="952476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</a:t>
            </a:r>
            <a:endParaRPr lang="en-US" sz="563" dirty="0"/>
          </a:p>
        </p:txBody>
      </p:sp>
      <p:sp>
        <p:nvSpPr>
          <p:cNvPr id="62" name="Shape 60"/>
          <p:cNvSpPr/>
          <p:nvPr/>
        </p:nvSpPr>
        <p:spPr>
          <a:xfrm>
            <a:off x="9239019" y="4000400"/>
            <a:ext cx="2333567" cy="2047824"/>
          </a:xfrm>
          <a:prstGeom prst="roundRect">
            <a:avLst>
              <a:gd name="adj" fmla="val 2679"/>
            </a:avLst>
          </a:prstGeom>
          <a:solidFill>
            <a:srgbClr val="FF4D8D">
              <a:alpha val="6000"/>
            </a:srgbClr>
          </a:solidFill>
          <a:ln w="9525">
            <a:solidFill>
              <a:srgbClr val="FF4D8D">
                <a:alpha val="22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372366" y="4133747"/>
            <a:ext cx="2047824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8" spc="10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ALURA</a:t>
            </a:r>
            <a:endParaRPr lang="en-US" sz="488" dirty="0"/>
          </a:p>
        </p:txBody>
      </p:sp>
      <p:sp>
        <p:nvSpPr>
          <p:cNvPr id="64" name="Text 62"/>
          <p:cNvSpPr/>
          <p:nvPr/>
        </p:nvSpPr>
        <p:spPr>
          <a:xfrm>
            <a:off x="9372366" y="4362341"/>
            <a:ext cx="2066873" cy="685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3"/>
              </a:lnSpc>
              <a:buNone/>
            </a:pPr>
            <a:r>
              <a:rPr lang="en-US" sz="863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Imersão Inteligência Artificial</a:t>
            </a:r>
            <a:endParaRPr lang="en-US" sz="863" dirty="0"/>
          </a:p>
        </p:txBody>
      </p:sp>
      <p:sp>
        <p:nvSpPr>
          <p:cNvPr id="65" name="Text 63"/>
          <p:cNvSpPr/>
          <p:nvPr/>
        </p:nvSpPr>
        <p:spPr>
          <a:xfrm>
            <a:off x="9372366" y="5086223"/>
            <a:ext cx="2066873" cy="514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75"/>
              </a:lnSpc>
              <a:buNone/>
            </a:pPr>
            <a:r>
              <a:rPr lang="en-US" sz="56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Fundamentos de IA, modelos e aplicações práticas.</a:t>
            </a:r>
            <a:endParaRPr lang="en-US" sz="563" dirty="0"/>
          </a:p>
        </p:txBody>
      </p:sp>
      <p:sp>
        <p:nvSpPr>
          <p:cNvPr id="66" name="Text 64"/>
          <p:cNvSpPr/>
          <p:nvPr/>
        </p:nvSpPr>
        <p:spPr>
          <a:xfrm>
            <a:off x="9372366" y="5752956"/>
            <a:ext cx="952476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</a:t>
            </a:r>
            <a:endParaRPr lang="en-US" sz="56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380990"/>
            <a:ext cx="323842" cy="323842"/>
          </a:xfrm>
          <a:prstGeom prst="roundRect">
            <a:avLst>
              <a:gd name="adj" fmla="val 79061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585" y="400040"/>
            <a:ext cx="323842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0508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028674" y="409565"/>
            <a:ext cx="1523962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</a:t>
            </a:r>
            <a:pPr indent="0" marL="0">
              <a:buNone/>
            </a:pPr>
            <a:r>
              <a:rPr lang="en-US" sz="13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.dev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572286" y="457189"/>
            <a:ext cx="300982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15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 LEMOS · 06 / 12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09585" y="1104872"/>
            <a:ext cx="10972526" cy="4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Palestras &amp; eventos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609585" y="1523962"/>
            <a:ext cx="10972526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eventos, workshops e imersões que acompanhei.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09585" y="1809705"/>
            <a:ext cx="10972526" cy="914377"/>
          </a:xfrm>
          <a:prstGeom prst="roundRect">
            <a:avLst>
              <a:gd name="adj" fmla="val 6000"/>
            </a:avLst>
          </a:prstGeom>
          <a:solidFill>
            <a:srgbClr val="FF4D8D">
              <a:alpha val="6000"/>
            </a:srgbClr>
          </a:solidFill>
          <a:ln w="9525">
            <a:solidFill>
              <a:srgbClr val="FF4D8D">
                <a:alpha val="2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0080" y="1943051"/>
            <a:ext cx="7619809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5" spc="100" kern="0" dirty="0">
                <a:solidFill>
                  <a:srgbClr val="FF4D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FEBRABAN</a:t>
            </a:r>
            <a:endParaRPr lang="en-US" sz="525" dirty="0"/>
          </a:p>
        </p:txBody>
      </p:sp>
      <p:sp>
        <p:nvSpPr>
          <p:cNvPr id="10" name="Text 8"/>
          <p:cNvSpPr/>
          <p:nvPr/>
        </p:nvSpPr>
        <p:spPr>
          <a:xfrm>
            <a:off x="800080" y="2114497"/>
            <a:ext cx="9334267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Febraban Tech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0080" y="2381190"/>
            <a:ext cx="9143771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Maior evento de tecnologia e inovação do setor financeiro da América Latina, com conteúdos sobre IA, cloud, dados e o futuro do mercado.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10667733" y="1943051"/>
            <a:ext cx="685783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609585" y="2857429"/>
            <a:ext cx="5410065" cy="914377"/>
          </a:xfrm>
          <a:prstGeom prst="roundRect">
            <a:avLst>
              <a:gd name="adj" fmla="val 60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1981" y="2990775"/>
            <a:ext cx="4000400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5" spc="10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ENIAC INNOVATION FEST</a:t>
            </a:r>
            <a:endParaRPr lang="en-US" sz="525" dirty="0"/>
          </a:p>
        </p:txBody>
      </p:sp>
      <p:sp>
        <p:nvSpPr>
          <p:cNvPr id="15" name="Text 13"/>
          <p:cNvSpPr/>
          <p:nvPr/>
        </p:nvSpPr>
        <p:spPr>
          <a:xfrm>
            <a:off x="761981" y="3162221"/>
            <a:ext cx="4762381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Ciclo de Palestras e Painel de Debate — Inovação e Tecnologia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371966" y="2990775"/>
            <a:ext cx="495288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6172046" y="2857429"/>
            <a:ext cx="5410065" cy="914377"/>
          </a:xfrm>
          <a:prstGeom prst="roundRect">
            <a:avLst>
              <a:gd name="adj" fmla="val 60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4442" y="2990775"/>
            <a:ext cx="4000400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5" spc="10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ENIAC INNOVATION FEST</a:t>
            </a:r>
            <a:endParaRPr lang="en-US" sz="525" dirty="0"/>
          </a:p>
        </p:txBody>
      </p:sp>
      <p:sp>
        <p:nvSpPr>
          <p:cNvPr id="19" name="Text 17"/>
          <p:cNvSpPr/>
          <p:nvPr/>
        </p:nvSpPr>
        <p:spPr>
          <a:xfrm>
            <a:off x="6324442" y="3162221"/>
            <a:ext cx="4762381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Oficina: Desvendando as IAs Generativas do Google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0934427" y="2990775"/>
            <a:ext cx="495288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609585" y="3886103"/>
            <a:ext cx="5410065" cy="914377"/>
          </a:xfrm>
          <a:prstGeom prst="roundRect">
            <a:avLst>
              <a:gd name="adj" fmla="val 60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1981" y="4019450"/>
            <a:ext cx="4000400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5" spc="10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</a:t>
            </a:r>
            <a:endParaRPr lang="en-US" sz="525" dirty="0"/>
          </a:p>
        </p:txBody>
      </p:sp>
      <p:sp>
        <p:nvSpPr>
          <p:cNvPr id="23" name="Text 21"/>
          <p:cNvSpPr/>
          <p:nvPr/>
        </p:nvSpPr>
        <p:spPr>
          <a:xfrm>
            <a:off x="761981" y="4190895"/>
            <a:ext cx="4762381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Oficina: Crie seu Próprio Agente de IA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371966" y="4019450"/>
            <a:ext cx="495288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6172046" y="3886103"/>
            <a:ext cx="5410065" cy="914377"/>
          </a:xfrm>
          <a:prstGeom prst="roundRect">
            <a:avLst>
              <a:gd name="adj" fmla="val 60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24442" y="4019450"/>
            <a:ext cx="4000400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5" spc="10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PALESTRA</a:t>
            </a:r>
            <a:endParaRPr lang="en-US" sz="525" dirty="0"/>
          </a:p>
        </p:txBody>
      </p:sp>
      <p:sp>
        <p:nvSpPr>
          <p:cNvPr id="27" name="Text 25"/>
          <p:cNvSpPr/>
          <p:nvPr/>
        </p:nvSpPr>
        <p:spPr>
          <a:xfrm>
            <a:off x="6324442" y="4190895"/>
            <a:ext cx="4762381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 no Marketing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0934427" y="4019450"/>
            <a:ext cx="495288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609585" y="4914777"/>
            <a:ext cx="5410065" cy="914377"/>
          </a:xfrm>
          <a:prstGeom prst="roundRect">
            <a:avLst>
              <a:gd name="adj" fmla="val 60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1981" y="5048124"/>
            <a:ext cx="4000400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5" spc="10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AB2L</a:t>
            </a:r>
            <a:endParaRPr lang="en-US" sz="525" dirty="0"/>
          </a:p>
        </p:txBody>
      </p:sp>
      <p:sp>
        <p:nvSpPr>
          <p:cNvPr id="31" name="Text 29"/>
          <p:cNvSpPr/>
          <p:nvPr/>
        </p:nvSpPr>
        <p:spPr>
          <a:xfrm>
            <a:off x="761981" y="5219570"/>
            <a:ext cx="4762381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AB2L LawTech Experience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371966" y="5048124"/>
            <a:ext cx="495288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6172046" y="4914777"/>
            <a:ext cx="5410065" cy="914377"/>
          </a:xfrm>
          <a:prstGeom prst="roundRect">
            <a:avLst>
              <a:gd name="adj" fmla="val 60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24442" y="5048124"/>
            <a:ext cx="4000400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5" spc="10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ENIAC</a:t>
            </a:r>
            <a:endParaRPr lang="en-US" sz="525" dirty="0"/>
          </a:p>
        </p:txBody>
      </p:sp>
      <p:sp>
        <p:nvSpPr>
          <p:cNvPr id="35" name="Text 33"/>
          <p:cNvSpPr/>
          <p:nvPr/>
        </p:nvSpPr>
        <p:spPr>
          <a:xfrm>
            <a:off x="6324442" y="5219570"/>
            <a:ext cx="4762381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Liderança Multigeracional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0934427" y="5048124"/>
            <a:ext cx="495288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380990"/>
            <a:ext cx="323842" cy="323842"/>
          </a:xfrm>
          <a:prstGeom prst="roundRect">
            <a:avLst>
              <a:gd name="adj" fmla="val 79061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585" y="400040"/>
            <a:ext cx="323842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0508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028674" y="409565"/>
            <a:ext cx="1523962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</a:t>
            </a:r>
            <a:pPr indent="0" marL="0">
              <a:buNone/>
            </a:pPr>
            <a:r>
              <a:rPr lang="en-US" sz="13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.dev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572286" y="457189"/>
            <a:ext cx="300982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15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 LEMOS · 07 / 12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09585" y="1104872"/>
            <a:ext cx="10972526" cy="4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Projetos em destaque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609585" y="1523962"/>
            <a:ext cx="10972526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projetos em destaque · 8 no portfólio.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09585" y="1809705"/>
            <a:ext cx="3505112" cy="1952576"/>
          </a:xfrm>
          <a:prstGeom prst="roundRect">
            <a:avLst>
              <a:gd name="adj" fmla="val 2810"/>
            </a:avLst>
          </a:prstGeom>
          <a:solidFill>
            <a:srgbClr val="2EF2B6">
              <a:alpha val="6000"/>
            </a:srgbClr>
          </a:solidFill>
          <a:ln w="9525">
            <a:solidFill>
              <a:srgbClr val="2EF2B6">
                <a:alpha val="2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1981" y="1962101"/>
            <a:ext cx="1904952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5" spc="100" kern="0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FRONT-END</a:t>
            </a:r>
            <a:endParaRPr lang="en-US" sz="525" dirty="0"/>
          </a:p>
        </p:txBody>
      </p:sp>
      <p:sp>
        <p:nvSpPr>
          <p:cNvPr id="10" name="Text 8"/>
          <p:cNvSpPr/>
          <p:nvPr/>
        </p:nvSpPr>
        <p:spPr>
          <a:xfrm>
            <a:off x="761981" y="2171646"/>
            <a:ext cx="3200320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Apple Shop Clone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61981" y="2628834"/>
            <a:ext cx="3200320" cy="514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Clone fiel do site oficial da Apple Shop durante o período natalino.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761981" y="3333667"/>
            <a:ext cx="320032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 ·  CSS  ·  Bootstrap</a:t>
            </a:r>
            <a:endParaRPr lang="en-US" sz="563" dirty="0"/>
          </a:p>
        </p:txBody>
      </p:sp>
      <p:sp>
        <p:nvSpPr>
          <p:cNvPr id="13" name="Shape 11"/>
          <p:cNvSpPr/>
          <p:nvPr/>
        </p:nvSpPr>
        <p:spPr>
          <a:xfrm>
            <a:off x="4343291" y="1809705"/>
            <a:ext cx="3505112" cy="1952576"/>
          </a:xfrm>
          <a:prstGeom prst="roundRect">
            <a:avLst>
              <a:gd name="adj" fmla="val 2810"/>
            </a:avLst>
          </a:prstGeom>
          <a:solidFill>
            <a:srgbClr val="2EF2B6">
              <a:alpha val="6000"/>
            </a:srgbClr>
          </a:solidFill>
          <a:ln w="9525">
            <a:solidFill>
              <a:srgbClr val="2EF2B6">
                <a:alpha val="2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5688" y="1962101"/>
            <a:ext cx="1904952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5" spc="100" kern="0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FRONT-END</a:t>
            </a:r>
            <a:endParaRPr lang="en-US" sz="525" dirty="0"/>
          </a:p>
        </p:txBody>
      </p:sp>
      <p:sp>
        <p:nvSpPr>
          <p:cNvPr id="15" name="Text 13"/>
          <p:cNvSpPr/>
          <p:nvPr/>
        </p:nvSpPr>
        <p:spPr>
          <a:xfrm>
            <a:off x="4495688" y="2171646"/>
            <a:ext cx="3200320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Meteora E-commerce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95688" y="2628834"/>
            <a:ext cx="3200320" cy="514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Plataforma completa de e-commerce com navegação intuitiva e design moderno.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4495688" y="3333667"/>
            <a:ext cx="320032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 ·  CSS  ·  Bootstrap</a:t>
            </a:r>
            <a:endParaRPr lang="en-US" sz="563" dirty="0"/>
          </a:p>
        </p:txBody>
      </p:sp>
      <p:sp>
        <p:nvSpPr>
          <p:cNvPr id="18" name="Shape 16"/>
          <p:cNvSpPr/>
          <p:nvPr/>
        </p:nvSpPr>
        <p:spPr>
          <a:xfrm>
            <a:off x="8076998" y="1809705"/>
            <a:ext cx="3505112" cy="1952576"/>
          </a:xfrm>
          <a:prstGeom prst="roundRect">
            <a:avLst>
              <a:gd name="adj" fmla="val 2810"/>
            </a:avLst>
          </a:prstGeom>
          <a:solidFill>
            <a:srgbClr val="8B5CF6">
              <a:alpha val="6000"/>
            </a:srgbClr>
          </a:solidFill>
          <a:ln w="9525">
            <a:solidFill>
              <a:srgbClr val="8B5CF6">
                <a:alpha val="22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394" y="1962101"/>
            <a:ext cx="1904952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5" spc="100" kern="0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BACK-END</a:t>
            </a:r>
            <a:endParaRPr lang="en-US" sz="525" dirty="0"/>
          </a:p>
        </p:txBody>
      </p:sp>
      <p:sp>
        <p:nvSpPr>
          <p:cNvPr id="20" name="Text 18"/>
          <p:cNvSpPr/>
          <p:nvPr/>
        </p:nvSpPr>
        <p:spPr>
          <a:xfrm>
            <a:off x="8229394" y="2171646"/>
            <a:ext cx="3200320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Projeto Alluh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394" y="2628834"/>
            <a:ext cx="3200320" cy="514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Plataforma completa de gerenciamento de usuários desenvolvida em PHP.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8229394" y="3333667"/>
            <a:ext cx="320032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PHP  ·  HTML  ·  CSS</a:t>
            </a:r>
            <a:endParaRPr lang="en-US" sz="563" dirty="0"/>
          </a:p>
        </p:txBody>
      </p:sp>
      <p:sp>
        <p:nvSpPr>
          <p:cNvPr id="23" name="Shape 21"/>
          <p:cNvSpPr/>
          <p:nvPr/>
        </p:nvSpPr>
        <p:spPr>
          <a:xfrm>
            <a:off x="609585" y="3905152"/>
            <a:ext cx="3505112" cy="1952576"/>
          </a:xfrm>
          <a:prstGeom prst="roundRect">
            <a:avLst>
              <a:gd name="adj" fmla="val 2810"/>
            </a:avLst>
          </a:prstGeom>
          <a:solidFill>
            <a:srgbClr val="8B5CF6">
              <a:alpha val="6000"/>
            </a:srgbClr>
          </a:solidFill>
          <a:ln w="9525">
            <a:solidFill>
              <a:srgbClr val="8B5CF6">
                <a:alpha val="2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1981" y="4057549"/>
            <a:ext cx="1904952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5" spc="100" kern="0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BACK-END</a:t>
            </a:r>
            <a:endParaRPr lang="en-US" sz="525" dirty="0"/>
          </a:p>
        </p:txBody>
      </p:sp>
      <p:sp>
        <p:nvSpPr>
          <p:cNvPr id="25" name="Text 23"/>
          <p:cNvSpPr/>
          <p:nvPr/>
        </p:nvSpPr>
        <p:spPr>
          <a:xfrm>
            <a:off x="761981" y="4267093"/>
            <a:ext cx="3200320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Livraria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61981" y="4724282"/>
            <a:ext cx="3200320" cy="514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RESTful completa seguindo padrões CRUD com 5 tabelas interligadas.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761981" y="5429114"/>
            <a:ext cx="320032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PHP  ·  MySQL  ·  REST API</a:t>
            </a:r>
            <a:endParaRPr lang="en-US" sz="563" dirty="0"/>
          </a:p>
        </p:txBody>
      </p:sp>
      <p:sp>
        <p:nvSpPr>
          <p:cNvPr id="28" name="Shape 26"/>
          <p:cNvSpPr/>
          <p:nvPr/>
        </p:nvSpPr>
        <p:spPr>
          <a:xfrm>
            <a:off x="4343291" y="3905152"/>
            <a:ext cx="3505112" cy="1952576"/>
          </a:xfrm>
          <a:prstGeom prst="roundRect">
            <a:avLst>
              <a:gd name="adj" fmla="val 2810"/>
            </a:avLst>
          </a:prstGeom>
          <a:solidFill>
            <a:srgbClr val="FF4D8D">
              <a:alpha val="6000"/>
            </a:srgbClr>
          </a:solidFill>
          <a:ln w="9525">
            <a:solidFill>
              <a:srgbClr val="FF4D8D">
                <a:alpha val="22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95688" y="4057549"/>
            <a:ext cx="1904952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5" spc="100" kern="0" dirty="0">
                <a:solidFill>
                  <a:srgbClr val="FF4D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MACHINE LEARNING</a:t>
            </a:r>
            <a:endParaRPr lang="en-US" sz="525" dirty="0"/>
          </a:p>
        </p:txBody>
      </p:sp>
      <p:sp>
        <p:nvSpPr>
          <p:cNvPr id="30" name="Text 28"/>
          <p:cNvSpPr/>
          <p:nvPr/>
        </p:nvSpPr>
        <p:spPr>
          <a:xfrm>
            <a:off x="4495688" y="4267093"/>
            <a:ext cx="3200320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Toni - Assistente Financeiro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495688" y="4724282"/>
            <a:ext cx="3200320" cy="514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Solução inovadora de IA desenvolvida em parceria com a Stone.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4495688" y="5429114"/>
            <a:ext cx="320032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 ·  Machine Learning  ·  IA</a:t>
            </a:r>
            <a:endParaRPr lang="en-US" sz="563" dirty="0"/>
          </a:p>
        </p:txBody>
      </p:sp>
      <p:sp>
        <p:nvSpPr>
          <p:cNvPr id="33" name="Shape 31"/>
          <p:cNvSpPr/>
          <p:nvPr/>
        </p:nvSpPr>
        <p:spPr>
          <a:xfrm>
            <a:off x="8076998" y="3905152"/>
            <a:ext cx="3505112" cy="1952576"/>
          </a:xfrm>
          <a:prstGeom prst="roundRect">
            <a:avLst>
              <a:gd name="adj" fmla="val 2810"/>
            </a:avLst>
          </a:prstGeom>
          <a:solidFill>
            <a:srgbClr val="FF4D8D">
              <a:alpha val="6000"/>
            </a:srgbClr>
          </a:solidFill>
          <a:ln w="9525">
            <a:solidFill>
              <a:srgbClr val="FF4D8D">
                <a:alpha val="22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394" y="4057549"/>
            <a:ext cx="1904952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5" spc="100" kern="0" dirty="0">
                <a:solidFill>
                  <a:srgbClr val="FF4D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MACHINE LEARNING</a:t>
            </a:r>
            <a:endParaRPr lang="en-US" sz="525" dirty="0"/>
          </a:p>
        </p:txBody>
      </p:sp>
      <p:sp>
        <p:nvSpPr>
          <p:cNvPr id="35" name="Text 33"/>
          <p:cNvSpPr/>
          <p:nvPr/>
        </p:nvSpPr>
        <p:spPr>
          <a:xfrm>
            <a:off x="8229394" y="4267093"/>
            <a:ext cx="3200320" cy="41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Machine Learning Models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29394" y="4724282"/>
            <a:ext cx="3200320" cy="514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Repositório com implementações de algoritmos de aprendizado de máquina e exemplos práticos.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8229394" y="5429114"/>
            <a:ext cx="3200320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3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 ·  Scikit-learn  ·  Pandas</a:t>
            </a:r>
            <a:endParaRPr lang="en-US" sz="563" dirty="0"/>
          </a:p>
        </p:txBody>
      </p:sp>
      <p:sp>
        <p:nvSpPr>
          <p:cNvPr id="38" name="Text 36"/>
          <p:cNvSpPr/>
          <p:nvPr/>
        </p:nvSpPr>
        <p:spPr>
          <a:xfrm>
            <a:off x="609585" y="6057749"/>
            <a:ext cx="10972526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spc="12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projetos no portfólio · github.com/rhyan05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380990"/>
            <a:ext cx="323842" cy="323842"/>
          </a:xfrm>
          <a:prstGeom prst="roundRect">
            <a:avLst>
              <a:gd name="adj" fmla="val 79061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585" y="400040"/>
            <a:ext cx="323842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0508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028674" y="409565"/>
            <a:ext cx="1523962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</a:t>
            </a:r>
            <a:pPr indent="0" marL="0">
              <a:buNone/>
            </a:pPr>
            <a:r>
              <a:rPr lang="en-US" sz="13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.dev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572286" y="457189"/>
            <a:ext cx="300982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15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 LEMOS · 08 / 12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09585" y="1104872"/>
            <a:ext cx="10972526" cy="4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Minhas métricas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609585" y="1523962"/>
            <a:ext cx="10972526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Uma boa organização traz clareza, melhora a comunicação e otimiza o tempo.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09585" y="1809705"/>
            <a:ext cx="10972526" cy="857229"/>
          </a:xfrm>
          <a:prstGeom prst="roundRect">
            <a:avLst>
              <a:gd name="adj" fmla="val 640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0080" y="1981150"/>
            <a:ext cx="10591535" cy="552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“Uma boa organização, tanto em equipe quanto em projetos, aumenta a eficácia: traz clareza nas responsabilidades, melhora a comunicação e otimiza a gestão do tempo.”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09585" y="2952676"/>
            <a:ext cx="3505112" cy="2285943"/>
          </a:xfrm>
          <a:prstGeom prst="roundRect">
            <a:avLst>
              <a:gd name="adj" fmla="val 2400"/>
            </a:avLst>
          </a:prstGeom>
          <a:solidFill>
            <a:srgbClr val="2EF2B6">
              <a:alpha val="6000"/>
            </a:srgbClr>
          </a:solidFill>
          <a:ln w="9525">
            <a:solidFill>
              <a:srgbClr val="2EF2B6">
                <a:alpha val="2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8179" y="3143171"/>
            <a:ext cx="1142971" cy="571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838179" y="3733707"/>
            <a:ext cx="3047924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5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Organização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838179" y="4038499"/>
            <a:ext cx="3047924" cy="876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Clareza nas responsabilidades, comunicação eficiente e gestão de tempo para manter a equipe e os projetos alinhados.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267093" y="2952676"/>
            <a:ext cx="3505112" cy="2285943"/>
          </a:xfrm>
          <a:prstGeom prst="roundRect">
            <a:avLst>
              <a:gd name="adj" fmla="val 2400"/>
            </a:avLst>
          </a:prstGeom>
          <a:solidFill>
            <a:srgbClr val="8B5CF6">
              <a:alpha val="6000"/>
            </a:srgbClr>
          </a:solidFill>
          <a:ln w="9525">
            <a:solidFill>
              <a:srgbClr val="8B5CF6">
                <a:alpha val="2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5688" y="3143171"/>
            <a:ext cx="1142971" cy="571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4495688" y="3733707"/>
            <a:ext cx="3047924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5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Visão crítica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4495688" y="4038499"/>
            <a:ext cx="3047924" cy="876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Acompanhar o progresso de perto, identificar falhas e transformar inconsistências em oportunidades de melhoria.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7924602" y="2952676"/>
            <a:ext cx="3505112" cy="2285943"/>
          </a:xfrm>
          <a:prstGeom prst="roundRect">
            <a:avLst>
              <a:gd name="adj" fmla="val 2400"/>
            </a:avLst>
          </a:prstGeom>
          <a:solidFill>
            <a:srgbClr val="FF4D8D">
              <a:alpha val="6000"/>
            </a:srgbClr>
          </a:solidFill>
          <a:ln w="9525">
            <a:solidFill>
              <a:srgbClr val="FF4D8D">
                <a:alpha val="22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53196" y="3143171"/>
            <a:ext cx="1142971" cy="571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4D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8153196" y="3733707"/>
            <a:ext cx="3047924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5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Soluções criativas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8153196" y="4038499"/>
            <a:ext cx="3047924" cy="876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Enfrentar novos desafios com repertório técnico e criatividade, evoluindo também as soluções que já existem.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380990"/>
            <a:ext cx="323842" cy="323842"/>
          </a:xfrm>
          <a:prstGeom prst="roundRect">
            <a:avLst>
              <a:gd name="adj" fmla="val 79061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585" y="400040"/>
            <a:ext cx="323842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0508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028674" y="409565"/>
            <a:ext cx="1523962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</a:t>
            </a:r>
            <a:pPr indent="0" marL="0">
              <a:buNone/>
            </a:pPr>
            <a:r>
              <a:rPr lang="en-US" sz="13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.dev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572286" y="457189"/>
            <a:ext cx="300982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15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 LEMOS · 09 / 12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09585" y="1104872"/>
            <a:ext cx="10972526" cy="4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Plano de carreira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609585" y="1523962"/>
            <a:ext cx="10972526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Matriz de competências · autoavaliação e direcionamento estratégico.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09585" y="1809705"/>
            <a:ext cx="3505112" cy="4095648"/>
          </a:xfrm>
          <a:prstGeom prst="roundRect">
            <a:avLst>
              <a:gd name="adj" fmla="val 1565"/>
            </a:avLst>
          </a:prstGeom>
          <a:solidFill>
            <a:srgbClr val="2EF2B6">
              <a:alpha val="6000"/>
            </a:srgbClr>
          </a:solidFill>
          <a:ln w="9525">
            <a:solidFill>
              <a:srgbClr val="2EF2B6">
                <a:alpha val="2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179" y="1981150"/>
            <a:ext cx="3047924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5" spc="100" kern="0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FORTALEZAS CONSOLIDADAS</a:t>
            </a:r>
            <a:endParaRPr lang="en-US" sz="525" dirty="0"/>
          </a:p>
        </p:txBody>
      </p:sp>
      <p:sp>
        <p:nvSpPr>
          <p:cNvPr id="10" name="Text 8"/>
          <p:cNvSpPr/>
          <p:nvPr/>
        </p:nvSpPr>
        <p:spPr>
          <a:xfrm>
            <a:off x="838179" y="2171646"/>
            <a:ext cx="3047924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Já possuo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38179" y="2590735"/>
            <a:ext cx="3047924" cy="285743"/>
          </a:xfrm>
          <a:prstGeom prst="roundRect">
            <a:avLst>
              <a:gd name="adj" fmla="val 96002"/>
            </a:avLst>
          </a:prstGeom>
          <a:solidFill>
            <a:srgbClr val="FFFFFF">
              <a:alpha val="3000"/>
            </a:srgbClr>
          </a:solidFill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3427" y="2705032"/>
            <a:ext cx="57149" cy="57149"/>
          </a:xfrm>
          <a:prstGeom prst="ellipse">
            <a:avLst/>
          </a:prstGeom>
          <a:solidFill>
            <a:srgbClr val="2EF2B6"/>
          </a:solidFill>
          <a:ln/>
        </p:spPr>
      </p:sp>
      <p:sp>
        <p:nvSpPr>
          <p:cNvPr id="13" name="Text 11"/>
          <p:cNvSpPr/>
          <p:nvPr/>
        </p:nvSpPr>
        <p:spPr>
          <a:xfrm>
            <a:off x="1066773" y="2666933"/>
            <a:ext cx="266693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Visão analítica</a:t>
            </a:r>
            <a:endParaRPr lang="en-US" sz="675" dirty="0"/>
          </a:p>
        </p:txBody>
      </p:sp>
      <p:sp>
        <p:nvSpPr>
          <p:cNvPr id="14" name="Shape 12"/>
          <p:cNvSpPr/>
          <p:nvPr/>
        </p:nvSpPr>
        <p:spPr>
          <a:xfrm>
            <a:off x="838179" y="2971726"/>
            <a:ext cx="3047924" cy="285743"/>
          </a:xfrm>
          <a:prstGeom prst="roundRect">
            <a:avLst>
              <a:gd name="adj" fmla="val 96002"/>
            </a:avLst>
          </a:prstGeom>
          <a:solidFill>
            <a:srgbClr val="FFFFFF">
              <a:alpha val="3000"/>
            </a:srgbClr>
          </a:solidFill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3427" y="3086023"/>
            <a:ext cx="57149" cy="57149"/>
          </a:xfrm>
          <a:prstGeom prst="ellipse">
            <a:avLst/>
          </a:prstGeom>
          <a:solidFill>
            <a:srgbClr val="2EF2B6"/>
          </a:solidFill>
          <a:ln/>
        </p:spPr>
      </p:sp>
      <p:sp>
        <p:nvSpPr>
          <p:cNvPr id="16" name="Text 14"/>
          <p:cNvSpPr/>
          <p:nvPr/>
        </p:nvSpPr>
        <p:spPr>
          <a:xfrm>
            <a:off x="1066773" y="3047924"/>
            <a:ext cx="266693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Organização</a:t>
            </a:r>
            <a:endParaRPr lang="en-US" sz="675" dirty="0"/>
          </a:p>
        </p:txBody>
      </p:sp>
      <p:sp>
        <p:nvSpPr>
          <p:cNvPr id="17" name="Shape 15"/>
          <p:cNvSpPr/>
          <p:nvPr/>
        </p:nvSpPr>
        <p:spPr>
          <a:xfrm>
            <a:off x="838179" y="3352716"/>
            <a:ext cx="3047924" cy="285743"/>
          </a:xfrm>
          <a:prstGeom prst="roundRect">
            <a:avLst>
              <a:gd name="adj" fmla="val 96002"/>
            </a:avLst>
          </a:prstGeom>
          <a:solidFill>
            <a:srgbClr val="FFFFFF">
              <a:alpha val="3000"/>
            </a:srgbClr>
          </a:solidFill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3427" y="3467013"/>
            <a:ext cx="57149" cy="57149"/>
          </a:xfrm>
          <a:prstGeom prst="ellipse">
            <a:avLst/>
          </a:prstGeom>
          <a:solidFill>
            <a:srgbClr val="2EF2B6"/>
          </a:solidFill>
          <a:ln/>
        </p:spPr>
      </p:sp>
      <p:sp>
        <p:nvSpPr>
          <p:cNvPr id="19" name="Text 17"/>
          <p:cNvSpPr/>
          <p:nvPr/>
        </p:nvSpPr>
        <p:spPr>
          <a:xfrm>
            <a:off x="1066773" y="3428914"/>
            <a:ext cx="266693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Visão de negócio</a:t>
            </a:r>
            <a:endParaRPr lang="en-US" sz="675" dirty="0"/>
          </a:p>
        </p:txBody>
      </p:sp>
      <p:sp>
        <p:nvSpPr>
          <p:cNvPr id="20" name="Shape 18"/>
          <p:cNvSpPr/>
          <p:nvPr/>
        </p:nvSpPr>
        <p:spPr>
          <a:xfrm>
            <a:off x="838179" y="3733707"/>
            <a:ext cx="3047924" cy="285743"/>
          </a:xfrm>
          <a:prstGeom prst="roundRect">
            <a:avLst>
              <a:gd name="adj" fmla="val 96002"/>
            </a:avLst>
          </a:prstGeom>
          <a:solidFill>
            <a:srgbClr val="FFFFFF">
              <a:alpha val="3000"/>
            </a:srgbClr>
          </a:solidFill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3427" y="3848004"/>
            <a:ext cx="57149" cy="57149"/>
          </a:xfrm>
          <a:prstGeom prst="ellipse">
            <a:avLst/>
          </a:prstGeom>
          <a:solidFill>
            <a:srgbClr val="2EF2B6"/>
          </a:solidFill>
          <a:ln/>
        </p:spPr>
      </p:sp>
      <p:sp>
        <p:nvSpPr>
          <p:cNvPr id="22" name="Text 20"/>
          <p:cNvSpPr/>
          <p:nvPr/>
        </p:nvSpPr>
        <p:spPr>
          <a:xfrm>
            <a:off x="1066773" y="3809905"/>
            <a:ext cx="266693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Capacidade de ação</a:t>
            </a:r>
            <a:endParaRPr lang="en-US" sz="675" dirty="0"/>
          </a:p>
        </p:txBody>
      </p:sp>
      <p:sp>
        <p:nvSpPr>
          <p:cNvPr id="23" name="Shape 21"/>
          <p:cNvSpPr/>
          <p:nvPr/>
        </p:nvSpPr>
        <p:spPr>
          <a:xfrm>
            <a:off x="838179" y="4114697"/>
            <a:ext cx="3047924" cy="285743"/>
          </a:xfrm>
          <a:prstGeom prst="roundRect">
            <a:avLst>
              <a:gd name="adj" fmla="val 96002"/>
            </a:avLst>
          </a:prstGeom>
          <a:solidFill>
            <a:srgbClr val="FFFFFF">
              <a:alpha val="3000"/>
            </a:srgbClr>
          </a:solidFill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3427" y="4228994"/>
            <a:ext cx="57149" cy="57149"/>
          </a:xfrm>
          <a:prstGeom prst="ellipse">
            <a:avLst/>
          </a:prstGeom>
          <a:solidFill>
            <a:srgbClr val="2EF2B6"/>
          </a:solidFill>
          <a:ln/>
        </p:spPr>
      </p:sp>
      <p:sp>
        <p:nvSpPr>
          <p:cNvPr id="25" name="Text 23"/>
          <p:cNvSpPr/>
          <p:nvPr/>
        </p:nvSpPr>
        <p:spPr>
          <a:xfrm>
            <a:off x="1066773" y="4190895"/>
            <a:ext cx="266693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Proatividade</a:t>
            </a:r>
            <a:endParaRPr lang="en-US" sz="675" dirty="0"/>
          </a:p>
        </p:txBody>
      </p:sp>
      <p:sp>
        <p:nvSpPr>
          <p:cNvPr id="26" name="Shape 24"/>
          <p:cNvSpPr/>
          <p:nvPr/>
        </p:nvSpPr>
        <p:spPr>
          <a:xfrm>
            <a:off x="838179" y="4495688"/>
            <a:ext cx="3047924" cy="285743"/>
          </a:xfrm>
          <a:prstGeom prst="roundRect">
            <a:avLst>
              <a:gd name="adj" fmla="val 96002"/>
            </a:avLst>
          </a:prstGeom>
          <a:solidFill>
            <a:srgbClr val="FFFFFF">
              <a:alpha val="3000"/>
            </a:srgbClr>
          </a:solidFill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3427" y="4609985"/>
            <a:ext cx="57149" cy="57149"/>
          </a:xfrm>
          <a:prstGeom prst="ellipse">
            <a:avLst/>
          </a:prstGeom>
          <a:solidFill>
            <a:srgbClr val="2EF2B6"/>
          </a:solidFill>
          <a:ln/>
        </p:spPr>
      </p:sp>
      <p:sp>
        <p:nvSpPr>
          <p:cNvPr id="28" name="Text 26"/>
          <p:cNvSpPr/>
          <p:nvPr/>
        </p:nvSpPr>
        <p:spPr>
          <a:xfrm>
            <a:off x="1066773" y="4571886"/>
            <a:ext cx="266693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Documentação técnica</a:t>
            </a:r>
            <a:endParaRPr lang="en-US" sz="675" dirty="0"/>
          </a:p>
        </p:txBody>
      </p:sp>
      <p:sp>
        <p:nvSpPr>
          <p:cNvPr id="29" name="Shape 27"/>
          <p:cNvSpPr/>
          <p:nvPr/>
        </p:nvSpPr>
        <p:spPr>
          <a:xfrm>
            <a:off x="4267093" y="1809705"/>
            <a:ext cx="3505112" cy="4095648"/>
          </a:xfrm>
          <a:prstGeom prst="roundRect">
            <a:avLst>
              <a:gd name="adj" fmla="val 1565"/>
            </a:avLst>
          </a:prstGeom>
          <a:solidFill>
            <a:srgbClr val="8B5CF6">
              <a:alpha val="6000"/>
            </a:srgbClr>
          </a:solidFill>
          <a:ln w="9525">
            <a:solidFill>
              <a:srgbClr val="8B5CF6">
                <a:alpha val="22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95688" y="1981150"/>
            <a:ext cx="3047924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5" spc="100" kern="0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HABILIDADES EM APRIMORAMENTO</a:t>
            </a:r>
            <a:endParaRPr lang="en-US" sz="525" dirty="0"/>
          </a:p>
        </p:txBody>
      </p:sp>
      <p:sp>
        <p:nvSpPr>
          <p:cNvPr id="31" name="Text 29"/>
          <p:cNvSpPr/>
          <p:nvPr/>
        </p:nvSpPr>
        <p:spPr>
          <a:xfrm>
            <a:off x="4495688" y="2171646"/>
            <a:ext cx="3047924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Desenvolvendo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495688" y="2590735"/>
            <a:ext cx="3047924" cy="285743"/>
          </a:xfrm>
          <a:prstGeom prst="roundRect">
            <a:avLst>
              <a:gd name="adj" fmla="val 96002"/>
            </a:avLst>
          </a:prstGeom>
          <a:solidFill>
            <a:srgbClr val="FFFFFF">
              <a:alpha val="3000"/>
            </a:srgbClr>
          </a:solidFill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90935" y="2705032"/>
            <a:ext cx="57149" cy="57149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4" name="Text 32"/>
          <p:cNvSpPr/>
          <p:nvPr/>
        </p:nvSpPr>
        <p:spPr>
          <a:xfrm>
            <a:off x="4724282" y="2666933"/>
            <a:ext cx="266693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Liderança de equipes</a:t>
            </a:r>
            <a:endParaRPr lang="en-US" sz="675" dirty="0"/>
          </a:p>
        </p:txBody>
      </p:sp>
      <p:sp>
        <p:nvSpPr>
          <p:cNvPr id="35" name="Shape 33"/>
          <p:cNvSpPr/>
          <p:nvPr/>
        </p:nvSpPr>
        <p:spPr>
          <a:xfrm>
            <a:off x="4495688" y="2971726"/>
            <a:ext cx="3047924" cy="285743"/>
          </a:xfrm>
          <a:prstGeom prst="roundRect">
            <a:avLst>
              <a:gd name="adj" fmla="val 96002"/>
            </a:avLst>
          </a:prstGeom>
          <a:solidFill>
            <a:srgbClr val="FFFFFF">
              <a:alpha val="3000"/>
            </a:srgbClr>
          </a:solidFill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90935" y="3086023"/>
            <a:ext cx="57149" cy="57149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7" name="Text 35"/>
          <p:cNvSpPr/>
          <p:nvPr/>
        </p:nvSpPr>
        <p:spPr>
          <a:xfrm>
            <a:off x="4724282" y="3047924"/>
            <a:ext cx="266693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Comunicação assertiva</a:t>
            </a:r>
            <a:endParaRPr lang="en-US" sz="675" dirty="0"/>
          </a:p>
        </p:txBody>
      </p:sp>
      <p:sp>
        <p:nvSpPr>
          <p:cNvPr id="38" name="Shape 36"/>
          <p:cNvSpPr/>
          <p:nvPr/>
        </p:nvSpPr>
        <p:spPr>
          <a:xfrm>
            <a:off x="4495688" y="3352716"/>
            <a:ext cx="3047924" cy="285743"/>
          </a:xfrm>
          <a:prstGeom prst="roundRect">
            <a:avLst>
              <a:gd name="adj" fmla="val 96002"/>
            </a:avLst>
          </a:prstGeom>
          <a:solidFill>
            <a:srgbClr val="FFFFFF">
              <a:alpha val="3000"/>
            </a:srgbClr>
          </a:solidFill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90935" y="3467013"/>
            <a:ext cx="57149" cy="57149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0" name="Text 38"/>
          <p:cNvSpPr/>
          <p:nvPr/>
        </p:nvSpPr>
        <p:spPr>
          <a:xfrm>
            <a:off x="4724282" y="3428914"/>
            <a:ext cx="266693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Priorização estratégica</a:t>
            </a:r>
            <a:endParaRPr lang="en-US" sz="675" dirty="0"/>
          </a:p>
        </p:txBody>
      </p:sp>
      <p:sp>
        <p:nvSpPr>
          <p:cNvPr id="41" name="Shape 39"/>
          <p:cNvSpPr/>
          <p:nvPr/>
        </p:nvSpPr>
        <p:spPr>
          <a:xfrm>
            <a:off x="7924602" y="1809705"/>
            <a:ext cx="3505112" cy="4095648"/>
          </a:xfrm>
          <a:prstGeom prst="roundRect">
            <a:avLst>
              <a:gd name="adj" fmla="val 1565"/>
            </a:avLst>
          </a:prstGeom>
          <a:solidFill>
            <a:srgbClr val="FF4D8D">
              <a:alpha val="6000"/>
            </a:srgbClr>
          </a:solidFill>
          <a:ln w="9525">
            <a:solidFill>
              <a:srgbClr val="FF4D8D">
                <a:alpha val="22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53196" y="1981150"/>
            <a:ext cx="3047924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5" spc="100" kern="0" dirty="0">
                <a:solidFill>
                  <a:srgbClr val="FF4D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PRÓXIMOS FOCOS</a:t>
            </a:r>
            <a:endParaRPr lang="en-US" sz="525" dirty="0"/>
          </a:p>
        </p:txBody>
      </p:sp>
      <p:sp>
        <p:nvSpPr>
          <p:cNvPr id="43" name="Text 41"/>
          <p:cNvSpPr/>
          <p:nvPr/>
        </p:nvSpPr>
        <p:spPr>
          <a:xfrm>
            <a:off x="8153196" y="2171646"/>
            <a:ext cx="3047924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Preciso adquirir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8153196" y="2590735"/>
            <a:ext cx="3047924" cy="285743"/>
          </a:xfrm>
          <a:prstGeom prst="roundRect">
            <a:avLst>
              <a:gd name="adj" fmla="val 96002"/>
            </a:avLst>
          </a:prstGeom>
          <a:solidFill>
            <a:srgbClr val="FFFFFF">
              <a:alpha val="3000"/>
            </a:srgbClr>
          </a:solidFill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48444" y="2705032"/>
            <a:ext cx="57149" cy="57149"/>
          </a:xfrm>
          <a:prstGeom prst="ellipse">
            <a:avLst/>
          </a:prstGeom>
          <a:solidFill>
            <a:srgbClr val="FF4D8D"/>
          </a:solidFill>
          <a:ln/>
        </p:spPr>
      </p:sp>
      <p:sp>
        <p:nvSpPr>
          <p:cNvPr id="46" name="Text 44"/>
          <p:cNvSpPr/>
          <p:nvPr/>
        </p:nvSpPr>
        <p:spPr>
          <a:xfrm>
            <a:off x="8381790" y="2666933"/>
            <a:ext cx="266693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Persuasão &amp; influência</a:t>
            </a:r>
            <a:endParaRPr lang="en-US" sz="675" dirty="0"/>
          </a:p>
        </p:txBody>
      </p:sp>
      <p:sp>
        <p:nvSpPr>
          <p:cNvPr id="47" name="Shape 45"/>
          <p:cNvSpPr/>
          <p:nvPr/>
        </p:nvSpPr>
        <p:spPr>
          <a:xfrm>
            <a:off x="8153196" y="2971726"/>
            <a:ext cx="3047924" cy="285743"/>
          </a:xfrm>
          <a:prstGeom prst="roundRect">
            <a:avLst>
              <a:gd name="adj" fmla="val 96002"/>
            </a:avLst>
          </a:prstGeom>
          <a:solidFill>
            <a:srgbClr val="FFFFFF">
              <a:alpha val="3000"/>
            </a:srgbClr>
          </a:solidFill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48444" y="3086023"/>
            <a:ext cx="57149" cy="57149"/>
          </a:xfrm>
          <a:prstGeom prst="ellipse">
            <a:avLst/>
          </a:prstGeom>
          <a:solidFill>
            <a:srgbClr val="FF4D8D"/>
          </a:solidFill>
          <a:ln/>
        </p:spPr>
      </p:sp>
      <p:sp>
        <p:nvSpPr>
          <p:cNvPr id="49" name="Text 47"/>
          <p:cNvSpPr/>
          <p:nvPr/>
        </p:nvSpPr>
        <p:spPr>
          <a:xfrm>
            <a:off x="8381790" y="3047924"/>
            <a:ext cx="266693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Exposição de métricas</a:t>
            </a:r>
            <a:endParaRPr lang="en-US" sz="675" dirty="0"/>
          </a:p>
        </p:txBody>
      </p:sp>
      <p:sp>
        <p:nvSpPr>
          <p:cNvPr id="50" name="Shape 48"/>
          <p:cNvSpPr/>
          <p:nvPr/>
        </p:nvSpPr>
        <p:spPr>
          <a:xfrm>
            <a:off x="8153196" y="3352716"/>
            <a:ext cx="3047924" cy="285743"/>
          </a:xfrm>
          <a:prstGeom prst="roundRect">
            <a:avLst>
              <a:gd name="adj" fmla="val 96002"/>
            </a:avLst>
          </a:prstGeom>
          <a:solidFill>
            <a:srgbClr val="FFFFFF">
              <a:alpha val="3000"/>
            </a:srgbClr>
          </a:solidFill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48444" y="3467013"/>
            <a:ext cx="57149" cy="57149"/>
          </a:xfrm>
          <a:prstGeom prst="ellipse">
            <a:avLst/>
          </a:prstGeom>
          <a:solidFill>
            <a:srgbClr val="FF4D8D"/>
          </a:solidFill>
          <a:ln/>
        </p:spPr>
      </p:sp>
      <p:sp>
        <p:nvSpPr>
          <p:cNvPr id="52" name="Text 50"/>
          <p:cNvSpPr/>
          <p:nvPr/>
        </p:nvSpPr>
        <p:spPr>
          <a:xfrm>
            <a:off x="8381790" y="3428914"/>
            <a:ext cx="266693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Apresentação de resultados</a:t>
            </a:r>
            <a:endParaRPr lang="en-US" sz="675" dirty="0"/>
          </a:p>
        </p:txBody>
      </p:sp>
      <p:sp>
        <p:nvSpPr>
          <p:cNvPr id="53" name="Shape 51"/>
          <p:cNvSpPr/>
          <p:nvPr/>
        </p:nvSpPr>
        <p:spPr>
          <a:xfrm>
            <a:off x="8153196" y="3733707"/>
            <a:ext cx="3047924" cy="285743"/>
          </a:xfrm>
          <a:prstGeom prst="roundRect">
            <a:avLst>
              <a:gd name="adj" fmla="val 96002"/>
            </a:avLst>
          </a:prstGeom>
          <a:solidFill>
            <a:srgbClr val="FFFFFF">
              <a:alpha val="3000"/>
            </a:srgbClr>
          </a:solidFill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248444" y="3848004"/>
            <a:ext cx="57149" cy="57149"/>
          </a:xfrm>
          <a:prstGeom prst="ellipse">
            <a:avLst/>
          </a:prstGeom>
          <a:solidFill>
            <a:srgbClr val="FF4D8D"/>
          </a:solidFill>
          <a:ln/>
        </p:spPr>
      </p:sp>
      <p:sp>
        <p:nvSpPr>
          <p:cNvPr id="55" name="Text 53"/>
          <p:cNvSpPr/>
          <p:nvPr/>
        </p:nvSpPr>
        <p:spPr>
          <a:xfrm>
            <a:off x="8381790" y="3809905"/>
            <a:ext cx="266693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Gestão &amp; foco em pessoas</a:t>
            </a:r>
            <a:endParaRPr lang="en-US" sz="675" dirty="0"/>
          </a:p>
        </p:txBody>
      </p:sp>
      <p:sp>
        <p:nvSpPr>
          <p:cNvPr id="56" name="Shape 54"/>
          <p:cNvSpPr/>
          <p:nvPr/>
        </p:nvSpPr>
        <p:spPr>
          <a:xfrm>
            <a:off x="8153196" y="4114697"/>
            <a:ext cx="3047924" cy="285743"/>
          </a:xfrm>
          <a:prstGeom prst="roundRect">
            <a:avLst>
              <a:gd name="adj" fmla="val 96002"/>
            </a:avLst>
          </a:prstGeom>
          <a:solidFill>
            <a:srgbClr val="FFFFFF">
              <a:alpha val="3000"/>
            </a:srgbClr>
          </a:solidFill>
          <a:ln w="6350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248444" y="4228994"/>
            <a:ext cx="57149" cy="57149"/>
          </a:xfrm>
          <a:prstGeom prst="ellipse">
            <a:avLst/>
          </a:prstGeom>
          <a:solidFill>
            <a:srgbClr val="FF4D8D"/>
          </a:solidFill>
          <a:ln/>
        </p:spPr>
      </p:sp>
      <p:sp>
        <p:nvSpPr>
          <p:cNvPr id="58" name="Text 56"/>
          <p:cNvSpPr/>
          <p:nvPr/>
        </p:nvSpPr>
        <p:spPr>
          <a:xfrm>
            <a:off x="8381790" y="4190895"/>
            <a:ext cx="2666933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Critérios de documentação</a:t>
            </a:r>
            <a:endParaRPr lang="en-US" sz="675" dirty="0"/>
          </a:p>
        </p:txBody>
      </p:sp>
      <p:sp>
        <p:nvSpPr>
          <p:cNvPr id="59" name="Text 57"/>
          <p:cNvSpPr/>
          <p:nvPr/>
        </p:nvSpPr>
        <p:spPr>
          <a:xfrm>
            <a:off x="609585" y="6095848"/>
            <a:ext cx="10972526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spc="15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AUTOAVALIAÇÃO CONTÍNUA · DIRECIONAMENTO ESTRATÉGICO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380990"/>
            <a:ext cx="323842" cy="323842"/>
          </a:xfrm>
          <a:prstGeom prst="roundRect">
            <a:avLst>
              <a:gd name="adj" fmla="val 79061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585" y="400040"/>
            <a:ext cx="323842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0508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028674" y="409565"/>
            <a:ext cx="1523962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</a:t>
            </a:r>
            <a:pPr indent="0" marL="0">
              <a:buNone/>
            </a:pPr>
            <a:r>
              <a:rPr lang="en-US" sz="13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.dev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572286" y="457189"/>
            <a:ext cx="300982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15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 LEMOS · 10 / 12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09585" y="1104872"/>
            <a:ext cx="10972526" cy="4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Trajetória em 3 etapas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609585" y="1523962"/>
            <a:ext cx="10972526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 estratégico de crescimento.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09585" y="2762181"/>
            <a:ext cx="10972526" cy="19050"/>
          </a:xfrm>
          <a:prstGeom prst="rect">
            <a:avLst/>
          </a:prstGeom>
          <a:solidFill>
            <a:srgbClr val="2EF2B6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9585" y="2590735"/>
            <a:ext cx="342891" cy="342891"/>
          </a:xfrm>
          <a:prstGeom prst="ellipse">
            <a:avLst/>
          </a:prstGeom>
          <a:solidFill>
            <a:srgbClr val="2EF2B6"/>
          </a:solidFill>
          <a:ln w="12700">
            <a:solidFill>
              <a:srgbClr val="2EF2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9585" y="2638359"/>
            <a:ext cx="342891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08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66773" y="2685983"/>
            <a:ext cx="190495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spc="10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– 3 MESES</a:t>
            </a:r>
            <a:endParaRPr lang="en-US" sz="675" dirty="0"/>
          </a:p>
        </p:txBody>
      </p:sp>
      <p:sp>
        <p:nvSpPr>
          <p:cNvPr id="12" name="Shape 10"/>
          <p:cNvSpPr/>
          <p:nvPr/>
        </p:nvSpPr>
        <p:spPr>
          <a:xfrm>
            <a:off x="609585" y="3143171"/>
            <a:ext cx="3505112" cy="2381190"/>
          </a:xfrm>
          <a:prstGeom prst="roundRect">
            <a:avLst>
              <a:gd name="adj" fmla="val 2304"/>
            </a:avLst>
          </a:prstGeom>
          <a:solidFill>
            <a:srgbClr val="2EF2B6">
              <a:alpha val="6000"/>
            </a:srgbClr>
          </a:solidFill>
          <a:ln w="9525">
            <a:solidFill>
              <a:srgbClr val="2EF2B6">
                <a:alpha val="2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080" y="3295568"/>
            <a:ext cx="3047924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5" spc="10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FASE INICIAL</a:t>
            </a:r>
            <a:endParaRPr lang="en-US" sz="525" dirty="0"/>
          </a:p>
        </p:txBody>
      </p:sp>
      <p:sp>
        <p:nvSpPr>
          <p:cNvPr id="14" name="Text 12"/>
          <p:cNvSpPr/>
          <p:nvPr/>
        </p:nvSpPr>
        <p:spPr>
          <a:xfrm>
            <a:off x="800080" y="3486063"/>
            <a:ext cx="3047924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Execução &amp; eficiência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0080" y="3828954"/>
            <a:ext cx="304792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Assumir maiores responsabilidades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800080" y="4057549"/>
            <a:ext cx="304792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Aplicar técnicas de versionamento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800080" y="4286143"/>
            <a:ext cx="304792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Dominar e estruturar pipelines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800080" y="4514737"/>
            <a:ext cx="304792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Lean Six Sigma Green Belt</a:t>
            </a:r>
            <a:endParaRPr lang="en-US" sz="675" dirty="0"/>
          </a:p>
        </p:txBody>
      </p:sp>
      <p:sp>
        <p:nvSpPr>
          <p:cNvPr id="19" name="Shape 17"/>
          <p:cNvSpPr/>
          <p:nvPr/>
        </p:nvSpPr>
        <p:spPr>
          <a:xfrm>
            <a:off x="800080" y="5124322"/>
            <a:ext cx="3124122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00080" y="5219570"/>
            <a:ext cx="3124122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Ganhar autonomia e consistência técnica.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4267093" y="2590735"/>
            <a:ext cx="342891" cy="342891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67093" y="2638359"/>
            <a:ext cx="342891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08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24282" y="2685983"/>
            <a:ext cx="190495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spc="10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– 6 MESES</a:t>
            </a:r>
            <a:endParaRPr lang="en-US" sz="675" dirty="0"/>
          </a:p>
        </p:txBody>
      </p:sp>
      <p:sp>
        <p:nvSpPr>
          <p:cNvPr id="24" name="Shape 22"/>
          <p:cNvSpPr/>
          <p:nvPr/>
        </p:nvSpPr>
        <p:spPr>
          <a:xfrm>
            <a:off x="4267093" y="3143171"/>
            <a:ext cx="3505112" cy="2381190"/>
          </a:xfrm>
          <a:prstGeom prst="roundRect">
            <a:avLst>
              <a:gd name="adj" fmla="val 2304"/>
            </a:avLst>
          </a:prstGeom>
          <a:solidFill>
            <a:srgbClr val="8B5CF6">
              <a:alpha val="6000"/>
            </a:srgbClr>
          </a:solidFill>
          <a:ln w="9525">
            <a:solidFill>
              <a:srgbClr val="8B5CF6">
                <a:alpha val="2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57589" y="3295568"/>
            <a:ext cx="3047924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5" spc="10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FASE INTERMEDIÁRIA</a:t>
            </a:r>
            <a:endParaRPr lang="en-US" sz="525" dirty="0"/>
          </a:p>
        </p:txBody>
      </p:sp>
      <p:sp>
        <p:nvSpPr>
          <p:cNvPr id="26" name="Text 24"/>
          <p:cNvSpPr/>
          <p:nvPr/>
        </p:nvSpPr>
        <p:spPr>
          <a:xfrm>
            <a:off x="4457589" y="3486063"/>
            <a:ext cx="3047924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Domínio técnico &amp; IA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57589" y="3828954"/>
            <a:ext cx="304792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Liderança técnica entre pares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4457589" y="4057549"/>
            <a:ext cx="304792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Apresentação de resultados e KPIs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4457589" y="4286143"/>
            <a:ext cx="304792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DevOps, CI/CD e automação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4457589" y="4514737"/>
            <a:ext cx="304792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Aplicação de LLMs e IA generativa</a:t>
            </a:r>
            <a:endParaRPr lang="en-US" sz="675" dirty="0"/>
          </a:p>
        </p:txBody>
      </p:sp>
      <p:sp>
        <p:nvSpPr>
          <p:cNvPr id="31" name="Shape 29"/>
          <p:cNvSpPr/>
          <p:nvPr/>
        </p:nvSpPr>
        <p:spPr>
          <a:xfrm>
            <a:off x="4457589" y="5124322"/>
            <a:ext cx="3124122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457589" y="5219570"/>
            <a:ext cx="3124122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 referência técnica em automação e IA.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7924602" y="2590735"/>
            <a:ext cx="342891" cy="342891"/>
          </a:xfrm>
          <a:prstGeom prst="ellipse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24602" y="2638359"/>
            <a:ext cx="342891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08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381790" y="2685983"/>
            <a:ext cx="1904952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spc="10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– 12 MESES</a:t>
            </a:r>
            <a:endParaRPr lang="en-US" sz="675" dirty="0"/>
          </a:p>
        </p:txBody>
      </p:sp>
      <p:sp>
        <p:nvSpPr>
          <p:cNvPr id="36" name="Shape 34"/>
          <p:cNvSpPr/>
          <p:nvPr/>
        </p:nvSpPr>
        <p:spPr>
          <a:xfrm>
            <a:off x="7924602" y="3143171"/>
            <a:ext cx="3505112" cy="2381190"/>
          </a:xfrm>
          <a:prstGeom prst="roundRect">
            <a:avLst>
              <a:gd name="adj" fmla="val 2304"/>
            </a:avLst>
          </a:prstGeom>
          <a:solidFill>
            <a:srgbClr val="FF4D8D">
              <a:alpha val="6000"/>
            </a:srgbClr>
          </a:solidFill>
          <a:ln w="9525">
            <a:solidFill>
              <a:srgbClr val="FF4D8D">
                <a:alpha val="22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15097" y="3295568"/>
            <a:ext cx="3047924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5" spc="10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FASE AVANÇADA</a:t>
            </a:r>
            <a:endParaRPr lang="en-US" sz="525" dirty="0"/>
          </a:p>
        </p:txBody>
      </p:sp>
      <p:sp>
        <p:nvSpPr>
          <p:cNvPr id="38" name="Text 36"/>
          <p:cNvSpPr/>
          <p:nvPr/>
        </p:nvSpPr>
        <p:spPr>
          <a:xfrm>
            <a:off x="8115097" y="3486063"/>
            <a:ext cx="3047924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Gestão &amp; mentoria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115097" y="3828954"/>
            <a:ext cx="304792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Programa de mentoria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8115097" y="4057549"/>
            <a:ext cx="304792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Apresentações executivas</a:t>
            </a:r>
            <a:endParaRPr lang="en-US" sz="675" dirty="0"/>
          </a:p>
        </p:txBody>
      </p:sp>
      <p:sp>
        <p:nvSpPr>
          <p:cNvPr id="41" name="Text 39"/>
          <p:cNvSpPr/>
          <p:nvPr/>
        </p:nvSpPr>
        <p:spPr>
          <a:xfrm>
            <a:off x="8115097" y="4286143"/>
            <a:ext cx="304792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Liderança e gestão de equipes</a:t>
            </a:r>
            <a:endParaRPr lang="en-US" sz="675" dirty="0"/>
          </a:p>
        </p:txBody>
      </p:sp>
      <p:sp>
        <p:nvSpPr>
          <p:cNvPr id="42" name="Text 40"/>
          <p:cNvSpPr/>
          <p:nvPr/>
        </p:nvSpPr>
        <p:spPr>
          <a:xfrm>
            <a:off x="8115097" y="4514737"/>
            <a:ext cx="3047924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Gestão ponta a ponta de projetos</a:t>
            </a:r>
            <a:endParaRPr lang="en-US" sz="675" dirty="0"/>
          </a:p>
        </p:txBody>
      </p:sp>
      <p:sp>
        <p:nvSpPr>
          <p:cNvPr id="43" name="Shape 41"/>
          <p:cNvSpPr/>
          <p:nvPr/>
        </p:nvSpPr>
        <p:spPr>
          <a:xfrm>
            <a:off x="8115097" y="5124322"/>
            <a:ext cx="3124122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8115097" y="5219570"/>
            <a:ext cx="3124122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Liderar pessoas e projetos de ponta a ponta.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380990"/>
            <a:ext cx="323842" cy="323842"/>
          </a:xfrm>
          <a:prstGeom prst="roundRect">
            <a:avLst>
              <a:gd name="adj" fmla="val 79061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585" y="400040"/>
            <a:ext cx="323842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0508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028674" y="409565"/>
            <a:ext cx="1523962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</a:t>
            </a:r>
            <a:pPr indent="0" marL="0">
              <a:buNone/>
            </a:pPr>
            <a:r>
              <a:rPr lang="en-US" sz="13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.dev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572286" y="457189"/>
            <a:ext cx="300982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15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 LEMOS · 11 / 12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09585" y="1104872"/>
            <a:ext cx="10972526" cy="495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Onde me encontrar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609585" y="1523962"/>
            <a:ext cx="10972526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Vamos trocar ideias sobre tecnologia, projetos e carreira.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09585" y="2285943"/>
            <a:ext cx="5410065" cy="1047724"/>
          </a:xfrm>
          <a:prstGeom prst="roundRect">
            <a:avLst>
              <a:gd name="adj" fmla="val 5236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080" y="2571686"/>
            <a:ext cx="476238" cy="476238"/>
          </a:xfrm>
          <a:prstGeom prst="roundRect">
            <a:avLst>
              <a:gd name="adj" fmla="val 4224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0080" y="2647884"/>
            <a:ext cx="476238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6813" y="2552636"/>
            <a:ext cx="4190895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66813" y="2819330"/>
            <a:ext cx="419089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breve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172046" y="2285943"/>
            <a:ext cx="5410065" cy="1047724"/>
          </a:xfrm>
          <a:prstGeom prst="roundRect">
            <a:avLst>
              <a:gd name="adj" fmla="val 5236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62541" y="2571686"/>
            <a:ext cx="476238" cy="476238"/>
          </a:xfrm>
          <a:prstGeom prst="roundRect">
            <a:avLst>
              <a:gd name="adj" fmla="val 4224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15" name="Image 0" descr="C:\Users\revio\Projeto\Portifolio\public\img-home\contact\linked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6363" y="2695508"/>
            <a:ext cx="228594" cy="22859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029274" y="2552636"/>
            <a:ext cx="4190895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LinkedIn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029274" y="2819330"/>
            <a:ext cx="419089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@rhyan-lemos-silveira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609585" y="3524162"/>
            <a:ext cx="5410065" cy="1047724"/>
          </a:xfrm>
          <a:prstGeom prst="roundRect">
            <a:avLst>
              <a:gd name="adj" fmla="val 5236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0080" y="3809905"/>
            <a:ext cx="476238" cy="476238"/>
          </a:xfrm>
          <a:prstGeom prst="roundRect">
            <a:avLst>
              <a:gd name="adj" fmla="val 4224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20" name="Image 1" descr="C:\Users\revio\Projeto\Portifolio\scripts\assets\github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02" y="3933727"/>
            <a:ext cx="228594" cy="22859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466813" y="3790855"/>
            <a:ext cx="4190895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1466813" y="4057549"/>
            <a:ext cx="419089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@rhyan05</a:t>
            </a:r>
            <a:endParaRPr lang="en-US" sz="750" dirty="0"/>
          </a:p>
        </p:txBody>
      </p:sp>
      <p:sp>
        <p:nvSpPr>
          <p:cNvPr id="23" name="Shape 19"/>
          <p:cNvSpPr/>
          <p:nvPr/>
        </p:nvSpPr>
        <p:spPr>
          <a:xfrm>
            <a:off x="6172046" y="3524162"/>
            <a:ext cx="5410065" cy="1047724"/>
          </a:xfrm>
          <a:prstGeom prst="roundRect">
            <a:avLst>
              <a:gd name="adj" fmla="val 5236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362541" y="3809905"/>
            <a:ext cx="476238" cy="476238"/>
          </a:xfrm>
          <a:prstGeom prst="roundRect">
            <a:avLst>
              <a:gd name="adj" fmla="val 4224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25" name="Image 2" descr="C:\Users\revio\Projeto\Portifolio\public\img-home\contact\youtub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363" y="3933727"/>
            <a:ext cx="228594" cy="22859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029274" y="3790855"/>
            <a:ext cx="4190895" cy="22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YouTube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7029274" y="4057549"/>
            <a:ext cx="4190895" cy="17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breve</a:t>
            </a:r>
            <a:endParaRPr lang="en-US" sz="750" dirty="0"/>
          </a:p>
        </p:txBody>
      </p:sp>
      <p:sp>
        <p:nvSpPr>
          <p:cNvPr id="28" name="Shape 23"/>
          <p:cNvSpPr/>
          <p:nvPr/>
        </p:nvSpPr>
        <p:spPr>
          <a:xfrm>
            <a:off x="4635702" y="5143371"/>
            <a:ext cx="1274413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692850" y="5181470"/>
            <a:ext cx="1160116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rhyan05@outlook.com</a:t>
            </a:r>
            <a:endParaRPr lang="en-US" sz="750" dirty="0"/>
          </a:p>
        </p:txBody>
      </p:sp>
      <p:sp>
        <p:nvSpPr>
          <p:cNvPr id="30" name="Shape 25"/>
          <p:cNvSpPr/>
          <p:nvPr/>
        </p:nvSpPr>
        <p:spPr>
          <a:xfrm>
            <a:off x="5986313" y="5143371"/>
            <a:ext cx="1569681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043461" y="5181470"/>
            <a:ext cx="1455384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Disponível para conexões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380990"/>
            <a:ext cx="323842" cy="323842"/>
          </a:xfrm>
          <a:prstGeom prst="roundRect">
            <a:avLst>
              <a:gd name="adj" fmla="val 79061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585" y="400040"/>
            <a:ext cx="323842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0508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1028674" y="409565"/>
            <a:ext cx="1523962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</a:t>
            </a:r>
            <a:pPr indent="0" marL="0">
              <a:buNone/>
            </a:pPr>
            <a:r>
              <a:rPr lang="en-US" sz="13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.dev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572286" y="457189"/>
            <a:ext cx="3009825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150" kern="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 LEMOS · 12 / 12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334267" y="3428914"/>
            <a:ext cx="2857429" cy="2857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750" b="1" dirty="0">
                <a:solidFill>
                  <a:srgbClr val="FFFFFF">
                    <a:alpha val="3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</a:t>
            </a:r>
            <a:endParaRPr lang="en-US" sz="18750" dirty="0"/>
          </a:p>
        </p:txBody>
      </p:sp>
      <p:sp>
        <p:nvSpPr>
          <p:cNvPr id="7" name="Shape 5"/>
          <p:cNvSpPr/>
          <p:nvPr/>
        </p:nvSpPr>
        <p:spPr>
          <a:xfrm>
            <a:off x="5238619" y="1428714"/>
            <a:ext cx="1714457" cy="285743"/>
          </a:xfrm>
          <a:prstGeom prst="roundRect">
            <a:avLst>
              <a:gd name="adj" fmla="val 160004"/>
            </a:avLst>
          </a:prstGeom>
          <a:solidFill>
            <a:srgbClr val="2EF2B6">
              <a:alpha val="10000"/>
            </a:srgbClr>
          </a:solidFill>
          <a:ln w="9525">
            <a:solidFill>
              <a:srgbClr val="2EF2B6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14817" y="1504912"/>
            <a:ext cx="1562061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5" b="1" spc="100" kern="0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MEU SITE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1904952" y="2019250"/>
            <a:ext cx="8381790" cy="76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950" b="1" dirty="0">
                <a:solidFill>
                  <a:srgbClr val="E8F1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Vamos</a:t>
            </a:r>
            <a:endParaRPr lang="en-US" sz="4950" dirty="0"/>
          </a:p>
        </p:txBody>
      </p:sp>
      <p:sp>
        <p:nvSpPr>
          <p:cNvPr id="10" name="Text 8"/>
          <p:cNvSpPr/>
          <p:nvPr/>
        </p:nvSpPr>
        <p:spPr>
          <a:xfrm>
            <a:off x="1904952" y="2647884"/>
            <a:ext cx="8381790" cy="76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95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conversar?</a:t>
            </a:r>
            <a:endParaRPr lang="en-US" sz="4950" dirty="0"/>
          </a:p>
        </p:txBody>
      </p:sp>
      <p:sp>
        <p:nvSpPr>
          <p:cNvPr id="11" name="Text 9"/>
          <p:cNvSpPr/>
          <p:nvPr/>
        </p:nvSpPr>
        <p:spPr>
          <a:xfrm>
            <a:off x="2857429" y="3562261"/>
            <a:ext cx="6476838" cy="438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Obrigado por acompanhar minha trajetória. O portfólio completo, projetos e formas de contato estão online.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35602" y="4286143"/>
            <a:ext cx="1274413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92750" y="4324242"/>
            <a:ext cx="1160116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rhyan05@outlook.com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986213" y="4286143"/>
            <a:ext cx="2278323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43361" y="4324242"/>
            <a:ext cx="2164026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linkedin.com/in/rhyan-lemos-silveira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340734" y="4286143"/>
            <a:ext cx="1215360" cy="209545"/>
          </a:xfrm>
          <a:prstGeom prst="roundRect">
            <a:avLst>
              <a:gd name="adj" fmla="val 218187"/>
            </a:avLst>
          </a:prstGeom>
          <a:solidFill>
            <a:srgbClr val="2EF2B6">
              <a:alpha val="10000"/>
            </a:srgbClr>
          </a:solidFill>
          <a:ln w="6350">
            <a:solidFill>
              <a:srgbClr val="2EF2B6">
                <a:alpha val="2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97883" y="4324242"/>
            <a:ext cx="1101062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EF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github.com/rhyan05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904952" y="4876678"/>
            <a:ext cx="8381790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93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https://portifolio-e232-83ywbv1he-rhyans-projects-36b8ad89.vercel.app/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Rhyan.dev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Rhyan Lemos — Desenvolvedor Full Stack</dc:title>
  <dc:subject>Apresentação profissional</dc:subject>
  <dc:creator>Rhyan Lemos</dc:creator>
  <cp:lastModifiedBy>Rhyan Lemos</cp:lastModifiedBy>
  <cp:revision>1</cp:revision>
  <dcterms:created xsi:type="dcterms:W3CDTF">2026-10-28T02:21:17Z</dcterms:created>
  <dcterms:modified xsi:type="dcterms:W3CDTF">2026-10-28T02:21:17Z</dcterms:modified>
</cp:coreProperties>
</file>